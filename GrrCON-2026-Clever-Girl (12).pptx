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media2.mp4" ContentType="video/mp4"/>
  <Override PartName="/ppt/media/image6.png" ContentType="image/png"/>
  <Override PartName="/ppt/media/image10.png" ContentType="image/png"/>
  <Override PartName="/ppt/media/image3.png" ContentType="image/png"/>
  <Override PartName="/ppt/media/image4.png" ContentType="image/png"/>
  <Override PartName="/ppt/media/image5.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slides/_rels/slide1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15.xml.rels" ContentType="application/vnd.openxmlformats-package.relationships+xml"/>
  <Override PartName="/ppt/slides/_rels/slide19.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7.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33.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32.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27.xml.rels" ContentType="application/vnd.openxmlformats-package.relationships+xml"/>
  <Override PartName="/ppt/notesSlides/_rels/notesSlide26.xml.rels" ContentType="application/vnd.openxmlformats-package.relationships+xml"/>
  <Override PartName="/ppt/notesSlides/_rels/notesSlide13.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21.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_rels/notesSlide23.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24.xml" ContentType="application/vnd.openxmlformats-officedocument.presentationml.notesSlide+xml"/>
  <Override PartName="/ppt/notesSlides/notesSlide8.xml" ContentType="application/vnd.openxmlformats-officedocument.presentationml.notesSlide+xml"/>
  <Override PartName="/ppt/notesSlides/notesSlide2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a:t>
            </a:r>
            <a:r>
              <a:rPr b="0" lang="en-US" sz="2000" spc="-1" strike="noStrike">
                <a:solidFill>
                  <a:srgbClr val="000000"/>
                </a:solidFill>
                <a:latin typeface="Arial"/>
              </a:rPr>
              <a:t>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7CDD31F0-09B3-4AAE-8EEC-8A91081DB27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sldImg"/>
          </p:nvPr>
        </p:nvSpPr>
        <p:spPr>
          <a:xfrm>
            <a:off x="1143000" y="685800"/>
            <a:ext cx="4571640" cy="3428640"/>
          </a:xfrm>
          <a:prstGeom prst="rect">
            <a:avLst/>
          </a:prstGeom>
          <a:ln w="0">
            <a:noFill/>
          </a:ln>
        </p:spPr>
      </p:sp>
      <p:sp>
        <p:nvSpPr>
          <p:cNvPr id="52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Welcome. This is a talk about AI agents for security work. Not ChatGPT tips. Not 'AI will replace you.' Not ethics philosophy. This is about the tools that are working right now — some of which the US government is so scared of they imposed export controls. We're going to cover what they are, how they work, and how to use them — whether you're the one testing the fence or the one building it. The raptors in Jurassic Park didn't escape because they were smart. They escaped because they were *trained*. Let's talk about training.</a:t>
            </a:r>
            <a:endParaRPr b="0" lang="en-US" sz="2000" spc="-1" strike="noStrike">
              <a:solidFill>
                <a:srgbClr val="000000"/>
              </a:solidFill>
              <a:latin typeface="Arial"/>
            </a:endParaRPr>
          </a:p>
        </p:txBody>
      </p:sp>
      <p:sp>
        <p:nvSpPr>
          <p:cNvPr id="528"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5E70088-F149-4B9A-8657-B003C44779B8}"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sldImg"/>
          </p:nvPr>
        </p:nvSpPr>
        <p:spPr>
          <a:xfrm>
            <a:off x="1143000" y="685800"/>
            <a:ext cx="4571640" cy="3428640"/>
          </a:xfrm>
          <a:prstGeom prst="rect">
            <a:avLst/>
          </a:prstGeom>
          <a:ln w="0">
            <a:noFill/>
          </a:ln>
        </p:spPr>
      </p:sp>
      <p:sp>
        <p:nvSpPr>
          <p:cNvPr id="53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Welcome. This is a talk about AI agents for security work. Not ChatGPT tips. Not 'AI will replace you.' Not ethics philosophy. This is about the tools that are working right now — some of which the US government is so scared of they imposed export controls. We're going to cover what they are, how they work, and how to use them — whether you're the one testing the fence or the one building it. The raptors in Jurassic Park didn't escape because they were smart. They escaped because they were *trained*. Let's talk about training.</a:t>
            </a:r>
            <a:endParaRPr b="0" lang="en-US" sz="2000" spc="-1" strike="noStrike">
              <a:solidFill>
                <a:srgbClr val="000000"/>
              </a:solidFill>
              <a:latin typeface="Arial"/>
            </a:endParaRPr>
          </a:p>
        </p:txBody>
      </p:sp>
      <p:sp>
        <p:nvSpPr>
          <p:cNvPr id="531"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8083875-DD18-4611-92F6-2D31A0FAB228}"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type="sldImg"/>
          </p:nvPr>
        </p:nvSpPr>
        <p:spPr>
          <a:xfrm>
            <a:off x="1143000" y="685800"/>
            <a:ext cx="4571640" cy="3428640"/>
          </a:xfrm>
          <a:prstGeom prst="rect">
            <a:avLst/>
          </a:prstGeom>
          <a:ln w="0">
            <a:noFill/>
          </a:ln>
        </p:spPr>
      </p:sp>
      <p:sp>
        <p:nvSpPr>
          <p:cNvPr id="53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thesis of the talk in two words. The raptors didn't break out through brute force. They tested the electric fences systematically. They learned the patterns. They found the weaknesses. And they exploited them. That's exactly what AI agents do when you build them for security work. They don't think. They pattern-match at a scale no human can match, and they never get bored. The question isn't whether to use them. The question is whether you'll be Muldoon — the expert who got outflanked because he underestimated what the raptors had learned — or the one holding the controller.</a:t>
            </a:r>
            <a:endParaRPr b="0" lang="en-US" sz="2000" spc="-1" strike="noStrike">
              <a:solidFill>
                <a:srgbClr val="000000"/>
              </a:solidFill>
              <a:latin typeface="Arial"/>
            </a:endParaRPr>
          </a:p>
        </p:txBody>
      </p:sp>
      <p:sp>
        <p:nvSpPr>
          <p:cNvPr id="534"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9431C22-52AD-46EF-931F-5A3603E96490}"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sldImg"/>
          </p:nvPr>
        </p:nvSpPr>
        <p:spPr>
          <a:xfrm>
            <a:off x="1143000" y="685800"/>
            <a:ext cx="4571640" cy="3428640"/>
          </a:xfrm>
          <a:prstGeom prst="rect">
            <a:avLst/>
          </a:prstGeom>
          <a:ln w="0">
            <a:noFill/>
          </a:ln>
        </p:spPr>
      </p:sp>
      <p:sp>
        <p:nvSpPr>
          <p:cNvPr id="53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Let me set the stage. In the last five months, the AI security landscape has changed more than in the previous five years. Anthropic built a model so good at finding vulnerabilities that the US government classified it. They then released a muzzled version called Fable 5. Meanwhile, a Japanese company called Sakana AI built a system that orchestrates the world's best models into a single API — specifically designed to route around export controls. And just this month, DeepSeek V4-Flash and Qwen3.8-27B dropped — open-weight models with 1M token context that run on consumer hardware. This is the world we're operating in now. These aren't hypothetical tools. They're being used right now.</a:t>
            </a:r>
            <a:endParaRPr b="0" lang="en-US" sz="2000" spc="-1" strike="noStrike">
              <a:solidFill>
                <a:srgbClr val="000000"/>
              </a:solidFill>
              <a:latin typeface="Arial"/>
            </a:endParaRPr>
          </a:p>
        </p:txBody>
      </p:sp>
      <p:sp>
        <p:nvSpPr>
          <p:cNvPr id="537"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3A90DE5-0FB6-4EF2-82A7-A44DAEB0F8A0}"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PlaceHolder 1"/>
          <p:cNvSpPr>
            <a:spLocks noGrp="1"/>
          </p:cNvSpPr>
          <p:nvPr>
            <p:ph type="sldImg"/>
          </p:nvPr>
        </p:nvSpPr>
        <p:spPr>
          <a:xfrm>
            <a:off x="1143000" y="685800"/>
            <a:ext cx="4571640" cy="3428640"/>
          </a:xfrm>
          <a:prstGeom prst="rect">
            <a:avLst/>
          </a:prstGeom>
          <a:ln w="0">
            <a:noFill/>
          </a:ln>
        </p:spPr>
      </p:sp>
      <p:sp>
        <p:nvSpPr>
          <p:cNvPr id="53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talk serves both crowds. If you're offensive — you want to know if agents can do RE, find bugs, and write exploits. If you're defensive — you want to know if agents can triage your alerts, analyze malware, and correlate threat intel. The answer to all of these is the same: yes. And here's the key insight: the same agent architecture powers both. The raptors don't care which side of the fence they're on. They just hunt.</a:t>
            </a:r>
            <a:endParaRPr b="0" lang="en-US" sz="2000" spc="-1" strike="noStrike">
              <a:solidFill>
                <a:srgbClr val="000000"/>
              </a:solidFill>
              <a:latin typeface="Arial"/>
            </a:endParaRPr>
          </a:p>
        </p:txBody>
      </p:sp>
      <p:sp>
        <p:nvSpPr>
          <p:cNvPr id="540"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4C146D9-48D5-4FF4-B163-9651E32621BC}"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sldImg"/>
          </p:nvPr>
        </p:nvSpPr>
        <p:spPr>
          <a:xfrm>
            <a:off x="1143000" y="685800"/>
            <a:ext cx="4571640" cy="3428640"/>
          </a:xfrm>
          <a:prstGeom prst="rect">
            <a:avLst/>
          </a:prstGeom>
          <a:ln w="0">
            <a:noFill/>
          </a:ln>
        </p:spPr>
      </p:sp>
      <p:sp>
        <p:nvSpPr>
          <p:cNvPr id="54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Now let's talk about what these models actually are — and the three new apex predators that changed everything this year.</a:t>
            </a:r>
            <a:endParaRPr b="0" lang="en-US" sz="2000" spc="-1" strike="noStrike">
              <a:solidFill>
                <a:srgbClr val="000000"/>
              </a:solidFill>
              <a:latin typeface="Arial"/>
            </a:endParaRPr>
          </a:p>
        </p:txBody>
      </p:sp>
      <p:sp>
        <p:nvSpPr>
          <p:cNvPr id="543"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37A4C96-F474-43DE-936A-6E3958FCA8D6}"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PlaceHolder 1"/>
          <p:cNvSpPr>
            <a:spLocks noGrp="1"/>
          </p:cNvSpPr>
          <p:nvPr>
            <p:ph type="sldImg"/>
          </p:nvPr>
        </p:nvSpPr>
        <p:spPr>
          <a:xfrm>
            <a:off x="1143000" y="685800"/>
            <a:ext cx="4571640" cy="3428640"/>
          </a:xfrm>
          <a:prstGeom prst="rect">
            <a:avLst/>
          </a:prstGeom>
          <a:ln w="0">
            <a:noFill/>
          </a:ln>
        </p:spPr>
      </p:sp>
      <p:sp>
        <p:nvSpPr>
          <p:cNvPr id="54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Fast version — you're practitioners, not students. An LLM is a probability engine. It's seen every CVE, every exploit writeup, every RE tutorial, every security paper ever published. It doesn't *know* anything. It pattern-matches. Your job is to extract the knowledge with the right questions and the right workflow. The model is the raptor. You're the handler.</a:t>
            </a:r>
            <a:endParaRPr b="0" lang="en-US" sz="2000" spc="-1" strike="noStrike">
              <a:solidFill>
                <a:srgbClr val="000000"/>
              </a:solidFill>
              <a:latin typeface="Arial"/>
            </a:endParaRPr>
          </a:p>
        </p:txBody>
      </p:sp>
      <p:sp>
        <p:nvSpPr>
          <p:cNvPr id="546"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C09B388-076A-4133-9B4A-26D48C4C488F}"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PlaceHolder 1"/>
          <p:cNvSpPr>
            <a:spLocks noGrp="1"/>
          </p:cNvSpPr>
          <p:nvPr>
            <p:ph type="sldImg"/>
          </p:nvPr>
        </p:nvSpPr>
        <p:spPr>
          <a:xfrm>
            <a:off x="1143000" y="685800"/>
            <a:ext cx="4571640" cy="3428640"/>
          </a:xfrm>
          <a:prstGeom prst="rect">
            <a:avLst/>
          </a:prstGeom>
          <a:ln w="0">
            <a:noFill/>
          </a:ln>
        </p:spPr>
      </p:sp>
      <p:sp>
        <p:nvSpPr>
          <p:cNvPr id="54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 parameter is a single learnable weight. More isn't always better — a 7B fine-tuned on IDAPython beats a 70B general model at writing IDAPython. But for raw reasoning and novel vulnerability discovery, bigger matters a lot. Claude Mythos is estimated at 8 trillion parameters. Fable 5 is about 5 trillion. These are the apex predators. But the local story has changed dramatically. DeepSeek V4-Flash is a 284B MoE model with 1M token context, MIT licensed, and it runs on a DGX Spark at Q4. Qwen3.8-27B is a dense multimodal model — text and vision — that outperforms Qwen3.7-Plus in coding and agentic workflows. For 95% of your daily work, these local models do the job. I'm running both on my DGX Spark right now. Save the big guns for novel exploit dev.</a:t>
            </a:r>
            <a:endParaRPr b="0" lang="en-US" sz="2000" spc="-1" strike="noStrike">
              <a:solidFill>
                <a:srgbClr val="000000"/>
              </a:solidFill>
              <a:latin typeface="Arial"/>
            </a:endParaRPr>
          </a:p>
        </p:txBody>
      </p:sp>
      <p:sp>
        <p:nvSpPr>
          <p:cNvPr id="549"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787D41D-549D-41C0-BC23-6B6DAF6CF5EB}"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sldImg"/>
          </p:nvPr>
        </p:nvSpPr>
        <p:spPr>
          <a:xfrm>
            <a:off x="1143000" y="685800"/>
            <a:ext cx="4571640" cy="3428640"/>
          </a:xfrm>
          <a:prstGeom prst="rect">
            <a:avLst/>
          </a:prstGeom>
          <a:ln w="0">
            <a:noFill/>
          </a:ln>
        </p:spPr>
      </p:sp>
      <p:sp>
        <p:nvSpPr>
          <p:cNvPr id="55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landscape. On the left: pay-per-token, best reasoning, huge context, but censored and rate-limited. On the right: download once, run forever, uncensored, completely private. The local side just got dramatically stronger — DeepSeek V4-Flash gives you 284B MoE with 1M context on a DGX Spark, and Qwen3.8-27B is a dense multimodal model that outperforms the previous Qwen3.7-Plus in coding. The new entry is Sakana Fugu — it sits in the middle and orchestrates models from both sides.</a:t>
            </a:r>
            <a:endParaRPr b="0" lang="en-US" sz="2000" spc="-1" strike="noStrike">
              <a:solidFill>
                <a:srgbClr val="000000"/>
              </a:solidFill>
              <a:latin typeface="Arial"/>
            </a:endParaRPr>
          </a:p>
        </p:txBody>
      </p:sp>
      <p:sp>
        <p:nvSpPr>
          <p:cNvPr id="552"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E5C1F36-9781-47F5-B905-06E7C3FE55E8}"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sldImg"/>
          </p:nvPr>
        </p:nvSpPr>
        <p:spPr>
          <a:xfrm>
            <a:off x="1143000" y="685800"/>
            <a:ext cx="4571640" cy="3428640"/>
          </a:xfrm>
          <a:prstGeom prst="rect">
            <a:avLst/>
          </a:prstGeom>
          <a:ln w="0">
            <a:noFill/>
          </a:ln>
        </p:spPr>
      </p:sp>
      <p:sp>
        <p:nvSpPr>
          <p:cNvPr id="55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T-Rex. Claude Mythos is the most powerful cybersecurity model ever built. Anthropic didn't release it publicly because they said it was too dangerous. The UK AI Security Institute tested it in a cyber range — it ranked highest, beating GPT-5.4 and Claude Opus. Mozilla used it to find and patch 271 Firefox bugs. Someone used it to make an Apple M5 chip exploit. The US Treasury, Federal Reserve, and Bank of England all held emergency meetings about it. The government imposed export controls making it illegal to share with non-US nationals. The NSA used it anyway. This is the model the raptors in our metaphor are based on.</a:t>
            </a:r>
            <a:endParaRPr b="0" lang="en-US" sz="2000" spc="-1" strike="noStrike">
              <a:solidFill>
                <a:srgbClr val="000000"/>
              </a:solidFill>
              <a:latin typeface="Arial"/>
            </a:endParaRPr>
          </a:p>
        </p:txBody>
      </p:sp>
      <p:sp>
        <p:nvSpPr>
          <p:cNvPr id="555"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1D005C8-BDF5-45BA-B52B-5C43E01F6448}"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Img"/>
          </p:nvPr>
        </p:nvSpPr>
        <p:spPr>
          <a:xfrm>
            <a:off x="1143000" y="685800"/>
            <a:ext cx="4571640" cy="3428640"/>
          </a:xfrm>
          <a:prstGeom prst="rect">
            <a:avLst/>
          </a:prstGeom>
          <a:ln w="0">
            <a:noFill/>
          </a:ln>
        </p:spPr>
      </p:sp>
      <p:sp>
        <p:nvSpPr>
          <p:cNvPr id="55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Fable 5 is what happened when Anthropic tried to make Mythos safe for public use. It's the same underlying model — same 5 trillion parameters, same reasoning capability. But when its classifiers detect that you're asking about cybersecurity, biology, or model distillation, it silently hands your query to Claude Opus instead. You don't get the apex predator for security work. You get the zoo version. For defensive work — log analysis, malware triage, IR automation — Fable 5 is excellent. For offensive work, you'll hit the muzzle.</a:t>
            </a:r>
            <a:endParaRPr b="0" lang="en-US" sz="2000" spc="-1" strike="noStrike">
              <a:solidFill>
                <a:srgbClr val="000000"/>
              </a:solidFill>
              <a:latin typeface="Arial"/>
            </a:endParaRPr>
          </a:p>
        </p:txBody>
      </p:sp>
      <p:sp>
        <p:nvSpPr>
          <p:cNvPr id="558"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BB96BFB-BCCD-4C02-B1AA-2E4321B6E84F}"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Img"/>
          </p:nvPr>
        </p:nvSpPr>
        <p:spPr>
          <a:xfrm>
            <a:off x="1143000" y="685800"/>
            <a:ext cx="4571640" cy="3428640"/>
          </a:xfrm>
          <a:prstGeom prst="rect">
            <a:avLst/>
          </a:prstGeom>
          <a:ln w="0">
            <a:noFill/>
          </a:ln>
        </p:spPr>
      </p:sp>
      <p:sp>
        <p:nvSpPr>
          <p:cNvPr id="56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And here's where it gets interesting. Sakana AI in Tokyo built something different. Instead of building one giant model, they built a model that *orchestrates* other models. You call one API. Fugu decides whether to handle it directly or assemble a team of expert models — and it can call itself recursively. It's the raptor pack. Each model in the pool is a specialist. Fugu is the coordinator that knows which raptor to send for which job. And critically: it was built specifically to route around export controls. One beta user gave it a single instruction and it ran a complete security assessment — recon, vulnerability checks, auth review, and a clean report — autonomously.</a:t>
            </a:r>
            <a:endParaRPr b="0" lang="en-US" sz="2000" spc="-1" strike="noStrike">
              <a:solidFill>
                <a:srgbClr val="000000"/>
              </a:solidFill>
              <a:latin typeface="Arial"/>
            </a:endParaRPr>
          </a:p>
        </p:txBody>
      </p:sp>
      <p:sp>
        <p:nvSpPr>
          <p:cNvPr id="561"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0F74B81-7388-429D-A485-AF0295F3CB96}"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2" name="PlaceHolder 1"/>
          <p:cNvSpPr>
            <a:spLocks noGrp="1"/>
          </p:cNvSpPr>
          <p:nvPr>
            <p:ph type="sldImg"/>
          </p:nvPr>
        </p:nvSpPr>
        <p:spPr>
          <a:xfrm>
            <a:off x="1143000" y="685800"/>
            <a:ext cx="4571640" cy="3428640"/>
          </a:xfrm>
          <a:prstGeom prst="rect">
            <a:avLst/>
          </a:prstGeom>
          <a:ln w="0">
            <a:noFill/>
          </a:ln>
        </p:spPr>
      </p:sp>
      <p:sp>
        <p:nvSpPr>
          <p:cNvPr id="56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Quick technical ref. Quantization: 4-bit compression gives you 4x smaller models with ~3% quality loss. For RE and security analysis, indistinguishable from full precision. This is what makes local AI practical. Context windows: the model's working memory. Even Gemini's 2M tokens can't fit a full firmware dump. The fundamental constraint hasn't changed: you can't paste the whole problem. You work around it — and that's what the rest of this talk is about.</a:t>
            </a:r>
            <a:endParaRPr b="0" lang="en-US" sz="2000" spc="-1" strike="noStrike">
              <a:solidFill>
                <a:srgbClr val="000000"/>
              </a:solidFill>
              <a:latin typeface="Arial"/>
            </a:endParaRPr>
          </a:p>
        </p:txBody>
      </p:sp>
      <p:sp>
        <p:nvSpPr>
          <p:cNvPr id="564"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6604AE6-C70B-47DB-9B07-58E2E483AD10}"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Img"/>
          </p:nvPr>
        </p:nvSpPr>
        <p:spPr>
          <a:xfrm>
            <a:off x="1143000" y="685800"/>
            <a:ext cx="4571640" cy="3428640"/>
          </a:xfrm>
          <a:prstGeom prst="rect">
            <a:avLst/>
          </a:prstGeom>
          <a:ln w="0">
            <a:noFill/>
          </a:ln>
        </p:spPr>
      </p:sp>
      <p:sp>
        <p:nvSpPr>
          <p:cNvPr id="56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Now let's talk about how to actually build and deploy agents — the architecture, the memory, the tools, and the strategy that makes it all work.</a:t>
            </a:r>
            <a:endParaRPr b="0" lang="en-US" sz="2000" spc="-1" strike="noStrike">
              <a:solidFill>
                <a:srgbClr val="000000"/>
              </a:solidFill>
              <a:latin typeface="Arial"/>
            </a:endParaRPr>
          </a:p>
        </p:txBody>
      </p:sp>
      <p:sp>
        <p:nvSpPr>
          <p:cNvPr id="567"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12D3A10-B95F-44F7-9236-6042364E9310}"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1143000" y="685800"/>
            <a:ext cx="4571640" cy="3428640"/>
          </a:xfrm>
          <a:prstGeom prst="rect">
            <a:avLst/>
          </a:prstGeom>
          <a:ln w="0">
            <a:noFill/>
          </a:ln>
        </p:spPr>
      </p:sp>
      <p:sp>
        <p:nvSpPr>
          <p:cNvPr id="56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spectrum of interaction. A chatbot is a question-answer machine. An agent has *tools* — it can read files, run commands, write code, browse the web. It has *memory* across sessions. It can *plan* and *execute* multi-step workflows. For hacking, you want agents. Fugu is interesting because it's an agent *disguised as a chatbot* — you call one API, but internally it's orchestrating a team.</a:t>
            </a:r>
            <a:endParaRPr b="0" lang="en-US" sz="2000" spc="-1" strike="noStrike">
              <a:solidFill>
                <a:srgbClr val="000000"/>
              </a:solidFill>
              <a:latin typeface="Arial"/>
            </a:endParaRPr>
          </a:p>
        </p:txBody>
      </p:sp>
      <p:sp>
        <p:nvSpPr>
          <p:cNvPr id="570" name="PlaceHolder 3"/>
          <p:cNvSpPr>
            <a:spLocks noGrp="1"/>
          </p:cNvSpPr>
          <p:nvPr>
            <p:ph type="sldNum" idx="5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FF9F0AD-FD88-453B-BFB3-38122CE2A5F1}"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1143000" y="685800"/>
            <a:ext cx="4571640" cy="3428640"/>
          </a:xfrm>
          <a:prstGeom prst="rect">
            <a:avLst/>
          </a:prstGeom>
          <a:ln w="0">
            <a:noFill/>
          </a:ln>
        </p:spPr>
      </p:sp>
      <p:sp>
        <p:nvSpPr>
          <p:cNvPr id="57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agent loop. Plan → Act → Observe → repeat. The agent decides what to do, calls a tool, reads the result, and decides the next step. The tools are what make it dangerous — read_file gives it access to your binaries, terminal gives it access to your system, web_search gives it access to the internet. Memory is what makes it useful over time — it learns your targets, your tools, your style.</a:t>
            </a:r>
            <a:endParaRPr b="0" lang="en-US" sz="2000" spc="-1" strike="noStrike">
              <a:solidFill>
                <a:srgbClr val="000000"/>
              </a:solidFill>
              <a:latin typeface="Arial"/>
            </a:endParaRPr>
          </a:p>
        </p:txBody>
      </p:sp>
      <p:sp>
        <p:nvSpPr>
          <p:cNvPr id="573" name="PlaceHolder 3"/>
          <p:cNvSpPr>
            <a:spLocks noGrp="1"/>
          </p:cNvSpPr>
          <p:nvPr>
            <p:ph type="sldNum" idx="5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1F9C0C0-0F27-4F7E-8F99-3AB8376BD4D3}"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1143000" y="685800"/>
            <a:ext cx="4571640" cy="3428640"/>
          </a:xfrm>
          <a:prstGeom prst="rect">
            <a:avLst/>
          </a:prstGeom>
          <a:ln w="0">
            <a:noFill/>
          </a:ln>
        </p:spPr>
      </p:sp>
      <p:sp>
        <p:nvSpPr>
          <p:cNvPr id="57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Four layers of memory. The ephemeral layer is what the model sees right now. Working memory is the conversation. Long-term memory is files that persist across sessions — identity files, skills, a wiki. External memory is RAG over your knowledge base. The most overlooked layer is #3 — maintaining your own wiki and skill files. That's worth more than a bigger context window because it represents distilled knowledge. This is how agents go from 'amnesiac chatbot' to 'trained raptor that knows your targets.'</a:t>
            </a:r>
            <a:endParaRPr b="0" lang="en-US" sz="2000" spc="-1" strike="noStrike">
              <a:solidFill>
                <a:srgbClr val="000000"/>
              </a:solidFill>
              <a:latin typeface="Arial"/>
            </a:endParaRPr>
          </a:p>
        </p:txBody>
      </p:sp>
      <p:sp>
        <p:nvSpPr>
          <p:cNvPr id="576" name="PlaceHolder 3"/>
          <p:cNvSpPr>
            <a:spLocks noGrp="1"/>
          </p:cNvSpPr>
          <p:nvPr>
            <p:ph type="sldNum" idx="5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13B5453-A68C-4DB5-8DF8-CDC668BC6826}"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1143000" y="685800"/>
            <a:ext cx="4571640" cy="3428640"/>
          </a:xfrm>
          <a:prstGeom prst="rect">
            <a:avLst/>
          </a:prstGeom>
          <a:ln w="0">
            <a:noFill/>
          </a:ln>
        </p:spPr>
      </p:sp>
      <p:sp>
        <p:nvSpPr>
          <p:cNvPr id="57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the most important slide. The meta-strategy mirrors how every reverse engineer already works. You don't read a 2MB binary byte by byte. You scan imports, look at strings, trace the call graph, then drill in. Do the same with your AI. Break the problem into pieces that fit the context window. Analyze each piece. Summarize. Merge. Decide. The AI handles the microscopic analysis. You handle the macroscopic strategy. And with something like Fugu, the orchestrator model handles the decomposition itself.</a:t>
            </a:r>
            <a:endParaRPr b="0" lang="en-US" sz="2000" spc="-1" strike="noStrike">
              <a:solidFill>
                <a:srgbClr val="000000"/>
              </a:solidFill>
              <a:latin typeface="Arial"/>
            </a:endParaRPr>
          </a:p>
        </p:txBody>
      </p:sp>
      <p:sp>
        <p:nvSpPr>
          <p:cNvPr id="579" name="PlaceHolder 3"/>
          <p:cNvSpPr>
            <a:spLocks noGrp="1"/>
          </p:cNvSpPr>
          <p:nvPr>
            <p:ph type="sldNum" idx="5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BE9B05A-9138-4C54-A96C-8422EB2B5F86}"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1143000" y="685800"/>
            <a:ext cx="4571640" cy="3428640"/>
          </a:xfrm>
          <a:prstGeom prst="rect">
            <a:avLst/>
          </a:prstGeom>
          <a:ln w="0">
            <a:noFill/>
          </a:ln>
        </p:spPr>
      </p:sp>
      <p:sp>
        <p:nvSpPr>
          <p:cNvPr id="58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is where the landscape is heading. Traditional approach: pick one big model and live with its limitations. Fable 5 is great but muzzled on security queries. New approach: use an orchestrator that picks the right model for each subtask. If one provider cuts off access — and we've seen this happen with export controls — the orchestrator routes around it. This isn't just a technical choice. It's a geopolitical one.</a:t>
            </a:r>
            <a:endParaRPr b="0" lang="en-US" sz="2000" spc="-1" strike="noStrike">
              <a:solidFill>
                <a:srgbClr val="000000"/>
              </a:solidFill>
              <a:latin typeface="Arial"/>
            </a:endParaRPr>
          </a:p>
        </p:txBody>
      </p:sp>
      <p:sp>
        <p:nvSpPr>
          <p:cNvPr id="582" name="PlaceHolder 3"/>
          <p:cNvSpPr>
            <a:spLocks noGrp="1"/>
          </p:cNvSpPr>
          <p:nvPr>
            <p:ph type="sldNum" idx="5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D843E34-CCD4-4F07-A195-7ADC9CE34614}"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1143000" y="685800"/>
            <a:ext cx="4571640" cy="3428640"/>
          </a:xfrm>
          <a:prstGeom prst="rect">
            <a:avLst/>
          </a:prstGeom>
          <a:ln w="0">
            <a:noFill/>
          </a:ln>
        </p:spPr>
      </p:sp>
      <p:sp>
        <p:nvSpPr>
          <p:cNvPr id="58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Now for the fun part. Live demos — offensive and defensive. These all run on free, open-source tools. You can replicate every one of them tonight.</a:t>
            </a:r>
            <a:endParaRPr b="0" lang="en-US" sz="2000" spc="-1" strike="noStrike">
              <a:solidFill>
                <a:srgbClr val="000000"/>
              </a:solidFill>
              <a:latin typeface="Arial"/>
            </a:endParaRPr>
          </a:p>
        </p:txBody>
      </p:sp>
      <p:sp>
        <p:nvSpPr>
          <p:cNvPr id="585" name="PlaceHolder 3"/>
          <p:cNvSpPr>
            <a:spLocks noGrp="1"/>
          </p:cNvSpPr>
          <p:nvPr>
            <p:ph type="sldNum" idx="5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65C2AA2-8B4C-4F21-A406-0EA6B416523D}"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1143000" y="685800"/>
            <a:ext cx="4571640" cy="3428640"/>
          </a:xfrm>
          <a:prstGeom prst="rect">
            <a:avLst/>
          </a:prstGeom>
          <a:ln w="0">
            <a:noFill/>
          </a:ln>
        </p:spPr>
      </p:sp>
      <p:sp>
        <p:nvSpPr>
          <p:cNvPr id="58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First demo — autonomous binary RE. A tiny vulnerable binary with an unreachable function. The agent has to disassemble it, identify the vulnerability, calculate the offset, and explain the exploit path. This is the entire RE workflow compressed into a 60-second exercise. The agent does the grunt work. You review the results. This works with a free local model — no API keys, no cloud.</a:t>
            </a:r>
            <a:endParaRPr b="0" lang="en-US" sz="2000" spc="-1" strike="noStrike">
              <a:solidFill>
                <a:srgbClr val="000000"/>
              </a:solidFill>
              <a:latin typeface="Arial"/>
            </a:endParaRPr>
          </a:p>
        </p:txBody>
      </p:sp>
      <p:sp>
        <p:nvSpPr>
          <p:cNvPr id="588" name="PlaceHolder 3"/>
          <p:cNvSpPr>
            <a:spLocks noGrp="1"/>
          </p:cNvSpPr>
          <p:nvPr>
            <p:ph type="sldNum" idx="5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E6810F2-74A9-41D3-A266-ED5CD5801471}"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1143000" y="685800"/>
            <a:ext cx="4571640" cy="3428640"/>
          </a:xfrm>
          <a:prstGeom prst="rect">
            <a:avLst/>
          </a:prstGeom>
          <a:ln w="0">
            <a:noFill/>
          </a:ln>
        </p:spPr>
      </p:sp>
      <p:sp>
        <p:nvSpPr>
          <p:cNvPr id="59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Second demo — source code vulnerability hunting. The agent reads the code, identifies multiple vulnerability classes — buffer overflow, off-by-one, SQL injection, timing attack — classifies each by severity, and writes the patches. This is what a junior security engineer does in a day, done in 30 seconds. For the blue teamers: this is also your code review tool. Same agent, same workflow, different direction.</a:t>
            </a:r>
            <a:endParaRPr b="0" lang="en-US" sz="2000" spc="-1" strike="noStrike">
              <a:solidFill>
                <a:srgbClr val="000000"/>
              </a:solidFill>
              <a:latin typeface="Arial"/>
            </a:endParaRPr>
          </a:p>
        </p:txBody>
      </p:sp>
      <p:sp>
        <p:nvSpPr>
          <p:cNvPr id="591" name="PlaceHolder 3"/>
          <p:cNvSpPr>
            <a:spLocks noGrp="1"/>
          </p:cNvSpPr>
          <p:nvPr>
            <p:ph type="sldNum" idx="5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B6B827E-E47D-43BE-9720-404259E41A68}"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1143000" y="685800"/>
            <a:ext cx="4571640" cy="3428640"/>
          </a:xfrm>
          <a:prstGeom prst="rect">
            <a:avLst/>
          </a:prstGeom>
          <a:ln w="0">
            <a:noFill/>
          </a:ln>
        </p:spPr>
      </p:sp>
      <p:sp>
        <p:nvSpPr>
          <p:cNvPr id="59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Third demo — and this one's for the blue team. The agent analyzes a malware sample, extracts indicators of compromise, maps them to MITRE ATT&amp;CK, and generates an incident response playbook. This is the work that keeps your SOC analysts awake at 2 AM. The agent does the triage. The human makes the strategic decisions — isolate, block, hunt, deploy. This is the same architecture, the same tools, just pointed in the other direction.</a:t>
            </a:r>
            <a:endParaRPr b="0" lang="en-US" sz="2000" spc="-1" strike="noStrike">
              <a:solidFill>
                <a:srgbClr val="000000"/>
              </a:solidFill>
              <a:latin typeface="Arial"/>
            </a:endParaRPr>
          </a:p>
        </p:txBody>
      </p:sp>
      <p:sp>
        <p:nvSpPr>
          <p:cNvPr id="594" name="PlaceHolder 3"/>
          <p:cNvSpPr>
            <a:spLocks noGrp="1"/>
          </p:cNvSpPr>
          <p:nvPr>
            <p:ph type="sldNum" idx="5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606AE34-5A30-49D6-8AD1-D686D72F3350}"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1143000" y="685800"/>
            <a:ext cx="4571640" cy="3428640"/>
          </a:xfrm>
          <a:prstGeom prst="rect">
            <a:avLst/>
          </a:prstGeom>
          <a:ln w="0">
            <a:noFill/>
          </a:ln>
        </p:spPr>
      </p:sp>
      <p:sp>
        <p:nvSpPr>
          <p:cNvPr id="59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Fourth demo — log analysis at scale. 10,000 lines of auth logs is way more than any context window. The agent chunks it, processes each chunk, merges the results, and finds the anomalies. This is the decomposition meta-strategy from earlier, happening in real time. Brute force, impossible travel, anomalous patterns — all surfaced automatically.</a:t>
            </a:r>
            <a:endParaRPr b="0" lang="en-US" sz="2000" spc="-1" strike="noStrike">
              <a:solidFill>
                <a:srgbClr val="000000"/>
              </a:solidFill>
              <a:latin typeface="Arial"/>
            </a:endParaRPr>
          </a:p>
        </p:txBody>
      </p:sp>
      <p:sp>
        <p:nvSpPr>
          <p:cNvPr id="597" name="PlaceHolder 3"/>
          <p:cNvSpPr>
            <a:spLocks noGrp="1"/>
          </p:cNvSpPr>
          <p:nvPr>
            <p:ph type="sldNum" idx="6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4664BA4-4F22-482C-A4CD-9A6D95E6CA22}"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1143000" y="685800"/>
            <a:ext cx="4571640" cy="3428640"/>
          </a:xfrm>
          <a:prstGeom prst="rect">
            <a:avLst/>
          </a:prstGeom>
          <a:ln w="0">
            <a:noFill/>
          </a:ln>
        </p:spPr>
      </p:sp>
      <p:sp>
        <p:nvSpPr>
          <p:cNvPr id="59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And here's where it's heading. Sakana Fugu's beta users report giving it a single instruction and getting a complete security assessment back — recon, vulnerability checks, auth review, and a clean report. The orchestrator dispatches sub-agents for each phase. It stays in scope. It avoids destructive actions. This is the raptor pack hunting together — each model is a specialist, the orchestrator is the alpha.</a:t>
            </a:r>
            <a:endParaRPr b="0" lang="en-US" sz="2000" spc="-1" strike="noStrike">
              <a:solidFill>
                <a:srgbClr val="000000"/>
              </a:solidFill>
              <a:latin typeface="Arial"/>
            </a:endParaRPr>
          </a:p>
        </p:txBody>
      </p:sp>
      <p:sp>
        <p:nvSpPr>
          <p:cNvPr id="600" name="PlaceHolder 3"/>
          <p:cNvSpPr>
            <a:spLocks noGrp="1"/>
          </p:cNvSpPr>
          <p:nvPr>
            <p:ph type="sldNum" idx="6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248B37E-F57D-42DA-B463-06056B0F4E5E}" type="slidenum">
              <a:rPr b="0" lang="en-US" sz="1200" spc="-1" strike="noStrike">
                <a:solidFill>
                  <a:srgbClr val="000000"/>
                </a:solidFill>
                <a:latin typeface="Times New Roman"/>
              </a:rPr>
              <a:t>33</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1143000" y="685800"/>
            <a:ext cx="4571640" cy="3428640"/>
          </a:xfrm>
          <a:prstGeom prst="rect">
            <a:avLst/>
          </a:prstGeom>
          <a:ln w="0">
            <a:noFill/>
          </a:ln>
        </p:spPr>
      </p:sp>
      <p:sp>
        <p:nvSpPr>
          <p:cNvPr id="60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The rule that ties it all together. Paste raw data, you pay linear cost in tokens. Summarize strategically at each step, you pay logarithmic cost. This is the difference between $10 of API calls and $0.50. Between hitting context limits and never hitting them. Between 'the model is useless for my firmware' and 'the model found three bugs in 30 seconds.' Whether you're using a local 14B model, Fable 5, or Fugu Ultra — this rule is the same.</a:t>
            </a:r>
            <a:endParaRPr b="0" lang="en-US" sz="2000" spc="-1" strike="noStrike">
              <a:solidFill>
                <a:srgbClr val="000000"/>
              </a:solidFill>
              <a:latin typeface="Arial"/>
            </a:endParaRPr>
          </a:p>
        </p:txBody>
      </p:sp>
      <p:sp>
        <p:nvSpPr>
          <p:cNvPr id="603" name="PlaceHolder 3"/>
          <p:cNvSpPr>
            <a:spLocks noGrp="1"/>
          </p:cNvSpPr>
          <p:nvPr>
            <p:ph type="sldNum" idx="6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C7900BB-F24A-457E-8446-F8E0FB11508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1143000" y="685800"/>
            <a:ext cx="4571640" cy="3428640"/>
          </a:xfrm>
          <a:prstGeom prst="rect">
            <a:avLst/>
          </a:prstGeom>
          <a:ln w="0">
            <a:noFill/>
          </a:ln>
        </p:spPr>
      </p:sp>
      <p:sp>
        <p:nvSpPr>
          <p:cNvPr id="60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Here's the summary for the demos. Every offensive use case has a defensive mirror. Same architecture. Same decomposition strategy. Same tools. The difference is what you point the agent at — a target binary or a malware sample, an exploit path or an IR playbook. If you're red team: these are your force multipliers. If you're blue team: these are your 2 AM backup.</a:t>
            </a:r>
            <a:endParaRPr b="0" lang="en-US" sz="2000" spc="-1" strike="noStrike">
              <a:solidFill>
                <a:srgbClr val="000000"/>
              </a:solidFill>
              <a:latin typeface="Arial"/>
            </a:endParaRPr>
          </a:p>
        </p:txBody>
      </p:sp>
      <p:sp>
        <p:nvSpPr>
          <p:cNvPr id="606" name="PlaceHolder 3"/>
          <p:cNvSpPr>
            <a:spLocks noGrp="1"/>
          </p:cNvSpPr>
          <p:nvPr>
            <p:ph type="sldNum" idx="6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5DECC20-5FBE-4FCD-A839-CE0FAE5BEC4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1143000" y="685800"/>
            <a:ext cx="4571640" cy="3428640"/>
          </a:xfrm>
          <a:prstGeom prst="rect">
            <a:avLst/>
          </a:prstGeom>
          <a:ln w="0">
            <a:noFill/>
          </a:ln>
        </p:spPr>
      </p:sp>
      <p:sp>
        <p:nvSpPr>
          <p:cNvPr id="60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Let me show you what we're actually building. Three projects in the Vivisect ecosystem — all AI-integrated, all open-source. Viv-AI is the AI integration plugin for Vivisect — it gives you in-GUI RE assistance and an MCP server so agents like Hermes can talk to Vivisect directly. It's provider-agnostic, so it works with Ollama, OpenAI, Anthropic, and Gemini. It does bounded binary extraction, control-flow graph summarization, symbolik path summarization, and safe write-back with review queues. VivisectION is the next-generation vision — automated 0-day discovery and full kill-chain generation. It's what we're building toward. And Viv-Decomp is a native Vivisect decompiler — IR builder, SSA construction, type inference, controlled program decomposition, structuring. No Ghidra dependency for decompilation. Three projects, one ecosystem, AI-powered RE from disassembly to decompilation to 0-day.</a:t>
            </a:r>
            <a:endParaRPr b="0" lang="en-US" sz="2000" spc="-1" strike="noStrike">
              <a:solidFill>
                <a:srgbClr val="000000"/>
              </a:solidFill>
              <a:latin typeface="Arial"/>
            </a:endParaRPr>
          </a:p>
        </p:txBody>
      </p:sp>
      <p:sp>
        <p:nvSpPr>
          <p:cNvPr id="609" name="PlaceHolder 3"/>
          <p:cNvSpPr>
            <a:spLocks noGrp="1"/>
          </p:cNvSpPr>
          <p:nvPr>
            <p:ph type="sldNum" idx="6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1C9B6A9-B0E9-47B3-9B31-8E5F5C14A5C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sldImg"/>
          </p:nvPr>
        </p:nvSpPr>
        <p:spPr>
          <a:xfrm>
            <a:off x="1143000" y="685800"/>
            <a:ext cx="4571640" cy="3428640"/>
          </a:xfrm>
          <a:prstGeom prst="rect">
            <a:avLst/>
          </a:prstGeom>
          <a:ln w="0">
            <a:noFill/>
          </a:ln>
        </p:spPr>
      </p:sp>
      <p:sp>
        <p:nvSpPr>
          <p:cNvPr id="61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Here's how the pieces fit together. Hermes is the agent — it plans, acts, observes. Viv-AI is the bridge — it gives Hermes access to Vivisect's analysis capabilities through an MCP server. The agent can extract functions, get control-flow summaries, trace symbolik paths, and even suggest renames and comments that go through a review queue before being applied. Viv-Decomp handles the decompilation natively. The result is a pipeline: agent reads binary → Viv-AI extracts context → Vivisect analyzes → Viv-Decomp decompiles → agent triages vulns → agent generates exploit primitives. All autonomous, all reviewable, all on your local machine with Qwen3.8-27B or DeepSeek V4-Flash.</a:t>
            </a:r>
            <a:endParaRPr b="0" lang="en-US" sz="2000" spc="-1" strike="noStrike">
              <a:solidFill>
                <a:srgbClr val="000000"/>
              </a:solidFill>
              <a:latin typeface="Arial"/>
            </a:endParaRPr>
          </a:p>
        </p:txBody>
      </p:sp>
      <p:sp>
        <p:nvSpPr>
          <p:cNvPr id="612" name="PlaceHolder 3"/>
          <p:cNvSpPr>
            <a:spLocks noGrp="1"/>
          </p:cNvSpPr>
          <p:nvPr>
            <p:ph type="sldNum" idx="6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F6CE5DC-BEB8-4B3C-B8BD-8297134AA35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sldImg"/>
          </p:nvPr>
        </p:nvSpPr>
        <p:spPr>
          <a:xfrm>
            <a:off x="1143000" y="685800"/>
            <a:ext cx="4571640" cy="3428640"/>
          </a:xfrm>
          <a:prstGeom prst="rect">
            <a:avLst/>
          </a:prstGeom>
          <a:ln w="0">
            <a:noFill/>
          </a:ln>
        </p:spPr>
      </p:sp>
      <p:sp>
        <p:nvSpPr>
          <p:cNvPr id="61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Screenshot this slide. It's your cheat sheet for the entire talk.</a:t>
            </a:r>
            <a:endParaRPr b="0" lang="en-US" sz="2000" spc="-1" strike="noStrike">
              <a:solidFill>
                <a:srgbClr val="000000"/>
              </a:solidFill>
              <a:latin typeface="Arial"/>
            </a:endParaRPr>
          </a:p>
        </p:txBody>
      </p:sp>
      <p:sp>
        <p:nvSpPr>
          <p:cNvPr id="615" name="PlaceHolder 3"/>
          <p:cNvSpPr>
            <a:spLocks noGrp="1"/>
          </p:cNvSpPr>
          <p:nvPr>
            <p:ph type="sldNum" idx="6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C785E3E-7A3F-414A-BF51-31AEE66088A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sldImg"/>
          </p:nvPr>
        </p:nvSpPr>
        <p:spPr>
          <a:xfrm>
            <a:off x="1143000" y="685800"/>
            <a:ext cx="4571640" cy="3428640"/>
          </a:xfrm>
          <a:prstGeom prst="rect">
            <a:avLst/>
          </a:prstGeom>
          <a:ln w="0">
            <a:noFill/>
          </a:ln>
        </p:spPr>
      </p:sp>
      <p:sp>
        <p:nvSpPr>
          <p:cNvPr id="61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Five takeaways. One: stop chatting, start commanding — agents are the right tool for security work. Two: the apex predators are real — Mythos, Fable 5, and Fugu are being used right now. Three: local can compete — Qwen3.8-27B and DeepSeek V4-Flash on a DGX Spark give you frontier-class capability with no API needed. Four: decomposition is the meta-skill — chunk, analyze, summarize, merge, decide. Five: same architecture, both sides — offensive and defensive use the same tools. The raptors learned the fence patterns. Your agents can learn your targets. The question is: are you holding the controller, or saying 'clever girl'? Thank you. Questions?</a:t>
            </a:r>
            <a:endParaRPr b="0" lang="en-US" sz="2000" spc="-1" strike="noStrike">
              <a:solidFill>
                <a:srgbClr val="000000"/>
              </a:solidFill>
              <a:latin typeface="Arial"/>
            </a:endParaRPr>
          </a:p>
        </p:txBody>
      </p:sp>
      <p:sp>
        <p:nvSpPr>
          <p:cNvPr id="618" name="PlaceHolder 3"/>
          <p:cNvSpPr>
            <a:spLocks noGrp="1"/>
          </p:cNvSpPr>
          <p:nvPr>
            <p:ph type="sldNum" idx="6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6A06551-0C63-4CB8-B53C-78F445FAF06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A1D8A02-3D03-45EB-A436-697A6C73ACAB}"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8D266BAD-5713-4FE0-A1B4-87767D0314F1}"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6C1F811A-DE6C-4DF9-B15D-5E11C49E286A}"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5AFBE29C-3BE2-4633-BFF6-40BD464F362F}"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34B76412-9694-4FD8-9499-BBDA7AD2A57A}"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660A323B-7CB6-421C-8F5F-94E8A0540AFC}"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025EA10C-D0E0-42F9-91C5-F39551145B49}"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FE508261-693A-464F-87EE-B3F3B671F68E}"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9FAA0503-19A2-425A-AE40-61CA5DF45FA2}"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7717A828-7BBB-48BA-93DA-B1D6F46F8D65}"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2EF7B73A-1933-4375-9C66-7292E583DC6C}"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268F02C-E6D4-4283-B024-B41B8A7A1F6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0607235-70C8-4E26-B411-BE2FAB5BBF6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7EA57E2-AB40-438D-A2E1-7A13BED4258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F9B7707-857E-4A77-8588-11B69214473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083DF6B-6296-4E81-A1C2-99BD626D41A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054F3C9-558A-484B-8B40-AEFBD1A1AC1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3C7FD7D9-AAAC-43FE-A546-B0FDE0E6D85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A5028ED-08A3-424A-8414-CE28E6FDDA0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F0916CA-FF5B-433C-AD08-389B7029C53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7FF81D1-5406-449E-9CDB-A46A2B1EBDF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D819D76-7FFC-4D14-AE2B-22618A8F73B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video" Target="../media/media2.mp4"/><Relationship Id="rId2" Type="http://schemas.microsoft.com/office/2007/relationships/media" Target="../media/media2.mp4"/><Relationship Id="rId3" Type="http://schemas.openxmlformats.org/officeDocument/2006/relationships/image" Target="../media/image3.png"/><Relationship Id="rId4" Type="http://schemas.openxmlformats.org/officeDocument/2006/relationships/slideLayout" Target="../slideLayouts/slideLayout9.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73" name="Oval 2"/>
          <p:cNvSpPr/>
          <p:nvPr/>
        </p:nvSpPr>
        <p:spPr>
          <a:xfrm>
            <a:off x="109800" y="256932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74" name="Oval 3"/>
          <p:cNvSpPr/>
          <p:nvPr/>
        </p:nvSpPr>
        <p:spPr>
          <a:xfrm>
            <a:off x="9793080" y="9511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75" name="Oval 4"/>
          <p:cNvSpPr/>
          <p:nvPr/>
        </p:nvSpPr>
        <p:spPr>
          <a:xfrm>
            <a:off x="1974960" y="2926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76" name="Oval 5"/>
          <p:cNvSpPr/>
          <p:nvPr/>
        </p:nvSpPr>
        <p:spPr>
          <a:xfrm>
            <a:off x="1014840" y="217620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77" name="Oval 6"/>
          <p:cNvSpPr/>
          <p:nvPr/>
        </p:nvSpPr>
        <p:spPr>
          <a:xfrm>
            <a:off x="2624400" y="18561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78" name="Oval 7"/>
          <p:cNvSpPr/>
          <p:nvPr/>
        </p:nvSpPr>
        <p:spPr>
          <a:xfrm>
            <a:off x="4123800" y="6071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79" name="Oval 8"/>
          <p:cNvSpPr/>
          <p:nvPr/>
        </p:nvSpPr>
        <p:spPr>
          <a:xfrm>
            <a:off x="118800" y="36576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80" name="Oval 9"/>
          <p:cNvSpPr/>
          <p:nvPr/>
        </p:nvSpPr>
        <p:spPr>
          <a:xfrm>
            <a:off x="5203080" y="35676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81" name="Oval 10"/>
          <p:cNvSpPr/>
          <p:nvPr/>
        </p:nvSpPr>
        <p:spPr>
          <a:xfrm>
            <a:off x="1911240" y="21024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82" name="Oval 11"/>
          <p:cNvSpPr/>
          <p:nvPr/>
        </p:nvSpPr>
        <p:spPr>
          <a:xfrm>
            <a:off x="1673280" y="3218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83" name="Oval 12"/>
          <p:cNvSpPr/>
          <p:nvPr/>
        </p:nvSpPr>
        <p:spPr>
          <a:xfrm>
            <a:off x="804600" y="10699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84" name="Oval 13"/>
          <p:cNvSpPr/>
          <p:nvPr/>
        </p:nvSpPr>
        <p:spPr>
          <a:xfrm>
            <a:off x="1764720" y="7315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85" name="Oval 14"/>
          <p:cNvSpPr/>
          <p:nvPr/>
        </p:nvSpPr>
        <p:spPr>
          <a:xfrm>
            <a:off x="11768400" y="8413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86" name="Oval 15"/>
          <p:cNvSpPr/>
          <p:nvPr/>
        </p:nvSpPr>
        <p:spPr>
          <a:xfrm>
            <a:off x="9464040" y="4204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87" name="Oval 16"/>
          <p:cNvSpPr/>
          <p:nvPr/>
        </p:nvSpPr>
        <p:spPr>
          <a:xfrm>
            <a:off x="1490400" y="53964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88" name="TextBox 17"/>
          <p:cNvSpPr/>
          <p:nvPr/>
        </p:nvSpPr>
        <p:spPr>
          <a:xfrm>
            <a:off x="0" y="914400"/>
            <a:ext cx="7772040" cy="109692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endParaRPr b="0" lang="en-US" sz="1800" spc="-1" strike="noStrike">
              <a:solidFill>
                <a:srgbClr val="ffffff"/>
              </a:solidFill>
              <a:latin typeface="Arial"/>
            </a:endParaRPr>
          </a:p>
        </p:txBody>
      </p:sp>
      <p:sp>
        <p:nvSpPr>
          <p:cNvPr id="89" name="TextBox 18"/>
          <p:cNvSpPr/>
          <p:nvPr/>
        </p:nvSpPr>
        <p:spPr>
          <a:xfrm>
            <a:off x="0" y="2011680"/>
            <a:ext cx="12191400" cy="324612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spcBef>
                <a:spcPts val="1191"/>
              </a:spcBef>
              <a:spcAft>
                <a:spcPts val="992"/>
              </a:spcAft>
            </a:pPr>
            <a:r>
              <a:rPr b="0" lang="en-US" sz="2800" spc="-1" strike="noStrike">
                <a:solidFill>
                  <a:srgbClr val="ffffff"/>
                </a:solidFill>
                <a:latin typeface="Consolas"/>
              </a:rPr>
              <a:t>It is better to go to a house of mourning than to go to a house of feasting, for death is the destiny of everyone; the living should take this to heart.</a:t>
            </a:r>
            <a:endParaRPr b="0" lang="en-US" sz="2800" spc="-1" strike="noStrike">
              <a:solidFill>
                <a:srgbClr val="ffffff"/>
              </a:solidFill>
              <a:latin typeface="Arial"/>
            </a:endParaRPr>
          </a:p>
          <a:p>
            <a:pPr algn="ctr" defTabSz="457200">
              <a:lnSpc>
                <a:spcPct val="100000"/>
              </a:lnSpc>
              <a:spcBef>
                <a:spcPts val="1191"/>
              </a:spcBef>
              <a:spcAft>
                <a:spcPts val="992"/>
              </a:spcAft>
            </a:pPr>
            <a:endParaRPr b="0" lang="en-US" sz="2800" spc="-1" strike="noStrike">
              <a:solidFill>
                <a:srgbClr val="ffffff"/>
              </a:solidFill>
              <a:latin typeface="Arial"/>
            </a:endParaRPr>
          </a:p>
          <a:p>
            <a:pPr algn="ctr" defTabSz="457200">
              <a:lnSpc>
                <a:spcPct val="100000"/>
              </a:lnSpc>
              <a:spcBef>
                <a:spcPts val="1191"/>
              </a:spcBef>
              <a:spcAft>
                <a:spcPts val="992"/>
              </a:spcAft>
            </a:pPr>
            <a:r>
              <a:rPr b="0" lang="en-US" sz="2800" spc="-1" strike="noStrike">
                <a:solidFill>
                  <a:srgbClr val="ffffff"/>
                </a:solidFill>
                <a:latin typeface="Consolas"/>
              </a:rPr>
              <a:t>Ecclesiastes 7:2</a:t>
            </a:r>
            <a:endParaRPr b="0" lang="en-US" sz="2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pic>
        <p:nvPicPr>
          <p:cNvPr id="90" name="Picture 2" descr="raptor_title_faded.png"/>
          <p:cNvPicPr/>
          <p:nvPr/>
        </p:nvPicPr>
        <p:blipFill>
          <a:blip r:embed="rId1"/>
          <a:stretch/>
        </p:blipFill>
        <p:spPr>
          <a:xfrm>
            <a:off x="2286000" y="182880"/>
            <a:ext cx="9875160" cy="6491880"/>
          </a:xfrm>
          <a:prstGeom prst="rect">
            <a:avLst/>
          </a:prstGeom>
          <a:ln w="0">
            <a:noFill/>
          </a:ln>
        </p:spPr>
      </p:pic>
      <p:sp>
        <p:nvSpPr>
          <p:cNvPr id="91" name="Oval 17"/>
          <p:cNvSpPr/>
          <p:nvPr/>
        </p:nvSpPr>
        <p:spPr>
          <a:xfrm>
            <a:off x="109800" y="256932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endParaRPr b="0" lang="en-US" sz="1800" spc="-1" strike="noStrike">
              <a:solidFill>
                <a:schemeClr val="lt1"/>
              </a:solidFill>
              <a:latin typeface="Calibri"/>
            </a:endParaRPr>
          </a:p>
        </p:txBody>
      </p:sp>
      <p:sp>
        <p:nvSpPr>
          <p:cNvPr id="92" name="Oval 18"/>
          <p:cNvSpPr/>
          <p:nvPr/>
        </p:nvSpPr>
        <p:spPr>
          <a:xfrm>
            <a:off x="9793080" y="9511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endParaRPr b="0" lang="en-US" sz="1800" spc="-1" strike="noStrike">
              <a:solidFill>
                <a:schemeClr val="lt1"/>
              </a:solidFill>
              <a:latin typeface="Calibri"/>
            </a:endParaRPr>
          </a:p>
        </p:txBody>
      </p:sp>
      <p:sp>
        <p:nvSpPr>
          <p:cNvPr id="93" name="Oval 19"/>
          <p:cNvSpPr/>
          <p:nvPr/>
        </p:nvSpPr>
        <p:spPr>
          <a:xfrm>
            <a:off x="1974960" y="2926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endParaRPr b="0" lang="en-US" sz="1800" spc="-1" strike="noStrike">
              <a:solidFill>
                <a:schemeClr val="lt1"/>
              </a:solidFill>
              <a:latin typeface="Calibri"/>
            </a:endParaRPr>
          </a:p>
        </p:txBody>
      </p:sp>
      <p:sp>
        <p:nvSpPr>
          <p:cNvPr id="94" name="Oval 20"/>
          <p:cNvSpPr/>
          <p:nvPr/>
        </p:nvSpPr>
        <p:spPr>
          <a:xfrm>
            <a:off x="1014840" y="217620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endParaRPr b="0" lang="en-US" sz="1800" spc="-1" strike="noStrike">
              <a:solidFill>
                <a:schemeClr val="lt1"/>
              </a:solidFill>
              <a:latin typeface="Calibri"/>
            </a:endParaRPr>
          </a:p>
        </p:txBody>
      </p:sp>
      <p:sp>
        <p:nvSpPr>
          <p:cNvPr id="95" name="Oval 21"/>
          <p:cNvSpPr/>
          <p:nvPr/>
        </p:nvSpPr>
        <p:spPr>
          <a:xfrm>
            <a:off x="2624400" y="18561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endParaRPr b="0" lang="en-US" sz="1800" spc="-1" strike="noStrike">
              <a:solidFill>
                <a:schemeClr val="lt1"/>
              </a:solidFill>
              <a:latin typeface="Calibri"/>
            </a:endParaRPr>
          </a:p>
        </p:txBody>
      </p:sp>
      <p:sp>
        <p:nvSpPr>
          <p:cNvPr id="96" name="Oval 22"/>
          <p:cNvSpPr/>
          <p:nvPr/>
        </p:nvSpPr>
        <p:spPr>
          <a:xfrm>
            <a:off x="4123800" y="6071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endParaRPr b="0" lang="en-US" sz="1800" spc="-1" strike="noStrike">
              <a:solidFill>
                <a:schemeClr val="lt1"/>
              </a:solidFill>
              <a:latin typeface="Calibri"/>
            </a:endParaRPr>
          </a:p>
        </p:txBody>
      </p:sp>
      <p:sp>
        <p:nvSpPr>
          <p:cNvPr id="97" name="Oval 23"/>
          <p:cNvSpPr/>
          <p:nvPr/>
        </p:nvSpPr>
        <p:spPr>
          <a:xfrm>
            <a:off x="118800" y="36576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endParaRPr b="0" lang="en-US" sz="1800" spc="-1" strike="noStrike">
              <a:solidFill>
                <a:schemeClr val="lt1"/>
              </a:solidFill>
              <a:latin typeface="Calibri"/>
            </a:endParaRPr>
          </a:p>
        </p:txBody>
      </p:sp>
      <p:sp>
        <p:nvSpPr>
          <p:cNvPr id="98" name="Oval 24"/>
          <p:cNvSpPr/>
          <p:nvPr/>
        </p:nvSpPr>
        <p:spPr>
          <a:xfrm>
            <a:off x="5203080" y="35676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endParaRPr b="0" lang="en-US" sz="1800" spc="-1" strike="noStrike">
              <a:solidFill>
                <a:schemeClr val="lt1"/>
              </a:solidFill>
              <a:latin typeface="Calibri"/>
            </a:endParaRPr>
          </a:p>
        </p:txBody>
      </p:sp>
      <p:sp>
        <p:nvSpPr>
          <p:cNvPr id="99" name="Oval 25"/>
          <p:cNvSpPr/>
          <p:nvPr/>
        </p:nvSpPr>
        <p:spPr>
          <a:xfrm>
            <a:off x="1911240" y="21024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endParaRPr b="0" lang="en-US" sz="1800" spc="-1" strike="noStrike">
              <a:solidFill>
                <a:schemeClr val="lt1"/>
              </a:solidFill>
              <a:latin typeface="Calibri"/>
            </a:endParaRPr>
          </a:p>
        </p:txBody>
      </p:sp>
      <p:sp>
        <p:nvSpPr>
          <p:cNvPr id="100" name="Oval 26"/>
          <p:cNvSpPr/>
          <p:nvPr/>
        </p:nvSpPr>
        <p:spPr>
          <a:xfrm>
            <a:off x="1673280" y="3218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endParaRPr b="0" lang="en-US" sz="1800" spc="-1" strike="noStrike">
              <a:solidFill>
                <a:schemeClr val="lt1"/>
              </a:solidFill>
              <a:latin typeface="Calibri"/>
            </a:endParaRPr>
          </a:p>
        </p:txBody>
      </p:sp>
      <p:sp>
        <p:nvSpPr>
          <p:cNvPr id="101" name="Oval 27"/>
          <p:cNvSpPr/>
          <p:nvPr/>
        </p:nvSpPr>
        <p:spPr>
          <a:xfrm>
            <a:off x="804600" y="10699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endParaRPr b="0" lang="en-US" sz="1800" spc="-1" strike="noStrike">
              <a:solidFill>
                <a:schemeClr val="lt1"/>
              </a:solidFill>
              <a:latin typeface="Calibri"/>
            </a:endParaRPr>
          </a:p>
        </p:txBody>
      </p:sp>
      <p:sp>
        <p:nvSpPr>
          <p:cNvPr id="102" name="Oval 28"/>
          <p:cNvSpPr/>
          <p:nvPr/>
        </p:nvSpPr>
        <p:spPr>
          <a:xfrm>
            <a:off x="1764720" y="7315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endParaRPr b="0" lang="en-US" sz="1800" spc="-1" strike="noStrike">
              <a:solidFill>
                <a:schemeClr val="lt1"/>
              </a:solidFill>
              <a:latin typeface="Calibri"/>
            </a:endParaRPr>
          </a:p>
        </p:txBody>
      </p:sp>
      <p:sp>
        <p:nvSpPr>
          <p:cNvPr id="103" name="Oval 29"/>
          <p:cNvSpPr/>
          <p:nvPr/>
        </p:nvSpPr>
        <p:spPr>
          <a:xfrm>
            <a:off x="11768400" y="8413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endParaRPr b="0" lang="en-US" sz="1800" spc="-1" strike="noStrike">
              <a:solidFill>
                <a:schemeClr val="lt1"/>
              </a:solidFill>
              <a:latin typeface="Calibri"/>
            </a:endParaRPr>
          </a:p>
        </p:txBody>
      </p:sp>
      <p:sp>
        <p:nvSpPr>
          <p:cNvPr id="104" name="Oval 30"/>
          <p:cNvSpPr/>
          <p:nvPr/>
        </p:nvSpPr>
        <p:spPr>
          <a:xfrm>
            <a:off x="9464040" y="4204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endParaRPr b="0" lang="en-US" sz="1800" spc="-1" strike="noStrike">
              <a:solidFill>
                <a:schemeClr val="lt1"/>
              </a:solidFill>
              <a:latin typeface="Calibri"/>
            </a:endParaRPr>
          </a:p>
        </p:txBody>
      </p:sp>
      <p:sp>
        <p:nvSpPr>
          <p:cNvPr id="105" name="Oval 31"/>
          <p:cNvSpPr/>
          <p:nvPr/>
        </p:nvSpPr>
        <p:spPr>
          <a:xfrm>
            <a:off x="1490400" y="53964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endParaRPr b="0" lang="en-US" sz="1800" spc="-1" strike="noStrike">
              <a:solidFill>
                <a:schemeClr val="lt1"/>
              </a:solidFill>
              <a:latin typeface="Calibri"/>
            </a:endParaRPr>
          </a:p>
        </p:txBody>
      </p:sp>
      <p:sp>
        <p:nvSpPr>
          <p:cNvPr id="106" name="TextBox 27"/>
          <p:cNvSpPr/>
          <p:nvPr/>
        </p:nvSpPr>
        <p:spPr>
          <a:xfrm>
            <a:off x="0" y="914400"/>
            <a:ext cx="7772040" cy="109692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5600" spc="-1" strike="noStrike">
                <a:solidFill>
                  <a:srgbClr val="4ae85a"/>
                </a:solidFill>
                <a:latin typeface="Consolas"/>
              </a:rPr>
              <a:t>Clever Girl</a:t>
            </a:r>
            <a:endParaRPr b="0" lang="en-US" sz="5600" spc="-1" strike="noStrike">
              <a:solidFill>
                <a:srgbClr val="ffffff"/>
              </a:solidFill>
              <a:latin typeface="Arial"/>
            </a:endParaRPr>
          </a:p>
        </p:txBody>
      </p:sp>
      <p:sp>
        <p:nvSpPr>
          <p:cNvPr id="107" name="TextBox 30"/>
          <p:cNvSpPr/>
          <p:nvPr/>
        </p:nvSpPr>
        <p:spPr>
          <a:xfrm>
            <a:off x="0" y="2011680"/>
            <a:ext cx="12191400" cy="73116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800" spc="-1" strike="noStrike">
                <a:solidFill>
                  <a:srgbClr val="ffffff"/>
                </a:solidFill>
                <a:latin typeface="Consolas"/>
              </a:rPr>
              <a:t>Teaching AI Agents to Hunt Like a Hacker</a:t>
            </a:r>
            <a:endParaRPr b="0" lang="en-US" sz="2800" spc="-1" strike="noStrike">
              <a:solidFill>
                <a:srgbClr val="ffffff"/>
              </a:solidFill>
              <a:latin typeface="Arial"/>
            </a:endParaRPr>
          </a:p>
        </p:txBody>
      </p:sp>
      <p:sp>
        <p:nvSpPr>
          <p:cNvPr id="108" name="TextBox 35"/>
          <p:cNvSpPr/>
          <p:nvPr/>
        </p:nvSpPr>
        <p:spPr>
          <a:xfrm>
            <a:off x="0" y="3017520"/>
            <a:ext cx="1219140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000" spc="-1" strike="noStrike">
                <a:solidFill>
                  <a:srgbClr val="00ccaa"/>
                </a:solidFill>
                <a:latin typeface="Consolas"/>
              </a:rPr>
              <a:t>GrrCON 2026  •  September 2026</a:t>
            </a:r>
            <a:endParaRPr b="0" lang="en-US" sz="2000" spc="-1" strike="noStrike">
              <a:solidFill>
                <a:srgbClr val="ffffff"/>
              </a:solidFill>
              <a:latin typeface="Arial"/>
            </a:endParaRPr>
          </a:p>
        </p:txBody>
      </p:sp>
      <p:sp>
        <p:nvSpPr>
          <p:cNvPr id="109" name="TextBox 36"/>
          <p:cNvSpPr/>
          <p:nvPr/>
        </p:nvSpPr>
        <p:spPr>
          <a:xfrm>
            <a:off x="0" y="3749040"/>
            <a:ext cx="1219140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708070"/>
                </a:solidFill>
                <a:latin typeface="Consolas"/>
              </a:rPr>
              <a:t>"They tested the fences for weaknesses. Systematically." — Jurassic Park</a:t>
            </a:r>
            <a:endParaRPr b="0" lang="en-US" sz="1400" spc="-1" strike="noStrike">
              <a:solidFill>
                <a:srgbClr val="ffffff"/>
              </a:solidFill>
              <a:latin typeface="Arial"/>
            </a:endParaRPr>
          </a:p>
        </p:txBody>
      </p:sp>
      <p:sp>
        <p:nvSpPr>
          <p:cNvPr id="110" name="Rounded Rectangle 1"/>
          <p:cNvSpPr/>
          <p:nvPr/>
        </p:nvSpPr>
        <p:spPr>
          <a:xfrm>
            <a:off x="4114800" y="4754880"/>
            <a:ext cx="1371240" cy="15192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US" sz="1800" spc="-1" strike="noStrike">
              <a:solidFill>
                <a:schemeClr val="lt1"/>
              </a:solidFill>
              <a:latin typeface="Calibri"/>
            </a:endParaRPr>
          </a:p>
        </p:txBody>
      </p:sp>
      <p:sp>
        <p:nvSpPr>
          <p:cNvPr id="111" name="Rounded Rectangle 2"/>
          <p:cNvSpPr/>
          <p:nvPr/>
        </p:nvSpPr>
        <p:spPr>
          <a:xfrm>
            <a:off x="5486400" y="4754880"/>
            <a:ext cx="1371240" cy="15192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US" sz="1800" spc="-1" strike="noStrike">
              <a:solidFill>
                <a:schemeClr val="lt1"/>
              </a:solidFill>
              <a:latin typeface="Calibri"/>
            </a:endParaRPr>
          </a:p>
        </p:txBody>
      </p:sp>
      <p:sp>
        <p:nvSpPr>
          <p:cNvPr id="112" name="Rounded Rectangle 10"/>
          <p:cNvSpPr/>
          <p:nvPr/>
        </p:nvSpPr>
        <p:spPr>
          <a:xfrm>
            <a:off x="6858000" y="4754880"/>
            <a:ext cx="1371240" cy="15192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endParaRPr b="0" lang="en-US" sz="1800" spc="-1" strike="noStrike">
              <a:solidFill>
                <a:schemeClr val="lt1"/>
              </a:solidFill>
              <a:latin typeface="Calibri"/>
            </a:endParaRPr>
          </a:p>
        </p:txBody>
      </p:sp>
      <p:sp>
        <p:nvSpPr>
          <p:cNvPr id="113" name="TextBox 37"/>
          <p:cNvSpPr/>
          <p:nvPr/>
        </p:nvSpPr>
        <p:spPr>
          <a:xfrm>
            <a:off x="0" y="5486400"/>
            <a:ext cx="1219140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c8d8c0"/>
                </a:solidFill>
                <a:latin typeface="Consolas"/>
              </a:rPr>
              <a:t>atlas0fd00m  •  Hacker  •  RE Engineer  •  AI Agent Wrangler</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114" name="Oval 1"/>
          <p:cNvSpPr/>
          <p:nvPr/>
        </p:nvSpPr>
        <p:spPr>
          <a:xfrm>
            <a:off x="109800" y="256932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115" name="Oval 2"/>
          <p:cNvSpPr/>
          <p:nvPr/>
        </p:nvSpPr>
        <p:spPr>
          <a:xfrm>
            <a:off x="9793080" y="9511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16" name="Oval 3"/>
          <p:cNvSpPr/>
          <p:nvPr/>
        </p:nvSpPr>
        <p:spPr>
          <a:xfrm>
            <a:off x="1974960" y="2926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117" name="Oval 4"/>
          <p:cNvSpPr/>
          <p:nvPr/>
        </p:nvSpPr>
        <p:spPr>
          <a:xfrm>
            <a:off x="1014840" y="217620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18" name="Oval 5"/>
          <p:cNvSpPr/>
          <p:nvPr/>
        </p:nvSpPr>
        <p:spPr>
          <a:xfrm>
            <a:off x="2624400" y="18561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19" name="Oval 6"/>
          <p:cNvSpPr/>
          <p:nvPr/>
        </p:nvSpPr>
        <p:spPr>
          <a:xfrm>
            <a:off x="4123800" y="6071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20" name="Oval 7"/>
          <p:cNvSpPr/>
          <p:nvPr/>
        </p:nvSpPr>
        <p:spPr>
          <a:xfrm>
            <a:off x="118800" y="36576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121" name="Oval 8"/>
          <p:cNvSpPr/>
          <p:nvPr/>
        </p:nvSpPr>
        <p:spPr>
          <a:xfrm>
            <a:off x="5203080" y="35676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122" name="Oval 9"/>
          <p:cNvSpPr/>
          <p:nvPr/>
        </p:nvSpPr>
        <p:spPr>
          <a:xfrm>
            <a:off x="1911240" y="21024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123" name="Oval 10"/>
          <p:cNvSpPr/>
          <p:nvPr/>
        </p:nvSpPr>
        <p:spPr>
          <a:xfrm>
            <a:off x="1673280" y="3218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24" name="Oval 11"/>
          <p:cNvSpPr/>
          <p:nvPr/>
        </p:nvSpPr>
        <p:spPr>
          <a:xfrm>
            <a:off x="804600" y="10699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25" name="Oval 12"/>
          <p:cNvSpPr/>
          <p:nvPr/>
        </p:nvSpPr>
        <p:spPr>
          <a:xfrm>
            <a:off x="1764720" y="7315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26" name="Oval 13"/>
          <p:cNvSpPr/>
          <p:nvPr/>
        </p:nvSpPr>
        <p:spPr>
          <a:xfrm>
            <a:off x="11768400" y="8413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27" name="Oval 14"/>
          <p:cNvSpPr/>
          <p:nvPr/>
        </p:nvSpPr>
        <p:spPr>
          <a:xfrm>
            <a:off x="9464040" y="4204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128" name="Oval 15"/>
          <p:cNvSpPr/>
          <p:nvPr/>
        </p:nvSpPr>
        <p:spPr>
          <a:xfrm>
            <a:off x="1490400" y="53964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pic>
        <p:nvPicPr>
          <p:cNvPr id="129" name="" descr="">
            <a:hlinkClick r:id="" action="ppaction://media"/>
          </p:cNvPr>
          <p:cNvPicPr/>
          <p:nvPr>
            <a:videoFile r:link="rId1"/>
            <p:extLst>
              <p:ext uri="{DAA4B4D4-6D71-4841-9C94-3DE7FCFB9230}">
                <p14:media r:embed="rId2"/>
              </p:ext>
            </p:extLst>
          </p:nvPr>
        </p:nvPicPr>
        <p:blipFill>
          <a:blip r:embed="rId3"/>
          <a:stretch>
            <a:fillRect/>
          </a:stretch>
        </p:blipFill>
        <p:spPr>
          <a:xfrm>
            <a:off x="2286000" y="914400"/>
            <a:ext cx="7589160" cy="4205880"/>
          </a:xfrm>
          <a:prstGeom prst="rect">
            <a:avLst/>
          </a:prstGeom>
          <a:ln w="0">
            <a:noFill/>
          </a:ln>
        </p:spPr>
      </p:pic>
      <p:sp>
        <p:nvSpPr>
          <p:cNvPr id="130" name="TextBox 17"/>
          <p:cNvSpPr/>
          <p:nvPr/>
        </p:nvSpPr>
        <p:spPr>
          <a:xfrm>
            <a:off x="1828800" y="5303520"/>
            <a:ext cx="8503560" cy="73116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600" spc="-1" strike="noStrike">
                <a:solidFill>
                  <a:srgbClr val="c8d8c0"/>
                </a:solidFill>
                <a:latin typeface="Consolas"/>
              </a:rPr>
              <a:t>— </a:t>
            </a:r>
            <a:r>
              <a:rPr b="0" lang="en-US" sz="1600" spc="-1" strike="noStrike">
                <a:solidFill>
                  <a:srgbClr val="c8d8c0"/>
                </a:solidFill>
                <a:latin typeface="Consolas"/>
              </a:rPr>
              <a:t>Muldoon's last words, right before the raptor</a:t>
            </a:r>
            <a:br>
              <a:rPr sz="1600"/>
            </a:br>
            <a:r>
              <a:rPr b="0" lang="en-US" sz="1600" spc="-1" strike="noStrike">
                <a:solidFill>
                  <a:srgbClr val="c8d8c0"/>
                </a:solidFill>
                <a:latin typeface="Consolas"/>
              </a:rPr>
              <a:t>that had been learning his patterns outflanked him.</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video>
              <p:cMediaNode>
                <p:cTn>
                  <p:stCondLst>
                    <p:cond delay="indefinite"/>
                  </p:stCondLst>
                </p:cTn>
                <p:tgtEl>
                  <p:spTgt spid="129"/>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131"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Where We Are: The AI Security Landscape</a:t>
            </a:r>
            <a:endParaRPr b="0" lang="en-US" sz="3200" spc="-1" strike="noStrike">
              <a:solidFill>
                <a:srgbClr val="ffffff"/>
              </a:solidFill>
              <a:latin typeface="Arial"/>
            </a:endParaRPr>
          </a:p>
        </p:txBody>
      </p:sp>
      <p:sp>
        <p:nvSpPr>
          <p:cNvPr id="132" name="Rectangle 2"/>
          <p:cNvSpPr/>
          <p:nvPr/>
        </p:nvSpPr>
        <p:spPr>
          <a:xfrm>
            <a:off x="548640" y="1051560"/>
            <a:ext cx="2742840" cy="101160"/>
          </a:xfrm>
          <a:prstGeom prst="rect">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3" name="Rounded Rectangle 3"/>
          <p:cNvSpPr/>
          <p:nvPr/>
        </p:nvSpPr>
        <p:spPr>
          <a:xfrm>
            <a:off x="548640" y="1371600"/>
            <a:ext cx="1371240" cy="54828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4" name="TextBox 4"/>
          <p:cNvSpPr/>
          <p:nvPr/>
        </p:nvSpPr>
        <p:spPr>
          <a:xfrm>
            <a:off x="548640" y="1371600"/>
            <a:ext cx="137124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100" spc="-1" strike="noStrike">
                <a:solidFill>
                  <a:srgbClr val="ffffff"/>
                </a:solidFill>
                <a:latin typeface="Consolas"/>
              </a:rPr>
              <a:t>Mar 2026</a:t>
            </a:r>
            <a:endParaRPr b="0" lang="en-US" sz="1100" spc="-1" strike="noStrike">
              <a:solidFill>
                <a:srgbClr val="ffffff"/>
              </a:solidFill>
              <a:latin typeface="Arial"/>
            </a:endParaRPr>
          </a:p>
        </p:txBody>
      </p:sp>
      <p:sp>
        <p:nvSpPr>
          <p:cNvPr id="135" name="TextBox 5"/>
          <p:cNvSpPr/>
          <p:nvPr/>
        </p:nvSpPr>
        <p:spPr>
          <a:xfrm>
            <a:off x="2103120" y="1463040"/>
            <a:ext cx="9600840" cy="456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400" spc="-1" strike="noStrike">
                <a:solidFill>
                  <a:srgbClr val="ffffff"/>
                </a:solidFill>
                <a:latin typeface="Consolas"/>
              </a:rPr>
              <a:t>Claude Mythos leaks — Anthropic's cybersecurity supermodel</a:t>
            </a:r>
            <a:endParaRPr b="0" lang="en-US" sz="1400" spc="-1" strike="noStrike">
              <a:solidFill>
                <a:srgbClr val="ffffff"/>
              </a:solidFill>
              <a:latin typeface="Arial"/>
            </a:endParaRPr>
          </a:p>
        </p:txBody>
      </p:sp>
      <p:sp>
        <p:nvSpPr>
          <p:cNvPr id="136" name="Rounded Rectangle 6"/>
          <p:cNvSpPr/>
          <p:nvPr/>
        </p:nvSpPr>
        <p:spPr>
          <a:xfrm>
            <a:off x="548640" y="2030040"/>
            <a:ext cx="1371240" cy="54828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7" name="TextBox 7"/>
          <p:cNvSpPr/>
          <p:nvPr/>
        </p:nvSpPr>
        <p:spPr>
          <a:xfrm>
            <a:off x="548640" y="2030040"/>
            <a:ext cx="137124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100" spc="-1" strike="noStrike">
                <a:solidFill>
                  <a:srgbClr val="ffffff"/>
                </a:solidFill>
                <a:latin typeface="Consolas"/>
              </a:rPr>
              <a:t>Apr 2026</a:t>
            </a:r>
            <a:endParaRPr b="0" lang="en-US" sz="1100" spc="-1" strike="noStrike">
              <a:solidFill>
                <a:srgbClr val="ffffff"/>
              </a:solidFill>
              <a:latin typeface="Arial"/>
            </a:endParaRPr>
          </a:p>
        </p:txBody>
      </p:sp>
      <p:sp>
        <p:nvSpPr>
          <p:cNvPr id="138" name="TextBox 8"/>
          <p:cNvSpPr/>
          <p:nvPr/>
        </p:nvSpPr>
        <p:spPr>
          <a:xfrm>
            <a:off x="2103120" y="2121480"/>
            <a:ext cx="9600840" cy="456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400" spc="-1" strike="noStrike">
                <a:solidFill>
                  <a:srgbClr val="ffffff"/>
                </a:solidFill>
                <a:latin typeface="Consolas"/>
              </a:rPr>
              <a:t>Project Glasswing — 40+ companies get access to find vulns</a:t>
            </a:r>
            <a:endParaRPr b="0" lang="en-US" sz="1400" spc="-1" strike="noStrike">
              <a:solidFill>
                <a:srgbClr val="ffffff"/>
              </a:solidFill>
              <a:latin typeface="Arial"/>
            </a:endParaRPr>
          </a:p>
        </p:txBody>
      </p:sp>
      <p:sp>
        <p:nvSpPr>
          <p:cNvPr id="139" name="Rounded Rectangle 9"/>
          <p:cNvSpPr/>
          <p:nvPr/>
        </p:nvSpPr>
        <p:spPr>
          <a:xfrm>
            <a:off x="548640" y="2688480"/>
            <a:ext cx="1371240" cy="54828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0" name="TextBox 10"/>
          <p:cNvSpPr/>
          <p:nvPr/>
        </p:nvSpPr>
        <p:spPr>
          <a:xfrm>
            <a:off x="548640" y="2688480"/>
            <a:ext cx="137124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100" spc="-1" strike="noStrike">
                <a:solidFill>
                  <a:srgbClr val="ffffff"/>
                </a:solidFill>
                <a:latin typeface="Consolas"/>
              </a:rPr>
              <a:t>Apr 2026</a:t>
            </a:r>
            <a:endParaRPr b="0" lang="en-US" sz="1100" spc="-1" strike="noStrike">
              <a:solidFill>
                <a:srgbClr val="ffffff"/>
              </a:solidFill>
              <a:latin typeface="Arial"/>
            </a:endParaRPr>
          </a:p>
        </p:txBody>
      </p:sp>
      <p:sp>
        <p:nvSpPr>
          <p:cNvPr id="141" name="TextBox 11"/>
          <p:cNvSpPr/>
          <p:nvPr/>
        </p:nvSpPr>
        <p:spPr>
          <a:xfrm>
            <a:off x="2103120" y="2779920"/>
            <a:ext cx="9600840" cy="456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400" spc="-1" strike="noStrike">
                <a:solidFill>
                  <a:srgbClr val="ffffff"/>
                </a:solidFill>
                <a:latin typeface="Consolas"/>
              </a:rPr>
              <a:t>US government imposes export controls on Mythos</a:t>
            </a:r>
            <a:endParaRPr b="0" lang="en-US" sz="1400" spc="-1" strike="noStrike">
              <a:solidFill>
                <a:srgbClr val="ffffff"/>
              </a:solidFill>
              <a:latin typeface="Arial"/>
            </a:endParaRPr>
          </a:p>
        </p:txBody>
      </p:sp>
      <p:sp>
        <p:nvSpPr>
          <p:cNvPr id="142" name="Rounded Rectangle 12"/>
          <p:cNvSpPr/>
          <p:nvPr/>
        </p:nvSpPr>
        <p:spPr>
          <a:xfrm>
            <a:off x="548640" y="3346560"/>
            <a:ext cx="1371240" cy="54828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3" name="TextBox 13"/>
          <p:cNvSpPr/>
          <p:nvPr/>
        </p:nvSpPr>
        <p:spPr>
          <a:xfrm>
            <a:off x="548640" y="3346560"/>
            <a:ext cx="137124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100" spc="-1" strike="noStrike">
                <a:solidFill>
                  <a:srgbClr val="ffffff"/>
                </a:solidFill>
                <a:latin typeface="Consolas"/>
              </a:rPr>
              <a:t>Jun 2026</a:t>
            </a:r>
            <a:endParaRPr b="0" lang="en-US" sz="1100" spc="-1" strike="noStrike">
              <a:solidFill>
                <a:srgbClr val="ffffff"/>
              </a:solidFill>
              <a:latin typeface="Arial"/>
            </a:endParaRPr>
          </a:p>
        </p:txBody>
      </p:sp>
      <p:sp>
        <p:nvSpPr>
          <p:cNvPr id="144" name="TextBox 14"/>
          <p:cNvSpPr/>
          <p:nvPr/>
        </p:nvSpPr>
        <p:spPr>
          <a:xfrm>
            <a:off x="2103120" y="3438000"/>
            <a:ext cx="9600840" cy="456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400" spc="-1" strike="noStrike">
                <a:solidFill>
                  <a:srgbClr val="ffffff"/>
                </a:solidFill>
                <a:latin typeface="Consolas"/>
              </a:rPr>
              <a:t>Fable 5 released (Mythos with a muzzle) → export controls → lifted</a:t>
            </a:r>
            <a:endParaRPr b="0" lang="en-US" sz="1400" spc="-1" strike="noStrike">
              <a:solidFill>
                <a:srgbClr val="ffffff"/>
              </a:solidFill>
              <a:latin typeface="Arial"/>
            </a:endParaRPr>
          </a:p>
        </p:txBody>
      </p:sp>
      <p:sp>
        <p:nvSpPr>
          <p:cNvPr id="145" name="Rounded Rectangle 15"/>
          <p:cNvSpPr/>
          <p:nvPr/>
        </p:nvSpPr>
        <p:spPr>
          <a:xfrm>
            <a:off x="548640" y="4005000"/>
            <a:ext cx="1371240" cy="54828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6" name="TextBox 16"/>
          <p:cNvSpPr/>
          <p:nvPr/>
        </p:nvSpPr>
        <p:spPr>
          <a:xfrm>
            <a:off x="548640" y="4005000"/>
            <a:ext cx="137124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100" spc="-1" strike="noStrike">
                <a:solidFill>
                  <a:srgbClr val="ffffff"/>
                </a:solidFill>
                <a:latin typeface="Consolas"/>
              </a:rPr>
              <a:t>Jun 2026</a:t>
            </a:r>
            <a:endParaRPr b="0" lang="en-US" sz="1100" spc="-1" strike="noStrike">
              <a:solidFill>
                <a:srgbClr val="ffffff"/>
              </a:solidFill>
              <a:latin typeface="Arial"/>
            </a:endParaRPr>
          </a:p>
        </p:txBody>
      </p:sp>
      <p:sp>
        <p:nvSpPr>
          <p:cNvPr id="147" name="TextBox 17"/>
          <p:cNvSpPr/>
          <p:nvPr/>
        </p:nvSpPr>
        <p:spPr>
          <a:xfrm>
            <a:off x="2103120" y="4096440"/>
            <a:ext cx="9600840" cy="456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400" spc="-1" strike="noStrike">
                <a:solidFill>
                  <a:srgbClr val="ffffff"/>
                </a:solidFill>
                <a:latin typeface="Consolas"/>
              </a:rPr>
              <a:t>Sakana Fugu launches from Japan — multi-agent orchestration</a:t>
            </a:r>
            <a:endParaRPr b="0" lang="en-US" sz="1400" spc="-1" strike="noStrike">
              <a:solidFill>
                <a:srgbClr val="ffffff"/>
              </a:solidFill>
              <a:latin typeface="Arial"/>
            </a:endParaRPr>
          </a:p>
        </p:txBody>
      </p:sp>
      <p:sp>
        <p:nvSpPr>
          <p:cNvPr id="148" name="Rounded Rectangle 18"/>
          <p:cNvSpPr/>
          <p:nvPr/>
        </p:nvSpPr>
        <p:spPr>
          <a:xfrm>
            <a:off x="548640" y="4663440"/>
            <a:ext cx="1371240" cy="54828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9" name="TextBox 19"/>
          <p:cNvSpPr/>
          <p:nvPr/>
        </p:nvSpPr>
        <p:spPr>
          <a:xfrm>
            <a:off x="548640" y="4663440"/>
            <a:ext cx="137124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100" spc="-1" strike="noStrike">
                <a:solidFill>
                  <a:srgbClr val="ffffff"/>
                </a:solidFill>
                <a:latin typeface="Consolas"/>
              </a:rPr>
              <a:t>Jul 2026</a:t>
            </a:r>
            <a:endParaRPr b="0" lang="en-US" sz="1100" spc="-1" strike="noStrike">
              <a:solidFill>
                <a:srgbClr val="ffffff"/>
              </a:solidFill>
              <a:latin typeface="Arial"/>
            </a:endParaRPr>
          </a:p>
        </p:txBody>
      </p:sp>
      <p:sp>
        <p:nvSpPr>
          <p:cNvPr id="150" name="TextBox 20"/>
          <p:cNvSpPr/>
          <p:nvPr/>
        </p:nvSpPr>
        <p:spPr>
          <a:xfrm>
            <a:off x="2103120" y="4754880"/>
            <a:ext cx="9600840" cy="456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400" spc="-1" strike="noStrike">
                <a:solidFill>
                  <a:srgbClr val="ffffff"/>
                </a:solidFill>
                <a:latin typeface="Consolas"/>
              </a:rPr>
              <a:t>Fable 5 made standard on Anthropic's higher-tier plans</a:t>
            </a:r>
            <a:endParaRPr b="0" lang="en-US" sz="1400" spc="-1" strike="noStrike">
              <a:solidFill>
                <a:srgbClr val="ffffff"/>
              </a:solidFill>
              <a:latin typeface="Arial"/>
            </a:endParaRPr>
          </a:p>
        </p:txBody>
      </p:sp>
      <p:sp>
        <p:nvSpPr>
          <p:cNvPr id="151" name="Rounded Rectangle 21"/>
          <p:cNvSpPr/>
          <p:nvPr/>
        </p:nvSpPr>
        <p:spPr>
          <a:xfrm>
            <a:off x="548640" y="5321880"/>
            <a:ext cx="1371240" cy="548280"/>
          </a:xfrm>
          <a:prstGeom prst="roundRect">
            <a:avLst>
              <a:gd name="adj" fmla="val 8000"/>
            </a:avLst>
          </a:prstGeom>
          <a:solidFill>
            <a:srgbClr val="00cc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2" name="TextBox 22"/>
          <p:cNvSpPr/>
          <p:nvPr/>
        </p:nvSpPr>
        <p:spPr>
          <a:xfrm>
            <a:off x="548640" y="5321880"/>
            <a:ext cx="137124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100" spc="-1" strike="noStrike">
                <a:solidFill>
                  <a:srgbClr val="ffffff"/>
                </a:solidFill>
                <a:latin typeface="Consolas"/>
              </a:rPr>
              <a:t>Aug 2026</a:t>
            </a:r>
            <a:endParaRPr b="0" lang="en-US" sz="1100" spc="-1" strike="noStrike">
              <a:solidFill>
                <a:srgbClr val="ffffff"/>
              </a:solidFill>
              <a:latin typeface="Arial"/>
            </a:endParaRPr>
          </a:p>
        </p:txBody>
      </p:sp>
      <p:sp>
        <p:nvSpPr>
          <p:cNvPr id="153" name="TextBox 23"/>
          <p:cNvSpPr/>
          <p:nvPr/>
        </p:nvSpPr>
        <p:spPr>
          <a:xfrm>
            <a:off x="2103120" y="5413320"/>
            <a:ext cx="9600840" cy="456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400" spc="-1" strike="noStrike">
                <a:solidFill>
                  <a:srgbClr val="ffffff"/>
                </a:solidFill>
                <a:latin typeface="Consolas"/>
              </a:rPr>
              <a:t>DeepSeek V4-Flash (284B MoE, 1M ctx) + Qwen3.8-27B released</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pic>
        <p:nvPicPr>
          <p:cNvPr id="154" name="Picture 1" descr="hunter_flashlight_faded.png"/>
          <p:cNvPicPr/>
          <p:nvPr/>
        </p:nvPicPr>
        <p:blipFill>
          <a:blip r:embed="rId1"/>
          <a:stretch/>
        </p:blipFill>
        <p:spPr>
          <a:xfrm>
            <a:off x="0" y="0"/>
            <a:ext cx="12191400" cy="6857640"/>
          </a:xfrm>
          <a:prstGeom prst="rect">
            <a:avLst/>
          </a:prstGeom>
          <a:ln w="0">
            <a:noFill/>
          </a:ln>
        </p:spPr>
      </p:pic>
      <p:sp>
        <p:nvSpPr>
          <p:cNvPr id="155" name="TextBox 2"/>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Who This Talk Is For</a:t>
            </a:r>
            <a:endParaRPr b="0" lang="en-US" sz="3200" spc="-1" strike="noStrike">
              <a:solidFill>
                <a:srgbClr val="ffffff"/>
              </a:solidFill>
              <a:latin typeface="Arial"/>
            </a:endParaRPr>
          </a:p>
        </p:txBody>
      </p:sp>
      <p:sp>
        <p:nvSpPr>
          <p:cNvPr id="156" name="Rectangle 3"/>
          <p:cNvSpPr/>
          <p:nvPr/>
        </p:nvSpPr>
        <p:spPr>
          <a:xfrm>
            <a:off x="548640" y="1051560"/>
            <a:ext cx="2742840" cy="101160"/>
          </a:xfrm>
          <a:prstGeom prst="rect">
            <a:avLst/>
          </a:prstGeom>
          <a:solidFill>
            <a:srgbClr val="00cc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7" name="Rounded Rectangle 4"/>
          <p:cNvSpPr/>
          <p:nvPr/>
        </p:nvSpPr>
        <p:spPr>
          <a:xfrm>
            <a:off x="548640" y="1371600"/>
            <a:ext cx="5303160" cy="54828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8" name="TextBox 5"/>
          <p:cNvSpPr/>
          <p:nvPr/>
        </p:nvSpPr>
        <p:spPr>
          <a:xfrm>
            <a:off x="548640" y="1371600"/>
            <a:ext cx="530316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600" spc="-1" strike="noStrike">
                <a:solidFill>
                  <a:srgbClr val="ffffff"/>
                </a:solidFill>
                <a:latin typeface="Consolas"/>
              </a:rPr>
              <a:t>RED TEAM / OFFENSIVE</a:t>
            </a:r>
            <a:endParaRPr b="0" lang="en-US" sz="1600" spc="-1" strike="noStrike">
              <a:solidFill>
                <a:srgbClr val="ffffff"/>
              </a:solidFill>
              <a:latin typeface="Arial"/>
            </a:endParaRPr>
          </a:p>
        </p:txBody>
      </p:sp>
      <p:sp>
        <p:nvSpPr>
          <p:cNvPr id="159" name="TextBox 6"/>
          <p:cNvSpPr/>
          <p:nvPr/>
        </p:nvSpPr>
        <p:spPr>
          <a:xfrm>
            <a:off x="731520" y="2103120"/>
            <a:ext cx="4937400" cy="3657240"/>
          </a:xfrm>
          <a:prstGeom prst="rect">
            <a:avLst/>
          </a:prstGeom>
          <a:noFill/>
          <a:ln w="0">
            <a:noFill/>
          </a:ln>
        </p:spPr>
        <p:style>
          <a:lnRef idx="0"/>
          <a:fillRef idx="0"/>
          <a:effectRef idx="0"/>
          <a:fontRef idx="minor"/>
        </p:style>
        <p:txBody>
          <a:bodyPr lIns="90000" rIns="90000" tIns="45000" bIns="45000" anchor="t">
            <a:normAutofit/>
          </a:bodyPr>
          <a:p>
            <a:pPr defTabSz="457200">
              <a:lnSpc>
                <a:spcPct val="130000"/>
              </a:lnSpc>
              <a:spcAft>
                <a:spcPts val="400"/>
              </a:spcAft>
            </a:pPr>
            <a:r>
              <a:rPr b="0" lang="en-US" sz="1500" spc="-1" strike="noStrike">
                <a:solidFill>
                  <a:srgbClr val="ffffff"/>
                </a:solidFill>
                <a:latin typeface="Consolas"/>
              </a:rPr>
              <a:t>• </a:t>
            </a:r>
            <a:r>
              <a:rPr b="0" lang="en-US" sz="1500" spc="-1" strike="noStrike">
                <a:solidFill>
                  <a:srgbClr val="ffffff"/>
                </a:solidFill>
                <a:latin typeface="Consolas"/>
              </a:rPr>
              <a:t>RE, exploit dev, pentesting</a:t>
            </a:r>
            <a:endParaRPr b="0" lang="en-US" sz="1500" spc="-1" strike="noStrike">
              <a:solidFill>
                <a:srgbClr val="ffffff"/>
              </a:solidFill>
              <a:latin typeface="Arial"/>
            </a:endParaRPr>
          </a:p>
          <a:p>
            <a:pPr defTabSz="457200">
              <a:lnSpc>
                <a:spcPct val="130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Can agents find bugs faster?</a:t>
            </a:r>
            <a:endParaRPr b="0" lang="en-US" sz="1500" spc="-1" strike="noStrike">
              <a:solidFill>
                <a:srgbClr val="ffffff"/>
              </a:solidFill>
              <a:latin typeface="Arial"/>
            </a:endParaRPr>
          </a:p>
          <a:p>
            <a:pPr defTabSz="457200">
              <a:lnSpc>
                <a:spcPct val="130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Can agents write exploits?</a:t>
            </a:r>
            <a:endParaRPr b="0" lang="en-US" sz="1500" spc="-1" strike="noStrike">
              <a:solidFill>
                <a:srgbClr val="ffffff"/>
              </a:solidFill>
              <a:latin typeface="Arial"/>
            </a:endParaRPr>
          </a:p>
          <a:p>
            <a:pPr defTabSz="457200">
              <a:lnSpc>
                <a:spcPct val="130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Can agents do RE autonomously?</a:t>
            </a:r>
            <a:endParaRPr b="0" lang="en-US" sz="1500" spc="-1" strike="noStrike">
              <a:solidFill>
                <a:srgbClr val="ffffff"/>
              </a:solidFill>
              <a:latin typeface="Arial"/>
            </a:endParaRPr>
          </a:p>
          <a:p>
            <a:pPr defTabSz="457200">
              <a:lnSpc>
                <a:spcPct val="130000"/>
              </a:lnSpc>
              <a:spcAft>
                <a:spcPts val="400"/>
              </a:spcAft>
            </a:pPr>
            <a:endParaRPr b="0" lang="en-US" sz="800" spc="-1" strike="noStrike">
              <a:solidFill>
                <a:srgbClr val="ffffff"/>
              </a:solidFill>
              <a:latin typeface="Arial"/>
            </a:endParaRPr>
          </a:p>
          <a:p>
            <a:pPr defTabSz="457200">
              <a:lnSpc>
                <a:spcPct val="130000"/>
              </a:lnSpc>
              <a:spcAft>
                <a:spcPts val="400"/>
              </a:spcAft>
            </a:pPr>
            <a:r>
              <a:rPr b="1" lang="en-US" sz="1500" spc="-1" strike="noStrike">
                <a:solidFill>
                  <a:srgbClr val="4ae85a"/>
                </a:solidFill>
                <a:latin typeface="Consolas"/>
              </a:rPr>
              <a:t>"I want agents that hunt."</a:t>
            </a:r>
            <a:endParaRPr b="0" lang="en-US" sz="1500" spc="-1" strike="noStrike">
              <a:solidFill>
                <a:srgbClr val="ffffff"/>
              </a:solidFill>
              <a:latin typeface="Arial"/>
            </a:endParaRPr>
          </a:p>
        </p:txBody>
      </p:sp>
      <p:sp>
        <p:nvSpPr>
          <p:cNvPr id="160" name="Rounded Rectangle 7"/>
          <p:cNvSpPr/>
          <p:nvPr/>
        </p:nvSpPr>
        <p:spPr>
          <a:xfrm>
            <a:off x="6309360" y="1371600"/>
            <a:ext cx="5303160" cy="54828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1" name="TextBox 8"/>
          <p:cNvSpPr/>
          <p:nvPr/>
        </p:nvSpPr>
        <p:spPr>
          <a:xfrm>
            <a:off x="6309360" y="1371600"/>
            <a:ext cx="530316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600" spc="-1" strike="noStrike">
                <a:solidFill>
                  <a:srgbClr val="ffffff"/>
                </a:solidFill>
                <a:latin typeface="Consolas"/>
              </a:rPr>
              <a:t>BLUE TEAM / DEFENSIVE</a:t>
            </a:r>
            <a:endParaRPr b="0" lang="en-US" sz="1600" spc="-1" strike="noStrike">
              <a:solidFill>
                <a:srgbClr val="ffffff"/>
              </a:solidFill>
              <a:latin typeface="Arial"/>
            </a:endParaRPr>
          </a:p>
        </p:txBody>
      </p:sp>
      <p:sp>
        <p:nvSpPr>
          <p:cNvPr id="162" name="TextBox 9"/>
          <p:cNvSpPr/>
          <p:nvPr/>
        </p:nvSpPr>
        <p:spPr>
          <a:xfrm>
            <a:off x="6492240" y="2103120"/>
            <a:ext cx="4937400" cy="3657240"/>
          </a:xfrm>
          <a:prstGeom prst="rect">
            <a:avLst/>
          </a:prstGeom>
          <a:noFill/>
          <a:ln w="0">
            <a:noFill/>
          </a:ln>
        </p:spPr>
        <p:style>
          <a:lnRef idx="0"/>
          <a:fillRef idx="0"/>
          <a:effectRef idx="0"/>
          <a:fontRef idx="minor"/>
        </p:style>
        <p:txBody>
          <a:bodyPr lIns="90000" rIns="90000" tIns="45000" bIns="45000" anchor="t">
            <a:normAutofit/>
          </a:bodyPr>
          <a:p>
            <a:pPr defTabSz="457200">
              <a:lnSpc>
                <a:spcPct val="130000"/>
              </a:lnSpc>
              <a:spcAft>
                <a:spcPts val="400"/>
              </a:spcAft>
            </a:pPr>
            <a:r>
              <a:rPr b="0" lang="en-US" sz="1500" spc="-1" strike="noStrike">
                <a:solidFill>
                  <a:srgbClr val="ffffff"/>
                </a:solidFill>
                <a:latin typeface="Consolas"/>
              </a:rPr>
              <a:t>• </a:t>
            </a:r>
            <a:r>
              <a:rPr b="0" lang="en-US" sz="1500" spc="-1" strike="noStrike">
                <a:solidFill>
                  <a:srgbClr val="ffffff"/>
                </a:solidFill>
                <a:latin typeface="Consolas"/>
              </a:rPr>
              <a:t>SOC, IR, malware analysis</a:t>
            </a:r>
            <a:endParaRPr b="0" lang="en-US" sz="1500" spc="-1" strike="noStrike">
              <a:solidFill>
                <a:srgbClr val="ffffff"/>
              </a:solidFill>
              <a:latin typeface="Arial"/>
            </a:endParaRPr>
          </a:p>
          <a:p>
            <a:pPr defTabSz="457200">
              <a:lnSpc>
                <a:spcPct val="130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Can agents triage alerts at 2 AM?</a:t>
            </a:r>
            <a:endParaRPr b="0" lang="en-US" sz="1500" spc="-1" strike="noStrike">
              <a:solidFill>
                <a:srgbClr val="ffffff"/>
              </a:solidFill>
              <a:latin typeface="Arial"/>
            </a:endParaRPr>
          </a:p>
          <a:p>
            <a:pPr defTabSz="457200">
              <a:lnSpc>
                <a:spcPct val="130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Can agents analyze malware?</a:t>
            </a:r>
            <a:endParaRPr b="0" lang="en-US" sz="1500" spc="-1" strike="noStrike">
              <a:solidFill>
                <a:srgbClr val="ffffff"/>
              </a:solidFill>
              <a:latin typeface="Arial"/>
            </a:endParaRPr>
          </a:p>
          <a:p>
            <a:pPr defTabSz="457200">
              <a:lnSpc>
                <a:spcPct val="130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Can agents correlate threat intel?</a:t>
            </a:r>
            <a:endParaRPr b="0" lang="en-US" sz="1500" spc="-1" strike="noStrike">
              <a:solidFill>
                <a:srgbClr val="ffffff"/>
              </a:solidFill>
              <a:latin typeface="Arial"/>
            </a:endParaRPr>
          </a:p>
          <a:p>
            <a:pPr defTabSz="457200">
              <a:lnSpc>
                <a:spcPct val="130000"/>
              </a:lnSpc>
              <a:spcAft>
                <a:spcPts val="400"/>
              </a:spcAft>
            </a:pPr>
            <a:endParaRPr b="0" lang="en-US" sz="800" spc="-1" strike="noStrike">
              <a:solidFill>
                <a:srgbClr val="ffffff"/>
              </a:solidFill>
              <a:latin typeface="Arial"/>
            </a:endParaRPr>
          </a:p>
          <a:p>
            <a:pPr defTabSz="457200">
              <a:lnSpc>
                <a:spcPct val="130000"/>
              </a:lnSpc>
              <a:spcAft>
                <a:spcPts val="400"/>
              </a:spcAft>
            </a:pPr>
            <a:r>
              <a:rPr b="1" lang="en-US" sz="1500" spc="-1" strike="noStrike">
                <a:solidFill>
                  <a:srgbClr val="f5a623"/>
                </a:solidFill>
                <a:latin typeface="Consolas"/>
              </a:rPr>
              <a:t>"I want agents that defend."</a:t>
            </a:r>
            <a:endParaRPr b="0" lang="en-US" sz="1500" spc="-1" strike="noStrike">
              <a:solidFill>
                <a:srgbClr val="ffffff"/>
              </a:solidFill>
              <a:latin typeface="Arial"/>
            </a:endParaRPr>
          </a:p>
        </p:txBody>
      </p:sp>
      <p:sp>
        <p:nvSpPr>
          <p:cNvPr id="163" name="TextBox 10"/>
          <p:cNvSpPr/>
          <p:nvPr/>
        </p:nvSpPr>
        <p:spPr>
          <a:xfrm>
            <a:off x="548640" y="6035040"/>
            <a:ext cx="1097244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800" spc="-1" strike="noStrike">
                <a:solidFill>
                  <a:srgbClr val="4ae85a"/>
                </a:solidFill>
                <a:latin typeface="Consolas"/>
              </a:rPr>
              <a:t>The answer to all of these is yes. Same architecture. Same tools.</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012"/>
        </a:solidFill>
      </p:bgPr>
    </p:bg>
    <p:spTree>
      <p:nvGrpSpPr>
        <p:cNvPr id="1" name=""/>
        <p:cNvGrpSpPr/>
        <p:nvPr/>
      </p:nvGrpSpPr>
      <p:grpSpPr>
        <a:xfrm>
          <a:off x="0" y="0"/>
          <a:ext cx="0" cy="0"/>
          <a:chOff x="0" y="0"/>
          <a:chExt cx="0" cy="0"/>
        </a:xfrm>
      </p:grpSpPr>
      <p:sp>
        <p:nvSpPr>
          <p:cNvPr id="164" name="TextBox 1"/>
          <p:cNvSpPr/>
          <p:nvPr/>
        </p:nvSpPr>
        <p:spPr>
          <a:xfrm>
            <a:off x="731520" y="1645920"/>
            <a:ext cx="3657240" cy="2742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12000" spc="-1" strike="noStrike">
                <a:solidFill>
                  <a:srgbClr val="1a2e1e"/>
                </a:solidFill>
                <a:latin typeface="Impact"/>
              </a:rPr>
              <a:t>02</a:t>
            </a:r>
            <a:endParaRPr b="0" lang="en-US" sz="12000" spc="-1" strike="noStrike">
              <a:solidFill>
                <a:srgbClr val="ffffff"/>
              </a:solidFill>
              <a:latin typeface="Arial"/>
            </a:endParaRPr>
          </a:p>
        </p:txBody>
      </p:sp>
      <p:sp>
        <p:nvSpPr>
          <p:cNvPr id="165" name="TextBox 2"/>
          <p:cNvSpPr/>
          <p:nvPr/>
        </p:nvSpPr>
        <p:spPr>
          <a:xfrm>
            <a:off x="731520" y="4206240"/>
            <a:ext cx="10058040" cy="13712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600" spc="-1" strike="noStrike">
                <a:solidFill>
                  <a:srgbClr val="4ae85a"/>
                </a:solidFill>
                <a:latin typeface="Consolas"/>
              </a:rPr>
              <a:t>Understanding the Predators</a:t>
            </a:r>
            <a:endParaRPr b="0" lang="en-US" sz="3600" spc="-1" strike="noStrike">
              <a:solidFill>
                <a:srgbClr val="ffffff"/>
              </a:solidFill>
              <a:latin typeface="Arial"/>
            </a:endParaRPr>
          </a:p>
        </p:txBody>
      </p:sp>
      <p:sp>
        <p:nvSpPr>
          <p:cNvPr id="166" name="Rectangle 3"/>
          <p:cNvSpPr/>
          <p:nvPr/>
        </p:nvSpPr>
        <p:spPr>
          <a:xfrm>
            <a:off x="731520" y="4023360"/>
            <a:ext cx="2742840" cy="75960"/>
          </a:xfrm>
          <a:prstGeom prst="rect">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167"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What Is an LLM? (Fast Version)</a:t>
            </a:r>
            <a:endParaRPr b="0" lang="en-US" sz="3200" spc="-1" strike="noStrike">
              <a:solidFill>
                <a:srgbClr val="ffffff"/>
              </a:solidFill>
              <a:latin typeface="Arial"/>
            </a:endParaRPr>
          </a:p>
        </p:txBody>
      </p:sp>
      <p:sp>
        <p:nvSpPr>
          <p:cNvPr id="168" name="Rectangle 2"/>
          <p:cNvSpPr/>
          <p:nvPr/>
        </p:nvSpPr>
        <p:spPr>
          <a:xfrm>
            <a:off x="548640" y="1051560"/>
            <a:ext cx="2742840" cy="101160"/>
          </a:xfrm>
          <a:prstGeom prst="rect">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9" name="TextBox 3"/>
          <p:cNvSpPr/>
          <p:nvPr/>
        </p:nvSpPr>
        <p:spPr>
          <a:xfrm>
            <a:off x="548640" y="1371600"/>
            <a:ext cx="6400440" cy="4571640"/>
          </a:xfrm>
          <a:prstGeom prst="rect">
            <a:avLst/>
          </a:prstGeom>
          <a:noFill/>
          <a:ln w="0">
            <a:noFill/>
          </a:ln>
        </p:spPr>
        <p:style>
          <a:lnRef idx="0"/>
          <a:fillRef idx="0"/>
          <a:effectRef idx="0"/>
          <a:fontRef idx="minor"/>
        </p:style>
        <p:txBody>
          <a:bodyPr lIns="90000" rIns="90000" tIns="45000" bIns="45000" anchor="t">
            <a:normAutofit/>
          </a:bodyPr>
          <a:p>
            <a:pPr defTabSz="457200">
              <a:lnSpc>
                <a:spcPct val="120000"/>
              </a:lnSpc>
              <a:spcAft>
                <a:spcPts val="400"/>
              </a:spcAft>
            </a:pPr>
            <a:r>
              <a:rPr b="1" lang="en-US" sz="1800" spc="-1" strike="noStrike">
                <a:solidFill>
                  <a:srgbClr val="00ccaa"/>
                </a:solidFill>
                <a:latin typeface="Consolas"/>
              </a:rPr>
              <a:t>The 30-second explanation:</a:t>
            </a:r>
            <a:endParaRPr b="0" lang="en-US" sz="1800" spc="-1" strike="noStrike">
              <a:solidFill>
                <a:srgbClr val="ffffff"/>
              </a:solidFill>
              <a:latin typeface="Arial"/>
            </a:endParaRPr>
          </a:p>
          <a:p>
            <a:pPr defTabSz="457200">
              <a:lnSpc>
                <a:spcPct val="120000"/>
              </a:lnSpc>
              <a:spcAft>
                <a:spcPts val="400"/>
              </a:spcAft>
            </a:pPr>
            <a:endParaRPr b="0" lang="en-US" sz="800" spc="-1" strike="noStrike">
              <a:solidFill>
                <a:srgbClr val="ffffff"/>
              </a:solidFill>
              <a:latin typeface="Arial"/>
            </a:endParaRPr>
          </a:p>
          <a:p>
            <a:pPr defTabSz="457200">
              <a:lnSpc>
                <a:spcPct val="120000"/>
              </a:lnSpc>
              <a:spcAft>
                <a:spcPts val="400"/>
              </a:spcAft>
            </a:pPr>
            <a:r>
              <a:rPr b="0" lang="en-US" sz="1500" spc="-1" strike="noStrike">
                <a:solidFill>
                  <a:srgbClr val="ffffff"/>
                </a:solidFill>
                <a:latin typeface="Consolas"/>
              </a:rPr>
              <a:t>• </a:t>
            </a:r>
            <a:r>
              <a:rPr b="0" lang="en-US" sz="1500" spc="-1" strike="noStrike">
                <a:solidFill>
                  <a:srgbClr val="ffffff"/>
                </a:solidFill>
                <a:latin typeface="Consolas"/>
              </a:rPr>
              <a:t>An LLM = a probability distribution over tokens</a:t>
            </a:r>
            <a:endParaRPr b="0" lang="en-US" sz="1500" spc="-1" strike="noStrike">
              <a:solidFill>
                <a:srgbClr val="ffffff"/>
              </a:solidFill>
              <a:latin typeface="Arial"/>
            </a:endParaRPr>
          </a:p>
          <a:p>
            <a:pPr defTabSz="457200">
              <a:lnSpc>
                <a:spcPct val="120000"/>
              </a:lnSpc>
              <a:spcAft>
                <a:spcPts val="400"/>
              </a:spcAft>
            </a:pPr>
            <a:r>
              <a:rPr b="0" lang="en-US" sz="1500" spc="-1" strike="noStrike">
                <a:solidFill>
                  <a:srgbClr val="ffffff"/>
                </a:solidFill>
                <a:latin typeface="Consolas"/>
              </a:rPr>
              <a:t>• </a:t>
            </a:r>
            <a:r>
              <a:rPr b="0" lang="en-US" sz="1500" spc="-1" strike="noStrike">
                <a:solidFill>
                  <a:srgbClr val="ffffff"/>
                </a:solidFill>
                <a:latin typeface="Consolas"/>
              </a:rPr>
              <a:t>It guesses the next word. Repeatedly. Very fast.</a:t>
            </a:r>
            <a:endParaRPr b="0" lang="en-US" sz="1500" spc="-1" strike="noStrike">
              <a:solidFill>
                <a:srgbClr val="ffffff"/>
              </a:solidFill>
              <a:latin typeface="Arial"/>
            </a:endParaRPr>
          </a:p>
          <a:p>
            <a:pPr defTabSz="457200">
              <a:lnSpc>
                <a:spcPct val="120000"/>
              </a:lnSpc>
              <a:spcAft>
                <a:spcPts val="400"/>
              </a:spcAft>
            </a:pPr>
            <a:r>
              <a:rPr b="0" lang="en-US" sz="1500" spc="-1" strike="noStrike">
                <a:solidFill>
                  <a:srgbClr val="ffffff"/>
                </a:solidFill>
                <a:latin typeface="Consolas"/>
              </a:rPr>
              <a:t>• </a:t>
            </a:r>
            <a:r>
              <a:rPr b="0" lang="en-US" sz="1500" spc="-1" strike="noStrike">
                <a:solidFill>
                  <a:srgbClr val="ffffff"/>
                </a:solidFill>
                <a:latin typeface="Consolas"/>
              </a:rPr>
              <a:t>Training: show it the internet + all code + all CVEs</a:t>
            </a:r>
            <a:endParaRPr b="0" lang="en-US" sz="1500" spc="-1" strike="noStrike">
              <a:solidFill>
                <a:srgbClr val="ffffff"/>
              </a:solidFill>
              <a:latin typeface="Arial"/>
            </a:endParaRPr>
          </a:p>
          <a:p>
            <a:pPr defTabSz="457200">
              <a:lnSpc>
                <a:spcPct val="120000"/>
              </a:lnSpc>
              <a:spcAft>
                <a:spcPts val="400"/>
              </a:spcAft>
            </a:pPr>
            <a:r>
              <a:rPr b="0" lang="en-US" sz="1500" spc="-1" strike="noStrike">
                <a:solidFill>
                  <a:srgbClr val="ffffff"/>
                </a:solidFill>
                <a:latin typeface="Consolas"/>
              </a:rPr>
              <a:t>• </a:t>
            </a:r>
            <a:r>
              <a:rPr b="0" lang="en-US" sz="1500" spc="-1" strike="noStrike">
                <a:solidFill>
                  <a:srgbClr val="ffffff"/>
                </a:solidFill>
                <a:latin typeface="Consolas"/>
              </a:rPr>
              <a:t>Inference: running the model to generate text</a:t>
            </a:r>
            <a:endParaRPr b="0" lang="en-US" sz="1500" spc="-1" strike="noStrike">
              <a:solidFill>
                <a:srgbClr val="ffffff"/>
              </a:solidFill>
              <a:latin typeface="Arial"/>
            </a:endParaRPr>
          </a:p>
          <a:p>
            <a:pPr defTabSz="457200">
              <a:lnSpc>
                <a:spcPct val="120000"/>
              </a:lnSpc>
              <a:spcAft>
                <a:spcPts val="400"/>
              </a:spcAft>
            </a:pPr>
            <a:endParaRPr b="0" lang="en-US" sz="800" spc="-1" strike="noStrike">
              <a:solidFill>
                <a:srgbClr val="ffffff"/>
              </a:solidFill>
              <a:latin typeface="Arial"/>
            </a:endParaRPr>
          </a:p>
          <a:p>
            <a:pPr defTabSz="457200">
              <a:lnSpc>
                <a:spcPct val="120000"/>
              </a:lnSpc>
              <a:spcAft>
                <a:spcPts val="400"/>
              </a:spcAft>
            </a:pPr>
            <a:r>
              <a:rPr b="1" lang="en-US" sz="1500" spc="-1" strike="noStrike">
                <a:solidFill>
                  <a:srgbClr val="4ae85a"/>
                </a:solidFill>
                <a:latin typeface="Consolas"/>
              </a:rPr>
              <a:t>It doesn't think. It pattern-matches at massive scale.</a:t>
            </a:r>
            <a:endParaRPr b="0" lang="en-US" sz="1500" spc="-1" strike="noStrike">
              <a:solidFill>
                <a:srgbClr val="ffffff"/>
              </a:solidFill>
              <a:latin typeface="Arial"/>
            </a:endParaRPr>
          </a:p>
          <a:p>
            <a:pPr defTabSz="457200">
              <a:lnSpc>
                <a:spcPct val="120000"/>
              </a:lnSpc>
              <a:spcAft>
                <a:spcPts val="400"/>
              </a:spcAft>
            </a:pPr>
            <a:endParaRPr b="0" lang="en-US" sz="800" spc="-1" strike="noStrike">
              <a:solidFill>
                <a:srgbClr val="ffffff"/>
              </a:solidFill>
              <a:latin typeface="Arial"/>
            </a:endParaRPr>
          </a:p>
          <a:p>
            <a:pPr defTabSz="457200">
              <a:lnSpc>
                <a:spcPct val="120000"/>
              </a:lnSpc>
              <a:spcAft>
                <a:spcPts val="400"/>
              </a:spcAft>
            </a:pPr>
            <a:r>
              <a:rPr b="1" lang="en-US" sz="1800" spc="-1" strike="noStrike">
                <a:solidFill>
                  <a:srgbClr val="f5a623"/>
                </a:solidFill>
                <a:latin typeface="Consolas"/>
              </a:rPr>
              <a:t>Key insight for hackers:</a:t>
            </a:r>
            <a:endParaRPr b="0" lang="en-US" sz="1800" spc="-1" strike="noStrike">
              <a:solidFill>
                <a:srgbClr val="ffffff"/>
              </a:solidFill>
              <a:latin typeface="Arial"/>
            </a:endParaRPr>
          </a:p>
          <a:p>
            <a:pPr defTabSz="457200">
              <a:lnSpc>
                <a:spcPct val="120000"/>
              </a:lnSpc>
              <a:spcAft>
                <a:spcPts val="400"/>
              </a:spcAft>
            </a:pPr>
            <a:r>
              <a:rPr b="0" lang="en-US" sz="1500" spc="-1" strike="noStrike">
                <a:solidFill>
                  <a:srgbClr val="ffffff"/>
                </a:solidFill>
                <a:latin typeface="Consolas"/>
              </a:rPr>
              <a:t>The model has seen every CVE, every exploit,</a:t>
            </a:r>
            <a:endParaRPr b="0" lang="en-US" sz="1500" spc="-1" strike="noStrike">
              <a:solidFill>
                <a:srgbClr val="ffffff"/>
              </a:solidFill>
              <a:latin typeface="Arial"/>
            </a:endParaRPr>
          </a:p>
          <a:p>
            <a:pPr defTabSz="457200">
              <a:lnSpc>
                <a:spcPct val="120000"/>
              </a:lnSpc>
              <a:spcAft>
                <a:spcPts val="400"/>
              </a:spcAft>
            </a:pPr>
            <a:r>
              <a:rPr b="0" lang="en-US" sz="1500" spc="-1" strike="noStrike">
                <a:solidFill>
                  <a:srgbClr val="ffffff"/>
                </a:solidFill>
                <a:latin typeface="Consolas"/>
              </a:rPr>
              <a:t>every RE tutorial ever published.</a:t>
            </a:r>
            <a:endParaRPr b="0" lang="en-US" sz="1500" spc="-1" strike="noStrike">
              <a:solidFill>
                <a:srgbClr val="ffffff"/>
              </a:solidFill>
              <a:latin typeface="Arial"/>
            </a:endParaRPr>
          </a:p>
          <a:p>
            <a:pPr defTabSz="457200">
              <a:lnSpc>
                <a:spcPct val="120000"/>
              </a:lnSpc>
              <a:spcAft>
                <a:spcPts val="400"/>
              </a:spcAft>
            </a:pPr>
            <a:r>
              <a:rPr b="0" lang="en-US" sz="1500" spc="-1" strike="noStrike">
                <a:solidFill>
                  <a:srgbClr val="ffffff"/>
                </a:solidFill>
                <a:latin typeface="Consolas"/>
              </a:rPr>
              <a:t>The skill is extracting that knowledge.</a:t>
            </a:r>
            <a:endParaRPr b="0" lang="en-US" sz="1500" spc="-1" strike="noStrike">
              <a:solidFill>
                <a:srgbClr val="ffffff"/>
              </a:solidFill>
              <a:latin typeface="Arial"/>
            </a:endParaRPr>
          </a:p>
        </p:txBody>
      </p:sp>
      <p:pic>
        <p:nvPicPr>
          <p:cNvPr id="170" name="Picture 4" descr="dna_code_helix.png"/>
          <p:cNvPicPr/>
          <p:nvPr/>
        </p:nvPicPr>
        <p:blipFill>
          <a:blip r:embed="rId1"/>
          <a:stretch/>
        </p:blipFill>
        <p:spPr>
          <a:xfrm>
            <a:off x="7498080" y="1371600"/>
            <a:ext cx="4114440" cy="4114440"/>
          </a:xfrm>
          <a:prstGeom prst="rect">
            <a:avLst/>
          </a:prstGeom>
          <a:ln w="0">
            <a:noFill/>
          </a:ln>
        </p:spPr>
      </p:pic>
      <p:sp>
        <p:nvSpPr>
          <p:cNvPr id="171" name="Rounded Rectangle 5"/>
          <p:cNvSpPr/>
          <p:nvPr/>
        </p:nvSpPr>
        <p:spPr>
          <a:xfrm>
            <a:off x="7315200" y="5303520"/>
            <a:ext cx="4388760" cy="1371240"/>
          </a:xfrm>
          <a:prstGeom prst="roundRect">
            <a:avLst>
              <a:gd name="adj" fmla="val 16667"/>
            </a:avLst>
          </a:prstGeom>
          <a:solidFill>
            <a:srgbClr val="122012"/>
          </a:solidFill>
          <a:ln w="12700">
            <a:solidFill>
              <a:srgbClr val="4ae8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2" name="TextBox 6"/>
          <p:cNvSpPr/>
          <p:nvPr/>
        </p:nvSpPr>
        <p:spPr>
          <a:xfrm>
            <a:off x="7589520" y="5394960"/>
            <a:ext cx="3840120" cy="1188360"/>
          </a:xfrm>
          <a:prstGeom prst="rect">
            <a:avLst/>
          </a:prstGeom>
          <a:noFill/>
          <a:ln w="0">
            <a:noFill/>
          </a:ln>
        </p:spPr>
        <p:style>
          <a:lnRef idx="0"/>
          <a:fillRef idx="0"/>
          <a:effectRef idx="0"/>
          <a:fontRef idx="minor"/>
        </p:style>
        <p:txBody>
          <a:bodyPr lIns="90000" rIns="90000" tIns="45000" bIns="45000" anchor="t">
            <a:normAutofit/>
          </a:bodyPr>
          <a:p>
            <a:pPr defTabSz="457200">
              <a:lnSpc>
                <a:spcPct val="115000"/>
              </a:lnSpc>
              <a:spcAft>
                <a:spcPts val="400"/>
              </a:spcAft>
            </a:pPr>
            <a:r>
              <a:rPr b="0" lang="en-US" sz="1200" spc="-1" strike="noStrike">
                <a:solidFill>
                  <a:srgbClr val="4ae85a"/>
                </a:solidFill>
                <a:latin typeface="Consolas"/>
              </a:rPr>
              <a:t>$ ollama run qwen3.8-27b</a:t>
            </a:r>
            <a:endParaRPr b="0" lang="en-US" sz="1200" spc="-1" strike="noStrike">
              <a:solidFill>
                <a:srgbClr val="ffffff"/>
              </a:solidFill>
              <a:latin typeface="Arial"/>
            </a:endParaRPr>
          </a:p>
          <a:p>
            <a:pPr defTabSz="457200">
              <a:lnSpc>
                <a:spcPct val="115000"/>
              </a:lnSpc>
              <a:spcAft>
                <a:spcPts val="400"/>
              </a:spcAft>
            </a:pPr>
            <a:r>
              <a:rPr b="0" lang="en-US" sz="1200" spc="-1" strike="noStrike">
                <a:solidFill>
                  <a:srgbClr val="ffffff"/>
                </a:solidFill>
                <a:latin typeface="Consolas"/>
              </a:rPr>
              <a:t>&gt; What is a stack buffer overflow?</a:t>
            </a:r>
            <a:endParaRPr b="0" lang="en-US" sz="1200" spc="-1" strike="noStrike">
              <a:solidFill>
                <a:srgbClr val="ffffff"/>
              </a:solidFill>
              <a:latin typeface="Arial"/>
            </a:endParaRPr>
          </a:p>
          <a:p>
            <a:pPr defTabSz="457200">
              <a:lnSpc>
                <a:spcPct val="115000"/>
              </a:lnSpc>
              <a:spcAft>
                <a:spcPts val="400"/>
              </a:spcAft>
            </a:pPr>
            <a:r>
              <a:rPr b="0" lang="en-US" sz="1200" spc="-1" strike="noStrike">
                <a:solidFill>
                  <a:srgbClr val="f5a623"/>
                </a:solidFill>
                <a:latin typeface="Consolas"/>
              </a:rPr>
              <a:t># It's that easy. The model knows.</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173"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The "B" in 27B — And the T in 8T</a:t>
            </a:r>
            <a:endParaRPr b="0" lang="en-US" sz="3200" spc="-1" strike="noStrike">
              <a:solidFill>
                <a:srgbClr val="ffffff"/>
              </a:solidFill>
              <a:latin typeface="Arial"/>
            </a:endParaRPr>
          </a:p>
        </p:txBody>
      </p:sp>
      <p:sp>
        <p:nvSpPr>
          <p:cNvPr id="174" name="Rectangle 2"/>
          <p:cNvSpPr/>
          <p:nvPr/>
        </p:nvSpPr>
        <p:spPr>
          <a:xfrm>
            <a:off x="548640" y="1051560"/>
            <a:ext cx="2742840" cy="101160"/>
          </a:xfrm>
          <a:prstGeom prst="rect">
            <a:avLst/>
          </a:prstGeom>
          <a:solidFill>
            <a:srgbClr val="00cc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175" name="Table 3"/>
          <p:cNvGraphicFramePr/>
          <p:nvPr/>
        </p:nvGraphicFramePr>
        <p:xfrm>
          <a:off x="548640" y="1280160"/>
          <a:ext cx="7772040" cy="4232880"/>
        </p:xfrm>
        <a:graphic>
          <a:graphicData uri="http://schemas.openxmlformats.org/drawingml/2006/table">
            <a:tbl>
              <a:tblPr/>
              <a:tblGrid>
                <a:gridCol w="1942920"/>
                <a:gridCol w="1942920"/>
                <a:gridCol w="1942920"/>
                <a:gridCol w="1942920"/>
              </a:tblGrid>
              <a:tr h="479880">
                <a:tc>
                  <a:txBody>
                    <a:bodyPr anchor="t">
                      <a:noAutofit/>
                    </a:bodyPr>
                    <a:p>
                      <a:pPr defTabSz="457200">
                        <a:lnSpc>
                          <a:spcPct val="100000"/>
                        </a:lnSpc>
                      </a:pPr>
                      <a:r>
                        <a:rPr b="1" lang="en-US" sz="1300" spc="-1" strike="noStrike">
                          <a:solidFill>
                            <a:srgbClr val="00ccaa"/>
                          </a:solidFill>
                          <a:latin typeface="Consolas"/>
                        </a:rPr>
                        <a:t>Size</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c>
                  <a:txBody>
                    <a:bodyPr anchor="t">
                      <a:noAutofit/>
                    </a:bodyPr>
                    <a:p>
                      <a:pPr defTabSz="457200">
                        <a:lnSpc>
                          <a:spcPct val="100000"/>
                        </a:lnSpc>
                      </a:pPr>
                      <a:r>
                        <a:rPr b="1" lang="en-US" sz="1300" spc="-1" strike="noStrike">
                          <a:solidFill>
                            <a:srgbClr val="00ccaa"/>
                          </a:solidFill>
                          <a:latin typeface="Consolas"/>
                        </a:rPr>
                        <a:t>Examples</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c>
                  <a:txBody>
                    <a:bodyPr anchor="t">
                      <a:noAutofit/>
                    </a:bodyPr>
                    <a:p>
                      <a:pPr defTabSz="457200">
                        <a:lnSpc>
                          <a:spcPct val="100000"/>
                        </a:lnSpc>
                      </a:pPr>
                      <a:r>
                        <a:rPr b="1" lang="en-US" sz="1300" spc="-1" strike="noStrike">
                          <a:solidFill>
                            <a:srgbClr val="00ccaa"/>
                          </a:solidFill>
                          <a:latin typeface="Consolas"/>
                        </a:rPr>
                        <a:t>Hardware</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c>
                  <a:txBody>
                    <a:bodyPr anchor="t">
                      <a:noAutofit/>
                    </a:bodyPr>
                    <a:p>
                      <a:pPr defTabSz="457200">
                        <a:lnSpc>
                          <a:spcPct val="100000"/>
                        </a:lnSpc>
                      </a:pPr>
                      <a:r>
                        <a:rPr b="1" lang="en-US" sz="1300" spc="-1" strike="noStrike">
                          <a:solidFill>
                            <a:srgbClr val="00ccaa"/>
                          </a:solidFill>
                          <a:latin typeface="Consolas"/>
                        </a:rPr>
                        <a:t>Use Case</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r>
              <a:tr h="479880">
                <a:tc>
                  <a:txBody>
                    <a:bodyPr anchor="t">
                      <a:noAutofit/>
                    </a:bodyPr>
                    <a:p>
                      <a:pPr defTabSz="457200">
                        <a:lnSpc>
                          <a:spcPct val="100000"/>
                        </a:lnSpc>
                      </a:pPr>
                      <a:r>
                        <a:rPr b="0" lang="en-US" sz="1200" spc="-1" strike="noStrike">
                          <a:solidFill>
                            <a:srgbClr val="ffffff"/>
                          </a:solidFill>
                          <a:latin typeface="Consolas"/>
                        </a:rPr>
                        <a:t>7-14B</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Gemma4, Phi-4</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Any laptop</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Summarization, simple code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479880">
                <a:tc>
                  <a:txBody>
                    <a:bodyPr anchor="t">
                      <a:noAutofit/>
                    </a:bodyPr>
                    <a:p>
                      <a:pPr defTabSz="457200">
                        <a:lnSpc>
                          <a:spcPct val="100000"/>
                        </a:lnSpc>
                      </a:pPr>
                      <a:r>
                        <a:rPr b="0" lang="en-US" sz="1200" spc="-1" strike="noStrike">
                          <a:solidFill>
                            <a:srgbClr val="ffffff"/>
                          </a:solidFill>
                          <a:latin typeface="Consolas"/>
                        </a:rPr>
                        <a:t>27B (dense)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Qwen3.8-27B, Gemma4 27B</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1x 24GB GPU (Q4)</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Solid RE, coding, agentic — multimodal</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479880">
                <a:tc>
                  <a:txBody>
                    <a:bodyPr anchor="t">
                      <a:noAutofit/>
                    </a:bodyPr>
                    <a:p>
                      <a:pPr defTabSz="457200">
                        <a:lnSpc>
                          <a:spcPct val="100000"/>
                        </a:lnSpc>
                      </a:pPr>
                      <a:r>
                        <a:rPr b="0" lang="en-US" sz="1200" spc="-1" strike="noStrike">
                          <a:solidFill>
                            <a:srgbClr val="ffffff"/>
                          </a:solidFill>
                          <a:latin typeface="Consolas"/>
                        </a:rPr>
                        <a:t>27-72B</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Qwen 3.6 32B, Llama 4</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1x 24GB GPU (Q4)</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Solid RE, decent code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479880">
                <a:tc>
                  <a:txBody>
                    <a:bodyPr anchor="t">
                      <a:noAutofit/>
                    </a:bodyPr>
                    <a:p>
                      <a:pPr defTabSz="457200">
                        <a:lnSpc>
                          <a:spcPct val="100000"/>
                        </a:lnSpc>
                      </a:pPr>
                      <a:r>
                        <a:rPr b="0" lang="en-US" sz="1200" spc="-1" strike="noStrike">
                          <a:solidFill>
                            <a:srgbClr val="ffffff"/>
                          </a:solidFill>
                          <a:latin typeface="Consolas"/>
                        </a:rPr>
                        <a:t>284B (MoE)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DeepSeek V4-Flash</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DGX Spark / 2x 3090 (Q4)</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Near frontier, 1M context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479880">
                <a:tc>
                  <a:txBody>
                    <a:bodyPr anchor="t">
                      <a:noAutofit/>
                    </a:bodyPr>
                    <a:p>
                      <a:pPr defTabSz="457200">
                        <a:lnSpc>
                          <a:spcPct val="100000"/>
                        </a:lnSpc>
                      </a:pPr>
                      <a:r>
                        <a:rPr b="0" lang="en-US" sz="1200" spc="-1" strike="noStrike">
                          <a:solidFill>
                            <a:srgbClr val="ffffff"/>
                          </a:solidFill>
                          <a:latin typeface="Consolas"/>
                        </a:rPr>
                        <a:t>1.6T (MoE)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DeepSeek V4-Pro</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Multi-GPU / API</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Frontier-class, 1M context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479880">
                <a:tc>
                  <a:txBody>
                    <a:bodyPr anchor="t">
                      <a:noAutofit/>
                    </a:bodyPr>
                    <a:p>
                      <a:pPr defTabSz="457200">
                        <a:lnSpc>
                          <a:spcPct val="100000"/>
                        </a:lnSpc>
                      </a:pPr>
                      <a:r>
                        <a:rPr b="0" lang="en-US" sz="1200" spc="-1" strike="noStrike">
                          <a:solidFill>
                            <a:srgbClr val="ffffff"/>
                          </a:solidFill>
                          <a:latin typeface="Consolas"/>
                        </a:rPr>
                        <a:t>~5T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Claude Fable 5</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Datacenter / API</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Mythos-class with safeguards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479880">
                <a:tc>
                  <a:txBody>
                    <a:bodyPr anchor="t">
                      <a:noAutofit/>
                    </a:bodyPr>
                    <a:p>
                      <a:pPr defTabSz="457200">
                        <a:lnSpc>
                          <a:spcPct val="100000"/>
                        </a:lnSpc>
                      </a:pPr>
                      <a:r>
                        <a:rPr b="0" lang="en-US" sz="1200" spc="-1" strike="noStrike">
                          <a:solidFill>
                            <a:srgbClr val="ffffff"/>
                          </a:solidFill>
                          <a:latin typeface="Consolas"/>
                        </a:rPr>
                        <a:t>~8T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Claude Mythos 5</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RESTRICTED</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Apex predator — not publicly available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bl>
          </a:graphicData>
        </a:graphic>
      </p:graphicFrame>
      <p:pic>
        <p:nvPicPr>
          <p:cNvPr id="176" name="Picture 4" descr="gx10_product.png"/>
          <p:cNvPicPr/>
          <p:nvPr/>
        </p:nvPicPr>
        <p:blipFill>
          <a:blip r:embed="rId1"/>
          <a:stretch/>
        </p:blipFill>
        <p:spPr>
          <a:xfrm>
            <a:off x="8503920" y="1371600"/>
            <a:ext cx="3474360" cy="1508400"/>
          </a:xfrm>
          <a:prstGeom prst="rect">
            <a:avLst/>
          </a:prstGeom>
          <a:ln w="0">
            <a:noFill/>
          </a:ln>
        </p:spPr>
      </p:pic>
      <p:sp>
        <p:nvSpPr>
          <p:cNvPr id="177" name="Rounded Rectangle 5"/>
          <p:cNvSpPr/>
          <p:nvPr/>
        </p:nvSpPr>
        <p:spPr>
          <a:xfrm>
            <a:off x="548640" y="5486400"/>
            <a:ext cx="11063880" cy="1096920"/>
          </a:xfrm>
          <a:prstGeom prst="roundRect">
            <a:avLst>
              <a:gd name="adj" fmla="val 16667"/>
            </a:avLst>
          </a:prstGeom>
          <a:solidFill>
            <a:srgbClr val="1a2e1e"/>
          </a:solidFill>
          <a:ln w="12700">
            <a:solidFill>
              <a:srgbClr val="4ae8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8" name="TextBox 6"/>
          <p:cNvSpPr/>
          <p:nvPr/>
        </p:nvSpPr>
        <p:spPr>
          <a:xfrm>
            <a:off x="822960" y="5577840"/>
            <a:ext cx="10515240" cy="914040"/>
          </a:xfrm>
          <a:prstGeom prst="rect">
            <a:avLst/>
          </a:prstGeom>
          <a:noFill/>
          <a:ln w="0">
            <a:noFill/>
          </a:ln>
        </p:spPr>
        <p:style>
          <a:lnRef idx="0"/>
          <a:fillRef idx="0"/>
          <a:effectRef idx="0"/>
          <a:fontRef idx="minor"/>
        </p:style>
        <p:txBody>
          <a:bodyPr lIns="90000" rIns="90000" tIns="45000" bIns="45000" anchor="t">
            <a:normAutofit/>
          </a:bodyPr>
          <a:p>
            <a:pPr defTabSz="457200">
              <a:lnSpc>
                <a:spcPct val="110000"/>
              </a:lnSpc>
              <a:spcAft>
                <a:spcPts val="400"/>
              </a:spcAft>
            </a:pPr>
            <a:r>
              <a:rPr b="1" lang="en-US" sz="1400" spc="-1" strike="noStrike">
                <a:solidFill>
                  <a:srgbClr val="4ae85a"/>
                </a:solidFill>
                <a:latin typeface="Consolas"/>
              </a:rPr>
              <a:t>For 95% of RE tasks: a 27B Q4 local model = frontier quality.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ffffff"/>
                </a:solidFill>
                <a:latin typeface="Consolas"/>
              </a:rPr>
              <a:t>DeepSeek V4-Flash on a DGX Spark = frontier-class with 1M context, MIT licensed.</a:t>
            </a:r>
            <a:endParaRPr b="0" lang="en-US" sz="1400" spc="-1" strike="noStrike">
              <a:solidFill>
                <a:srgbClr val="ffffff"/>
              </a:solidFill>
              <a:latin typeface="Arial"/>
            </a:endParaRPr>
          </a:p>
        </p:txBody>
      </p:sp>
      <p:sp>
        <p:nvSpPr>
          <p:cNvPr id="179" name="TextBox 7"/>
          <p:cNvSpPr/>
          <p:nvPr/>
        </p:nvSpPr>
        <p:spPr>
          <a:xfrm>
            <a:off x="8503920" y="3017520"/>
            <a:ext cx="347436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100" spc="-1" strike="noStrike">
                <a:solidFill>
                  <a:srgbClr val="00ccaa"/>
                </a:solidFill>
                <a:latin typeface="Consolas"/>
              </a:rPr>
              <a:t>ASUS Ascent GX10 — DGX Spark</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180"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Model Landscape: The Spectrum (August 2026)</a:t>
            </a:r>
            <a:endParaRPr b="0" lang="en-US" sz="3200" spc="-1" strike="noStrike">
              <a:solidFill>
                <a:srgbClr val="ffffff"/>
              </a:solidFill>
              <a:latin typeface="Arial"/>
            </a:endParaRPr>
          </a:p>
        </p:txBody>
      </p:sp>
      <p:sp>
        <p:nvSpPr>
          <p:cNvPr id="181" name="Rectangle 2"/>
          <p:cNvSpPr/>
          <p:nvPr/>
        </p:nvSpPr>
        <p:spPr>
          <a:xfrm>
            <a:off x="548640" y="1051560"/>
            <a:ext cx="2742840" cy="101160"/>
          </a:xfrm>
          <a:prstGeom prst="rect">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2" name="Rounded Rectangle 3"/>
          <p:cNvSpPr/>
          <p:nvPr/>
        </p:nvSpPr>
        <p:spPr>
          <a:xfrm>
            <a:off x="548640" y="1371600"/>
            <a:ext cx="5303160" cy="50256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3" name="TextBox 4"/>
          <p:cNvSpPr/>
          <p:nvPr/>
        </p:nvSpPr>
        <p:spPr>
          <a:xfrm>
            <a:off x="548640" y="1371600"/>
            <a:ext cx="530316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CLOUD / PAID ($$$)</a:t>
            </a:r>
            <a:endParaRPr b="0" lang="en-US" sz="1400" spc="-1" strike="noStrike">
              <a:solidFill>
                <a:srgbClr val="ffffff"/>
              </a:solidFill>
              <a:latin typeface="Arial"/>
            </a:endParaRPr>
          </a:p>
        </p:txBody>
      </p:sp>
      <p:sp>
        <p:nvSpPr>
          <p:cNvPr id="184" name="TextBox 5"/>
          <p:cNvSpPr/>
          <p:nvPr/>
        </p:nvSpPr>
        <p:spPr>
          <a:xfrm>
            <a:off x="731520" y="2011680"/>
            <a:ext cx="4937400" cy="4114440"/>
          </a:xfrm>
          <a:prstGeom prst="rect">
            <a:avLst/>
          </a:prstGeom>
          <a:noFill/>
          <a:ln w="0">
            <a:noFill/>
          </a:ln>
        </p:spPr>
        <p:style>
          <a:lnRef idx="0"/>
          <a:fillRef idx="0"/>
          <a:effectRef idx="0"/>
          <a:fontRef idx="minor"/>
        </p:style>
        <p:txBody>
          <a:bodyPr lIns="90000" rIns="90000" tIns="45000" bIns="45000" anchor="t">
            <a:normAutofit/>
          </a:bodyPr>
          <a:p>
            <a:pPr defTabSz="457200">
              <a:lnSpc>
                <a:spcPct val="120000"/>
              </a:lnSpc>
              <a:spcAft>
                <a:spcPts val="400"/>
              </a:spcAft>
            </a:pPr>
            <a:r>
              <a:rPr b="0" lang="en-US" sz="1400" spc="-1" strike="noStrike">
                <a:solidFill>
                  <a:srgbClr val="ffffff"/>
                </a:solidFill>
                <a:latin typeface="Consolas"/>
              </a:rPr>
              <a:t>Claude Mythos 5 (restricted)</a:t>
            </a:r>
            <a:endParaRPr b="0" lang="en-US" sz="1400" spc="-1" strike="noStrike">
              <a:solidFill>
                <a:srgbClr val="ffffff"/>
              </a:solidFill>
              <a:latin typeface="Arial"/>
            </a:endParaRPr>
          </a:p>
          <a:p>
            <a:pPr defTabSz="457200">
              <a:lnSpc>
                <a:spcPct val="120000"/>
              </a:lnSpc>
              <a:spcAft>
                <a:spcPts val="400"/>
              </a:spcAft>
            </a:pPr>
            <a:r>
              <a:rPr b="0" lang="en-US" sz="1400" spc="-1" strike="noStrike">
                <a:solidFill>
                  <a:srgbClr val="ffffff"/>
                </a:solidFill>
                <a:latin typeface="Consolas"/>
              </a:rPr>
              <a:t>Claude Fable 5 (muzzled Mythos)</a:t>
            </a:r>
            <a:endParaRPr b="0" lang="en-US" sz="1400" spc="-1" strike="noStrike">
              <a:solidFill>
                <a:srgbClr val="ffffff"/>
              </a:solidFill>
              <a:latin typeface="Arial"/>
            </a:endParaRPr>
          </a:p>
          <a:p>
            <a:pPr defTabSz="457200">
              <a:lnSpc>
                <a:spcPct val="120000"/>
              </a:lnSpc>
              <a:spcAft>
                <a:spcPts val="400"/>
              </a:spcAft>
            </a:pPr>
            <a:r>
              <a:rPr b="0" lang="en-US" sz="1400" spc="-1" strike="noStrike">
                <a:solidFill>
                  <a:srgbClr val="ffffff"/>
                </a:solidFill>
                <a:latin typeface="Consolas"/>
              </a:rPr>
              <a:t>GPT 5.6 Sol/Terra/Luna</a:t>
            </a:r>
            <a:endParaRPr b="0" lang="en-US" sz="1400" spc="-1" strike="noStrike">
              <a:solidFill>
                <a:srgbClr val="ffffff"/>
              </a:solidFill>
              <a:latin typeface="Arial"/>
            </a:endParaRPr>
          </a:p>
          <a:p>
            <a:pPr defTabSz="457200">
              <a:lnSpc>
                <a:spcPct val="120000"/>
              </a:lnSpc>
              <a:spcAft>
                <a:spcPts val="400"/>
              </a:spcAft>
            </a:pPr>
            <a:r>
              <a:rPr b="0" lang="en-US" sz="1400" spc="-1" strike="noStrike">
                <a:solidFill>
                  <a:srgbClr val="ffffff"/>
                </a:solidFill>
                <a:latin typeface="Consolas"/>
              </a:rPr>
              <a:t>Gemini 3.1 Pro (2M context)</a:t>
            </a:r>
            <a:endParaRPr b="0" lang="en-US" sz="1400" spc="-1" strike="noStrike">
              <a:solidFill>
                <a:srgbClr val="ffffff"/>
              </a:solidFill>
              <a:latin typeface="Arial"/>
            </a:endParaRPr>
          </a:p>
          <a:p>
            <a:pPr defTabSz="457200">
              <a:lnSpc>
                <a:spcPct val="120000"/>
              </a:lnSpc>
              <a:spcAft>
                <a:spcPts val="400"/>
              </a:spcAft>
            </a:pPr>
            <a:endParaRPr b="0" lang="en-US" sz="800" spc="-1" strike="noStrike">
              <a:solidFill>
                <a:srgbClr val="ffffff"/>
              </a:solidFill>
              <a:latin typeface="Arial"/>
            </a:endParaRPr>
          </a:p>
          <a:p>
            <a:pPr defTabSz="457200">
              <a:lnSpc>
                <a:spcPct val="120000"/>
              </a:lnSpc>
              <a:spcAft>
                <a:spcPts val="400"/>
              </a:spcAft>
            </a:pPr>
            <a:r>
              <a:rPr b="0" lang="en-US" sz="1300" spc="-1" strike="noStrike">
                <a:solidFill>
                  <a:srgbClr val="c8d8c0"/>
                </a:solidFill>
                <a:latin typeface="Consolas"/>
              </a:rPr>
              <a:t>• </a:t>
            </a:r>
            <a:r>
              <a:rPr b="0" lang="en-US" sz="1300" spc="-1" strike="noStrike">
                <a:solidFill>
                  <a:srgbClr val="c8d8c0"/>
                </a:solidFill>
                <a:latin typeface="Consolas"/>
              </a:rPr>
              <a:t>Bigger context (100K-2M)</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c8d8c0"/>
                </a:solidFill>
                <a:latin typeface="Consolas"/>
              </a:rPr>
              <a:t>• </a:t>
            </a:r>
            <a:r>
              <a:rPr b="0" lang="en-US" sz="1300" spc="-1" strike="noStrike">
                <a:solidFill>
                  <a:srgbClr val="c8d8c0"/>
                </a:solidFill>
                <a:latin typeface="Consolas"/>
              </a:rPr>
              <a:t>Smarter reasoning</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c8d8c0"/>
                </a:solidFill>
                <a:latin typeface="Consolas"/>
              </a:rPr>
              <a:t>• </a:t>
            </a:r>
            <a:r>
              <a:rPr b="0" lang="en-US" sz="1300" spc="-1" strike="noStrike">
                <a:solidFill>
                  <a:srgbClr val="c8d8c0"/>
                </a:solidFill>
                <a:latin typeface="Consolas"/>
              </a:rPr>
              <a:t>Rate-limited, censored</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c8d8c0"/>
                </a:solidFill>
                <a:latin typeface="Consolas"/>
              </a:rPr>
              <a:t>• </a:t>
            </a:r>
            <a:r>
              <a:rPr b="0" lang="en-US" sz="1300" spc="-1" strike="noStrike">
                <a:solidFill>
                  <a:srgbClr val="c8d8c0"/>
                </a:solidFill>
                <a:latin typeface="Consolas"/>
              </a:rPr>
              <a:t>API costs add up</a:t>
            </a:r>
            <a:endParaRPr b="0" lang="en-US" sz="1300" spc="-1" strike="noStrike">
              <a:solidFill>
                <a:srgbClr val="ffffff"/>
              </a:solidFill>
              <a:latin typeface="Arial"/>
            </a:endParaRPr>
          </a:p>
          <a:p>
            <a:pPr defTabSz="457200">
              <a:lnSpc>
                <a:spcPct val="120000"/>
              </a:lnSpc>
              <a:spcAft>
                <a:spcPts val="400"/>
              </a:spcAft>
            </a:pPr>
            <a:r>
              <a:rPr b="1" lang="en-US" sz="1300" spc="-1" strike="noStrike">
                <a:solidFill>
                  <a:srgbClr val="d32d2d"/>
                </a:solidFill>
                <a:latin typeface="Consolas"/>
              </a:rPr>
              <a:t>• </a:t>
            </a:r>
            <a:r>
              <a:rPr b="1" lang="en-US" sz="1300" spc="-1" strike="noStrike">
                <a:solidFill>
                  <a:srgbClr val="d32d2d"/>
                </a:solidFill>
                <a:latin typeface="Consolas"/>
              </a:rPr>
              <a:t>Export controls (!)</a:t>
            </a:r>
            <a:endParaRPr b="0" lang="en-US" sz="1300" spc="-1" strike="noStrike">
              <a:solidFill>
                <a:srgbClr val="ffffff"/>
              </a:solidFill>
              <a:latin typeface="Arial"/>
            </a:endParaRPr>
          </a:p>
        </p:txBody>
      </p:sp>
      <p:sp>
        <p:nvSpPr>
          <p:cNvPr id="185" name="Rounded Rectangle 6"/>
          <p:cNvSpPr/>
          <p:nvPr/>
        </p:nvSpPr>
        <p:spPr>
          <a:xfrm>
            <a:off x="6309360" y="1371600"/>
            <a:ext cx="5303160" cy="50256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6" name="TextBox 7"/>
          <p:cNvSpPr/>
          <p:nvPr/>
        </p:nvSpPr>
        <p:spPr>
          <a:xfrm>
            <a:off x="6309360" y="1371600"/>
            <a:ext cx="530316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LOCAL / OPEN ($0)</a:t>
            </a:r>
            <a:endParaRPr b="0" lang="en-US" sz="1400" spc="-1" strike="noStrike">
              <a:solidFill>
                <a:srgbClr val="ffffff"/>
              </a:solidFill>
              <a:latin typeface="Arial"/>
            </a:endParaRPr>
          </a:p>
        </p:txBody>
      </p:sp>
      <p:sp>
        <p:nvSpPr>
          <p:cNvPr id="187" name="TextBox 8"/>
          <p:cNvSpPr/>
          <p:nvPr/>
        </p:nvSpPr>
        <p:spPr>
          <a:xfrm>
            <a:off x="6492240" y="2011680"/>
            <a:ext cx="4937400" cy="4114440"/>
          </a:xfrm>
          <a:prstGeom prst="rect">
            <a:avLst/>
          </a:prstGeom>
          <a:noFill/>
          <a:ln w="0">
            <a:noFill/>
          </a:ln>
        </p:spPr>
        <p:style>
          <a:lnRef idx="0"/>
          <a:fillRef idx="0"/>
          <a:effectRef idx="0"/>
          <a:fontRef idx="minor"/>
        </p:style>
        <p:txBody>
          <a:bodyPr lIns="90000" rIns="90000" tIns="45000" bIns="45000" anchor="t">
            <a:normAutofit/>
          </a:bodyPr>
          <a:p>
            <a:pPr defTabSz="457200">
              <a:lnSpc>
                <a:spcPct val="120000"/>
              </a:lnSpc>
              <a:spcAft>
                <a:spcPts val="400"/>
              </a:spcAft>
            </a:pPr>
            <a:r>
              <a:rPr b="0" lang="en-US" sz="1400" spc="-1" strike="noStrike">
                <a:solidFill>
                  <a:srgbClr val="ffffff"/>
                </a:solidFill>
                <a:latin typeface="Consolas"/>
              </a:rPr>
              <a:t>Qwen3.8-27B (multimodal, 262K-&gt;1M ctx)</a:t>
            </a:r>
            <a:endParaRPr b="0" lang="en-US" sz="1400" spc="-1" strike="noStrike">
              <a:solidFill>
                <a:srgbClr val="ffffff"/>
              </a:solidFill>
              <a:latin typeface="Arial"/>
            </a:endParaRPr>
          </a:p>
          <a:p>
            <a:pPr defTabSz="457200">
              <a:lnSpc>
                <a:spcPct val="120000"/>
              </a:lnSpc>
              <a:spcAft>
                <a:spcPts val="400"/>
              </a:spcAft>
            </a:pPr>
            <a:r>
              <a:rPr b="0" lang="en-US" sz="1400" spc="-1" strike="noStrike">
                <a:solidFill>
                  <a:srgbClr val="ffffff"/>
                </a:solidFill>
                <a:latin typeface="Consolas"/>
              </a:rPr>
              <a:t>DeepSeek V4-Flash (284B MoE, 1M ctx)</a:t>
            </a:r>
            <a:endParaRPr b="0" lang="en-US" sz="1400" spc="-1" strike="noStrike">
              <a:solidFill>
                <a:srgbClr val="ffffff"/>
              </a:solidFill>
              <a:latin typeface="Arial"/>
            </a:endParaRPr>
          </a:p>
          <a:p>
            <a:pPr defTabSz="457200">
              <a:lnSpc>
                <a:spcPct val="120000"/>
              </a:lnSpc>
              <a:spcAft>
                <a:spcPts val="400"/>
              </a:spcAft>
            </a:pPr>
            <a:r>
              <a:rPr b="0" lang="en-US" sz="1400" spc="-1" strike="noStrike">
                <a:solidFill>
                  <a:srgbClr val="ffffff"/>
                </a:solidFill>
                <a:latin typeface="Consolas"/>
              </a:rPr>
              <a:t>DeepSeek V4-Pro (1.6T MoE, 1M ctx)</a:t>
            </a:r>
            <a:endParaRPr b="0" lang="en-US" sz="1400" spc="-1" strike="noStrike">
              <a:solidFill>
                <a:srgbClr val="ffffff"/>
              </a:solidFill>
              <a:latin typeface="Arial"/>
            </a:endParaRPr>
          </a:p>
          <a:p>
            <a:pPr defTabSz="457200">
              <a:lnSpc>
                <a:spcPct val="120000"/>
              </a:lnSpc>
              <a:spcAft>
                <a:spcPts val="400"/>
              </a:spcAft>
            </a:pPr>
            <a:r>
              <a:rPr b="0" lang="en-US" sz="1400" spc="-1" strike="noStrike">
                <a:solidFill>
                  <a:srgbClr val="ffffff"/>
                </a:solidFill>
                <a:latin typeface="Consolas"/>
              </a:rPr>
              <a:t>Gemma4, Phi-4 14B</a:t>
            </a:r>
            <a:endParaRPr b="0" lang="en-US" sz="1400" spc="-1" strike="noStrike">
              <a:solidFill>
                <a:srgbClr val="ffffff"/>
              </a:solidFill>
              <a:latin typeface="Arial"/>
            </a:endParaRPr>
          </a:p>
          <a:p>
            <a:pPr defTabSz="457200">
              <a:lnSpc>
                <a:spcPct val="120000"/>
              </a:lnSpc>
              <a:spcAft>
                <a:spcPts val="400"/>
              </a:spcAft>
            </a:pPr>
            <a:endParaRPr b="0" lang="en-US" sz="800" spc="-1" strike="noStrike">
              <a:solidFill>
                <a:srgbClr val="ffffff"/>
              </a:solidFill>
              <a:latin typeface="Arial"/>
            </a:endParaRPr>
          </a:p>
          <a:p>
            <a:pPr defTabSz="457200">
              <a:lnSpc>
                <a:spcPct val="120000"/>
              </a:lnSpc>
              <a:spcAft>
                <a:spcPts val="400"/>
              </a:spcAft>
            </a:pPr>
            <a:r>
              <a:rPr b="0" lang="en-US" sz="1300" spc="-1" strike="noStrike">
                <a:solidFill>
                  <a:srgbClr val="c8d8c0"/>
                </a:solidFill>
                <a:latin typeface="Consolas"/>
              </a:rPr>
              <a:t>• </a:t>
            </a:r>
            <a:r>
              <a:rPr b="0" lang="en-US" sz="1300" spc="-1" strike="noStrike">
                <a:solidFill>
                  <a:srgbClr val="c8d8c0"/>
                </a:solidFill>
                <a:latin typeface="Consolas"/>
              </a:rPr>
              <a:t>Smaller but fast</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c8d8c0"/>
                </a:solidFill>
                <a:latin typeface="Consolas"/>
              </a:rPr>
              <a:t>• </a:t>
            </a:r>
            <a:r>
              <a:rPr b="0" lang="en-US" sz="1300" spc="-1" strike="noStrike">
                <a:solidFill>
                  <a:srgbClr val="c8d8c0"/>
                </a:solidFill>
                <a:latin typeface="Consolas"/>
              </a:rPr>
              <a:t>Uncensored, unlimited</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c8d8c0"/>
                </a:solidFill>
                <a:latin typeface="Consolas"/>
              </a:rPr>
              <a:t>• </a:t>
            </a:r>
            <a:r>
              <a:rPr b="0" lang="en-US" sz="1300" spc="-1" strike="noStrike">
                <a:solidFill>
                  <a:srgbClr val="c8d8c0"/>
                </a:solidFill>
                <a:latin typeface="Consolas"/>
              </a:rPr>
              <a:t>Free (just electricity)</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c8d8c0"/>
                </a:solidFill>
                <a:latin typeface="Consolas"/>
              </a:rPr>
              <a:t>• </a:t>
            </a:r>
            <a:r>
              <a:rPr b="0" lang="en-US" sz="1300" spc="-1" strike="noStrike">
                <a:solidFill>
                  <a:srgbClr val="c8d8c0"/>
                </a:solidFill>
                <a:latin typeface="Consolas"/>
              </a:rPr>
              <a:t>Apache 2.0 / MIT licensed</a:t>
            </a:r>
            <a:endParaRPr b="0" lang="en-US" sz="1300" spc="-1" strike="noStrike">
              <a:solidFill>
                <a:srgbClr val="ffffff"/>
              </a:solidFill>
              <a:latin typeface="Arial"/>
            </a:endParaRPr>
          </a:p>
          <a:p>
            <a:pPr defTabSz="457200">
              <a:lnSpc>
                <a:spcPct val="120000"/>
              </a:lnSpc>
              <a:spcAft>
                <a:spcPts val="400"/>
              </a:spcAft>
            </a:pPr>
            <a:r>
              <a:rPr b="1" lang="en-US" sz="1300" spc="-1" strike="noStrike">
                <a:solidFill>
                  <a:srgbClr val="4ae85a"/>
                </a:solidFill>
                <a:latin typeface="Consolas"/>
              </a:rPr>
              <a:t>• </a:t>
            </a:r>
            <a:r>
              <a:rPr b="1" lang="en-US" sz="1300" spc="-1" strike="noStrike">
                <a:solidFill>
                  <a:srgbClr val="4ae85a"/>
                </a:solidFill>
                <a:latin typeface="Consolas"/>
              </a:rPr>
              <a:t>Runs on DGX Spark!</a:t>
            </a:r>
            <a:endParaRPr b="0" lang="en-US" sz="1300" spc="-1" strike="noStrike">
              <a:solidFill>
                <a:srgbClr val="ffffff"/>
              </a:solidFill>
              <a:latin typeface="Arial"/>
            </a:endParaRPr>
          </a:p>
        </p:txBody>
      </p:sp>
      <p:sp>
        <p:nvSpPr>
          <p:cNvPr id="188" name="TextBox 9"/>
          <p:cNvSpPr/>
          <p:nvPr/>
        </p:nvSpPr>
        <p:spPr>
          <a:xfrm>
            <a:off x="548640" y="6035040"/>
            <a:ext cx="1097244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600" spc="-1" strike="noStrike">
                <a:solidFill>
                  <a:srgbClr val="00ccaa"/>
                </a:solidFill>
                <a:latin typeface="Consolas"/>
              </a:rPr>
              <a:t>Sakana Fugu (orchestrates both) ← bridges the gap</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189" name="Oval 1"/>
          <p:cNvSpPr/>
          <p:nvPr/>
        </p:nvSpPr>
        <p:spPr>
          <a:xfrm>
            <a:off x="109800" y="256932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190" name="Oval 2"/>
          <p:cNvSpPr/>
          <p:nvPr/>
        </p:nvSpPr>
        <p:spPr>
          <a:xfrm>
            <a:off x="9793080" y="9511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91" name="Oval 3"/>
          <p:cNvSpPr/>
          <p:nvPr/>
        </p:nvSpPr>
        <p:spPr>
          <a:xfrm>
            <a:off x="1974960" y="2926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192" name="Oval 4"/>
          <p:cNvSpPr/>
          <p:nvPr/>
        </p:nvSpPr>
        <p:spPr>
          <a:xfrm>
            <a:off x="1014840" y="217620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93" name="Oval 5"/>
          <p:cNvSpPr/>
          <p:nvPr/>
        </p:nvSpPr>
        <p:spPr>
          <a:xfrm>
            <a:off x="2624400" y="18561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94" name="Oval 6"/>
          <p:cNvSpPr/>
          <p:nvPr/>
        </p:nvSpPr>
        <p:spPr>
          <a:xfrm>
            <a:off x="4123800" y="6071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95" name="Oval 7"/>
          <p:cNvSpPr/>
          <p:nvPr/>
        </p:nvSpPr>
        <p:spPr>
          <a:xfrm>
            <a:off x="118800" y="36576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196" name="Oval 8"/>
          <p:cNvSpPr/>
          <p:nvPr/>
        </p:nvSpPr>
        <p:spPr>
          <a:xfrm>
            <a:off x="5203080" y="35676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197" name="Oval 9"/>
          <p:cNvSpPr/>
          <p:nvPr/>
        </p:nvSpPr>
        <p:spPr>
          <a:xfrm>
            <a:off x="1911240" y="21024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198" name="Oval 10"/>
          <p:cNvSpPr/>
          <p:nvPr/>
        </p:nvSpPr>
        <p:spPr>
          <a:xfrm>
            <a:off x="1673280" y="3218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199" name="Oval 11"/>
          <p:cNvSpPr/>
          <p:nvPr/>
        </p:nvSpPr>
        <p:spPr>
          <a:xfrm>
            <a:off x="804600" y="10699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00" name="Oval 12"/>
          <p:cNvSpPr/>
          <p:nvPr/>
        </p:nvSpPr>
        <p:spPr>
          <a:xfrm>
            <a:off x="1764720" y="7315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01" name="Oval 13"/>
          <p:cNvSpPr/>
          <p:nvPr/>
        </p:nvSpPr>
        <p:spPr>
          <a:xfrm>
            <a:off x="11768400" y="8413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02" name="Oval 14"/>
          <p:cNvSpPr/>
          <p:nvPr/>
        </p:nvSpPr>
        <p:spPr>
          <a:xfrm>
            <a:off x="9464040" y="4204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03" name="Oval 15"/>
          <p:cNvSpPr/>
          <p:nvPr/>
        </p:nvSpPr>
        <p:spPr>
          <a:xfrm>
            <a:off x="1490400" y="53964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04" name="TextBox 16"/>
          <p:cNvSpPr/>
          <p:nvPr/>
        </p:nvSpPr>
        <p:spPr>
          <a:xfrm>
            <a:off x="548640" y="274320"/>
            <a:ext cx="73148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d32d2d"/>
                </a:solidFill>
                <a:latin typeface="Consolas"/>
              </a:rPr>
              <a:t>The Three Raptors: MYTHOS</a:t>
            </a:r>
            <a:endParaRPr b="0" lang="en-US" sz="3200" spc="-1" strike="noStrike">
              <a:solidFill>
                <a:srgbClr val="ffffff"/>
              </a:solidFill>
              <a:latin typeface="Arial"/>
            </a:endParaRPr>
          </a:p>
        </p:txBody>
      </p:sp>
      <p:sp>
        <p:nvSpPr>
          <p:cNvPr id="205" name="Rectangle 17"/>
          <p:cNvSpPr/>
          <p:nvPr/>
        </p:nvSpPr>
        <p:spPr>
          <a:xfrm>
            <a:off x="548640" y="914400"/>
            <a:ext cx="2742840" cy="101160"/>
          </a:xfrm>
          <a:prstGeom prst="rect">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6" name="TextBox 18"/>
          <p:cNvSpPr/>
          <p:nvPr/>
        </p:nvSpPr>
        <p:spPr>
          <a:xfrm>
            <a:off x="548640" y="1280160"/>
            <a:ext cx="6857640" cy="5028840"/>
          </a:xfrm>
          <a:prstGeom prst="rect">
            <a:avLst/>
          </a:prstGeom>
          <a:noFill/>
          <a:ln w="0">
            <a:noFill/>
          </a:ln>
        </p:spPr>
        <p:style>
          <a:lnRef idx="0"/>
          <a:fillRef idx="0"/>
          <a:effectRef idx="0"/>
          <a:fontRef idx="minor"/>
        </p:style>
        <p:txBody>
          <a:bodyPr lIns="90000" rIns="90000" tIns="45000" bIns="45000" anchor="t">
            <a:normAutofit fontScale="93333" lnSpcReduction="10000"/>
          </a:bodyPr>
          <a:p>
            <a:pPr defTabSz="457200">
              <a:lnSpc>
                <a:spcPct val="115000"/>
              </a:lnSpc>
              <a:spcAft>
                <a:spcPts val="400"/>
              </a:spcAft>
            </a:pPr>
            <a:r>
              <a:rPr b="1" lang="en-US" sz="1800" spc="-1" strike="noStrike">
                <a:solidFill>
                  <a:srgbClr val="ffffff"/>
                </a:solidFill>
                <a:latin typeface="Consolas"/>
              </a:rPr>
              <a:t>Claude Mythos 5  —  Anthropic's apex predator</a:t>
            </a:r>
            <a:endParaRPr b="0" lang="en-US" sz="1800" spc="-1" strike="noStrike">
              <a:solidFill>
                <a:srgbClr val="ffffff"/>
              </a:solidFill>
              <a:latin typeface="Arial"/>
            </a:endParaRPr>
          </a:p>
          <a:p>
            <a:pPr defTabSz="457200">
              <a:lnSpc>
                <a:spcPct val="115000"/>
              </a:lnSpc>
              <a:spcAft>
                <a:spcPts val="400"/>
              </a:spcAft>
            </a:pPr>
            <a:endParaRPr b="0" lang="en-US" sz="800" spc="-1" strike="noStrike">
              <a:solidFill>
                <a:srgbClr val="ffffff"/>
              </a:solidFill>
              <a:latin typeface="Arial"/>
            </a:endParaRPr>
          </a:p>
          <a:p>
            <a:pPr defTabSz="457200">
              <a:lnSpc>
                <a:spcPct val="115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~8 trillion parameters</a:t>
            </a:r>
            <a:endParaRPr b="0" lang="en-US" sz="1500" spc="-1" strike="noStrike">
              <a:solidFill>
                <a:srgbClr val="ffffff"/>
              </a:solidFill>
              <a:latin typeface="Arial"/>
            </a:endParaRPr>
          </a:p>
          <a:p>
            <a:pPr defTabSz="457200">
              <a:lnSpc>
                <a:spcPct val="115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Designed specifically to find and exploit software vulnerabilities</a:t>
            </a:r>
            <a:endParaRPr b="0" lang="en-US" sz="1500" spc="-1" strike="noStrike">
              <a:solidFill>
                <a:srgbClr val="ffffff"/>
              </a:solidFill>
              <a:latin typeface="Arial"/>
            </a:endParaRPr>
          </a:p>
          <a:p>
            <a:pPr defTabSz="457200">
              <a:lnSpc>
                <a:spcPct val="115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Found vulnerabilities in "every major OS and every major web browser"</a:t>
            </a:r>
            <a:endParaRPr b="0" lang="en-US" sz="1500" spc="-1" strike="noStrike">
              <a:solidFill>
                <a:srgbClr val="ffffff"/>
              </a:solidFill>
              <a:latin typeface="Arial"/>
            </a:endParaRPr>
          </a:p>
          <a:p>
            <a:pPr defTabSz="457200">
              <a:lnSpc>
                <a:spcPct val="115000"/>
              </a:lnSpc>
              <a:spcAft>
                <a:spcPts val="400"/>
              </a:spcAft>
            </a:pPr>
            <a:r>
              <a:rPr b="0" lang="en-US" sz="1500" spc="-1" strike="noStrike">
                <a:solidFill>
                  <a:srgbClr val="4ae85a"/>
                </a:solidFill>
                <a:latin typeface="Consolas"/>
              </a:rPr>
              <a:t>• </a:t>
            </a:r>
            <a:r>
              <a:rPr b="0" lang="en-US" sz="1500" spc="-1" strike="noStrike">
                <a:solidFill>
                  <a:srgbClr val="4ae85a"/>
                </a:solidFill>
                <a:latin typeface="Consolas"/>
              </a:rPr>
              <a:t>Mozilla patched 271 Firefox vulnerabilities using Mythos Preview</a:t>
            </a:r>
            <a:endParaRPr b="0" lang="en-US" sz="1500" spc="-1" strike="noStrike">
              <a:solidFill>
                <a:srgbClr val="ffffff"/>
              </a:solidFill>
              <a:latin typeface="Arial"/>
            </a:endParaRPr>
          </a:p>
          <a:p>
            <a:pPr defTabSz="457200">
              <a:lnSpc>
                <a:spcPct val="115000"/>
              </a:lnSpc>
              <a:spcAft>
                <a:spcPts val="400"/>
              </a:spcAft>
            </a:pPr>
            <a:r>
              <a:rPr b="0" lang="en-US" sz="1500" spc="-1" strike="noStrike">
                <a:solidFill>
                  <a:srgbClr val="f5a623"/>
                </a:solidFill>
                <a:latin typeface="Consolas"/>
              </a:rPr>
              <a:t>• </a:t>
            </a:r>
            <a:r>
              <a:rPr b="0" lang="en-US" sz="1500" spc="-1" strike="noStrike">
                <a:solidFill>
                  <a:srgbClr val="f5a623"/>
                </a:solidFill>
                <a:latin typeface="Consolas"/>
              </a:rPr>
              <a:t>Used to create a memory corruption exploit for Apple M5 chips</a:t>
            </a:r>
            <a:endParaRPr b="0" lang="en-US" sz="1500" spc="-1" strike="noStrike">
              <a:solidFill>
                <a:srgbClr val="ffffff"/>
              </a:solidFill>
              <a:latin typeface="Arial"/>
            </a:endParaRPr>
          </a:p>
          <a:p>
            <a:pPr defTabSz="457200">
              <a:lnSpc>
                <a:spcPct val="115000"/>
              </a:lnSpc>
              <a:spcAft>
                <a:spcPts val="400"/>
              </a:spcAft>
            </a:pPr>
            <a:r>
              <a:rPr b="1" lang="en-US" sz="1500" spc="-1" strike="noStrike">
                <a:solidFill>
                  <a:srgbClr val="d32d2d"/>
                </a:solidFill>
                <a:latin typeface="Consolas"/>
              </a:rPr>
              <a:t>• </a:t>
            </a:r>
            <a:r>
              <a:rPr b="1" lang="en-US" sz="1500" spc="-1" strike="noStrike">
                <a:solidFill>
                  <a:srgbClr val="d32d2d"/>
                </a:solidFill>
                <a:latin typeface="Consolas"/>
              </a:rPr>
              <a:t>NOT publicly available — Project Glasswing access only</a:t>
            </a:r>
            <a:endParaRPr b="0" lang="en-US" sz="1500" spc="-1" strike="noStrike">
              <a:solidFill>
                <a:srgbClr val="ffffff"/>
              </a:solidFill>
              <a:latin typeface="Arial"/>
            </a:endParaRPr>
          </a:p>
          <a:p>
            <a:pPr defTabSz="457200">
              <a:lnSpc>
                <a:spcPct val="115000"/>
              </a:lnSpc>
              <a:spcAft>
                <a:spcPts val="400"/>
              </a:spcAft>
            </a:pPr>
            <a:r>
              <a:rPr b="1" lang="en-US" sz="1500" spc="-1" strike="noStrike">
                <a:solidFill>
                  <a:srgbClr val="d32d2d"/>
                </a:solidFill>
                <a:latin typeface="Consolas"/>
              </a:rPr>
              <a:t>• </a:t>
            </a:r>
            <a:r>
              <a:rPr b="1" lang="en-US" sz="1500" spc="-1" strike="noStrike">
                <a:solidFill>
                  <a:srgbClr val="d32d2d"/>
                </a:solidFill>
                <a:latin typeface="Consolas"/>
              </a:rPr>
              <a:t>US government imposed export controls (June 2026)</a:t>
            </a:r>
            <a:endParaRPr b="0" lang="en-US" sz="1500" spc="-1" strike="noStrike">
              <a:solidFill>
                <a:srgbClr val="ffffff"/>
              </a:solidFill>
              <a:latin typeface="Arial"/>
            </a:endParaRPr>
          </a:p>
          <a:p>
            <a:pPr defTabSz="457200">
              <a:lnSpc>
                <a:spcPct val="115000"/>
              </a:lnSpc>
              <a:spcAft>
                <a:spcPts val="400"/>
              </a:spcAft>
            </a:pPr>
            <a:r>
              <a:rPr b="0" lang="en-US" sz="1500" spc="-1" strike="noStrike">
                <a:solidFill>
                  <a:srgbClr val="ff4488"/>
                </a:solidFill>
                <a:latin typeface="Consolas"/>
              </a:rPr>
              <a:t>• </a:t>
            </a:r>
            <a:r>
              <a:rPr b="0" lang="en-US" sz="1500" spc="-1" strike="noStrike">
                <a:solidFill>
                  <a:srgbClr val="ff4488"/>
                </a:solidFill>
                <a:latin typeface="Consolas"/>
              </a:rPr>
              <a:t>The NSA used it anyway, despite DoD blacklisting Anthropic</a:t>
            </a:r>
            <a:endParaRPr b="0" lang="en-US" sz="1500" spc="-1" strike="noStrike">
              <a:solidFill>
                <a:srgbClr val="ffffff"/>
              </a:solidFill>
              <a:latin typeface="Arial"/>
            </a:endParaRPr>
          </a:p>
          <a:p>
            <a:pPr defTabSz="457200">
              <a:lnSpc>
                <a:spcPct val="115000"/>
              </a:lnSpc>
              <a:spcAft>
                <a:spcPts val="400"/>
              </a:spcAft>
            </a:pPr>
            <a:endParaRPr b="0" lang="en-US" sz="800" spc="-1" strike="noStrike">
              <a:solidFill>
                <a:srgbClr val="ffffff"/>
              </a:solidFill>
              <a:latin typeface="Arial"/>
            </a:endParaRPr>
          </a:p>
          <a:p>
            <a:pPr defTabSz="457200">
              <a:lnSpc>
                <a:spcPct val="115000"/>
              </a:lnSpc>
              <a:spcAft>
                <a:spcPts val="400"/>
              </a:spcAft>
            </a:pPr>
            <a:r>
              <a:rPr b="1" lang="en-US" sz="1500" spc="-1" strike="noStrike">
                <a:solidFill>
                  <a:srgbClr val="4ae85a"/>
                </a:solidFill>
                <a:latin typeface="Consolas"/>
              </a:rPr>
              <a:t>"The government was so scared of this model they classified it."</a:t>
            </a:r>
            <a:endParaRPr b="0" lang="en-US" sz="1500" spc="-1" strike="noStrike">
              <a:solidFill>
                <a:srgbClr val="ffffff"/>
              </a:solidFill>
              <a:latin typeface="Arial"/>
            </a:endParaRPr>
          </a:p>
          <a:p>
            <a:pPr defTabSz="457200">
              <a:lnSpc>
                <a:spcPct val="115000"/>
              </a:lnSpc>
              <a:spcAft>
                <a:spcPts val="400"/>
              </a:spcAft>
            </a:pPr>
            <a:r>
              <a:rPr b="0" lang="en-US" sz="1500" spc="-1" strike="noStrike">
                <a:solidFill>
                  <a:srgbClr val="4ae85a"/>
                </a:solidFill>
                <a:latin typeface="Consolas"/>
              </a:rPr>
              <a:t>"That tells you everything you need to know about its capability."</a:t>
            </a:r>
            <a:endParaRPr b="0" lang="en-US" sz="1500" spc="-1" strike="noStrike">
              <a:solidFill>
                <a:srgbClr val="ffffff"/>
              </a:solidFill>
              <a:latin typeface="Arial"/>
            </a:endParaRPr>
          </a:p>
        </p:txBody>
      </p:sp>
      <p:sp>
        <p:nvSpPr>
          <p:cNvPr id="207" name="TextBox 19"/>
          <p:cNvSpPr/>
          <p:nvPr/>
        </p:nvSpPr>
        <p:spPr>
          <a:xfrm>
            <a:off x="548640" y="6400800"/>
            <a:ext cx="7314840" cy="365400"/>
          </a:xfrm>
          <a:prstGeom prst="rect">
            <a:avLst/>
          </a:prstGeom>
          <a:noFill/>
          <a:ln w="0">
            <a:noFill/>
          </a:ln>
        </p:spPr>
        <p:style>
          <a:lnRef idx="0"/>
          <a:fillRef idx="0"/>
          <a:effectRef idx="0"/>
          <a:fontRef idx="minor"/>
        </p:style>
        <p:txBody>
          <a:bodyPr lIns="90000" rIns="90000" tIns="45000" bIns="45000" anchor="t">
            <a:normAutofit fontScale="87222"/>
          </a:bodyPr>
          <a:p>
            <a:pPr defTabSz="457200">
              <a:lnSpc>
                <a:spcPct val="100000"/>
              </a:lnSpc>
            </a:pPr>
            <a:r>
              <a:rPr b="0" lang="en-US" sz="1000" spc="-1" strike="noStrike">
                <a:solidFill>
                  <a:srgbClr val="708070"/>
                </a:solidFill>
                <a:latin typeface="Consolas"/>
              </a:rPr>
              <a:t>Caveat: Opus 4.6 found many bugs first; removing the 2 most exploitable dropped Mythos success from 72% to &lt;5%. Still impressive — but the headline numbers have marketing spin.</a:t>
            </a:r>
            <a:endParaRPr b="0" lang="en-US" sz="1000" spc="-1" strike="noStrike">
              <a:solidFill>
                <a:srgbClr val="ffffff"/>
              </a:solidFill>
              <a:latin typeface="Arial"/>
            </a:endParaRPr>
          </a:p>
        </p:txBody>
      </p:sp>
      <p:pic>
        <p:nvPicPr>
          <p:cNvPr id="208" name="Picture 20" descr="trex_silhouette_faded.png"/>
          <p:cNvPicPr/>
          <p:nvPr/>
        </p:nvPicPr>
        <p:blipFill>
          <a:blip r:embed="rId1"/>
          <a:stretch/>
        </p:blipFill>
        <p:spPr>
          <a:xfrm>
            <a:off x="7772400" y="731520"/>
            <a:ext cx="4388760" cy="438876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209" name="Oval 1"/>
          <p:cNvSpPr/>
          <p:nvPr/>
        </p:nvSpPr>
        <p:spPr>
          <a:xfrm>
            <a:off x="109800" y="256932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10" name="Oval 2"/>
          <p:cNvSpPr/>
          <p:nvPr/>
        </p:nvSpPr>
        <p:spPr>
          <a:xfrm>
            <a:off x="9793080" y="9511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11" name="Oval 3"/>
          <p:cNvSpPr/>
          <p:nvPr/>
        </p:nvSpPr>
        <p:spPr>
          <a:xfrm>
            <a:off x="1974960" y="2926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12" name="Oval 4"/>
          <p:cNvSpPr/>
          <p:nvPr/>
        </p:nvSpPr>
        <p:spPr>
          <a:xfrm>
            <a:off x="1014840" y="217620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13" name="Oval 5"/>
          <p:cNvSpPr/>
          <p:nvPr/>
        </p:nvSpPr>
        <p:spPr>
          <a:xfrm>
            <a:off x="2624400" y="18561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14" name="Oval 6"/>
          <p:cNvSpPr/>
          <p:nvPr/>
        </p:nvSpPr>
        <p:spPr>
          <a:xfrm>
            <a:off x="4123800" y="6071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15" name="Oval 7"/>
          <p:cNvSpPr/>
          <p:nvPr/>
        </p:nvSpPr>
        <p:spPr>
          <a:xfrm>
            <a:off x="118800" y="36576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216" name="Oval 8"/>
          <p:cNvSpPr/>
          <p:nvPr/>
        </p:nvSpPr>
        <p:spPr>
          <a:xfrm>
            <a:off x="5203080" y="35676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17" name="Oval 9"/>
          <p:cNvSpPr/>
          <p:nvPr/>
        </p:nvSpPr>
        <p:spPr>
          <a:xfrm>
            <a:off x="1911240" y="21024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218" name="Oval 10"/>
          <p:cNvSpPr/>
          <p:nvPr/>
        </p:nvSpPr>
        <p:spPr>
          <a:xfrm>
            <a:off x="1673280" y="3218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19" name="Oval 11"/>
          <p:cNvSpPr/>
          <p:nvPr/>
        </p:nvSpPr>
        <p:spPr>
          <a:xfrm>
            <a:off x="804600" y="10699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20" name="Oval 12"/>
          <p:cNvSpPr/>
          <p:nvPr/>
        </p:nvSpPr>
        <p:spPr>
          <a:xfrm>
            <a:off x="1764720" y="7315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21" name="Oval 13"/>
          <p:cNvSpPr/>
          <p:nvPr/>
        </p:nvSpPr>
        <p:spPr>
          <a:xfrm>
            <a:off x="11768400" y="8413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22" name="Oval 14"/>
          <p:cNvSpPr/>
          <p:nvPr/>
        </p:nvSpPr>
        <p:spPr>
          <a:xfrm>
            <a:off x="9464040" y="4204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23" name="Oval 15"/>
          <p:cNvSpPr/>
          <p:nvPr/>
        </p:nvSpPr>
        <p:spPr>
          <a:xfrm>
            <a:off x="1490400" y="53964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24" name="TextBox 16"/>
          <p:cNvSpPr/>
          <p:nvPr/>
        </p:nvSpPr>
        <p:spPr>
          <a:xfrm>
            <a:off x="548640" y="274320"/>
            <a:ext cx="73148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c89b3c"/>
                </a:solidFill>
                <a:latin typeface="Consolas"/>
              </a:rPr>
              <a:t>The Three Raptors: FABLE 5</a:t>
            </a:r>
            <a:endParaRPr b="0" lang="en-US" sz="3200" spc="-1" strike="noStrike">
              <a:solidFill>
                <a:srgbClr val="ffffff"/>
              </a:solidFill>
              <a:latin typeface="Arial"/>
            </a:endParaRPr>
          </a:p>
        </p:txBody>
      </p:sp>
      <p:sp>
        <p:nvSpPr>
          <p:cNvPr id="225" name="Rectangle 17"/>
          <p:cNvSpPr/>
          <p:nvPr/>
        </p:nvSpPr>
        <p:spPr>
          <a:xfrm>
            <a:off x="548640" y="914400"/>
            <a:ext cx="2742840" cy="101160"/>
          </a:xfrm>
          <a:prstGeom prst="rect">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6" name="TextBox 18"/>
          <p:cNvSpPr/>
          <p:nvPr/>
        </p:nvSpPr>
        <p:spPr>
          <a:xfrm>
            <a:off x="548640" y="1280160"/>
            <a:ext cx="6857640" cy="5028840"/>
          </a:xfrm>
          <a:prstGeom prst="rect">
            <a:avLst/>
          </a:prstGeom>
          <a:noFill/>
          <a:ln w="0">
            <a:noFill/>
          </a:ln>
        </p:spPr>
        <p:style>
          <a:lnRef idx="0"/>
          <a:fillRef idx="0"/>
          <a:effectRef idx="0"/>
          <a:fontRef idx="minor"/>
        </p:style>
        <p:txBody>
          <a:bodyPr lIns="90000" rIns="90000" tIns="45000" bIns="45000" anchor="t">
            <a:normAutofit fontScale="93333"/>
          </a:bodyPr>
          <a:p>
            <a:pPr defTabSz="457200">
              <a:lnSpc>
                <a:spcPct val="115000"/>
              </a:lnSpc>
              <a:spcAft>
                <a:spcPts val="400"/>
              </a:spcAft>
            </a:pPr>
            <a:r>
              <a:rPr b="1" lang="en-US" sz="1800" spc="-1" strike="noStrike">
                <a:solidFill>
                  <a:srgbClr val="ffffff"/>
                </a:solidFill>
                <a:latin typeface="Consolas"/>
              </a:rPr>
              <a:t>Claude Fable 5  —  Mythos with a muzzle</a:t>
            </a:r>
            <a:endParaRPr b="0" lang="en-US" sz="1800" spc="-1" strike="noStrike">
              <a:solidFill>
                <a:srgbClr val="ffffff"/>
              </a:solidFill>
              <a:latin typeface="Arial"/>
            </a:endParaRPr>
          </a:p>
          <a:p>
            <a:pPr defTabSz="457200">
              <a:lnSpc>
                <a:spcPct val="115000"/>
              </a:lnSpc>
              <a:spcAft>
                <a:spcPts val="400"/>
              </a:spcAft>
            </a:pPr>
            <a:endParaRPr b="0" lang="en-US" sz="800" spc="-1" strike="noStrike">
              <a:solidFill>
                <a:srgbClr val="ffffff"/>
              </a:solidFill>
              <a:latin typeface="Arial"/>
            </a:endParaRPr>
          </a:p>
          <a:p>
            <a:pPr defTabSz="457200">
              <a:lnSpc>
                <a:spcPct val="115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~5 trillion parameters (same architecture, safeguards added)</a:t>
            </a:r>
            <a:endParaRPr b="0" lang="en-US" sz="1500" spc="-1" strike="noStrike">
              <a:solidFill>
                <a:srgbClr val="ffffff"/>
              </a:solidFill>
              <a:latin typeface="Arial"/>
            </a:endParaRPr>
          </a:p>
          <a:p>
            <a:pPr defTabSz="457200">
              <a:lnSpc>
                <a:spcPct val="115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When Fable 5's classifiers detect cybersecurity/biology/distillation queries:</a:t>
            </a:r>
            <a:endParaRPr b="0" lang="en-US" sz="1500" spc="-1" strike="noStrike">
              <a:solidFill>
                <a:srgbClr val="ffffff"/>
              </a:solidFill>
              <a:latin typeface="Arial"/>
            </a:endParaRPr>
          </a:p>
          <a:p>
            <a:pPr defTabSz="457200">
              <a:lnSpc>
                <a:spcPct val="115000"/>
              </a:lnSpc>
              <a:spcAft>
                <a:spcPts val="400"/>
              </a:spcAft>
            </a:pPr>
            <a:r>
              <a:rPr b="1" lang="en-US" sz="1500" spc="-1" strike="noStrike">
                <a:solidFill>
                  <a:srgbClr val="c89b3c"/>
                </a:solidFill>
                <a:latin typeface="Consolas"/>
              </a:rPr>
              <a:t>    → </a:t>
            </a:r>
            <a:r>
              <a:rPr b="1" lang="en-US" sz="1500" spc="-1" strike="noStrike">
                <a:solidFill>
                  <a:srgbClr val="c89b3c"/>
                </a:solidFill>
                <a:latin typeface="Consolas"/>
              </a:rPr>
              <a:t>silently downgrades to Claude Opus (the less capable model)</a:t>
            </a:r>
            <a:endParaRPr b="0" lang="en-US" sz="1500" spc="-1" strike="noStrike">
              <a:solidFill>
                <a:srgbClr val="ffffff"/>
              </a:solidFill>
              <a:latin typeface="Arial"/>
            </a:endParaRPr>
          </a:p>
          <a:p>
            <a:pPr defTabSz="457200">
              <a:lnSpc>
                <a:spcPct val="115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Available on Anthropic's higher-tier subscription plans (July 2026)</a:t>
            </a:r>
            <a:endParaRPr b="0" lang="en-US" sz="1500" spc="-1" strike="noStrike">
              <a:solidFill>
                <a:srgbClr val="ffffff"/>
              </a:solidFill>
              <a:latin typeface="Arial"/>
            </a:endParaRPr>
          </a:p>
          <a:p>
            <a:pPr defTabSz="457200">
              <a:lnSpc>
                <a:spcPct val="115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Also subject to export controls (briefly restricted June 12, restored July 1)</a:t>
            </a:r>
            <a:endParaRPr b="0" lang="en-US" sz="1500" spc="-1" strike="noStrike">
              <a:solidFill>
                <a:srgbClr val="ffffff"/>
              </a:solidFill>
              <a:latin typeface="Arial"/>
            </a:endParaRPr>
          </a:p>
          <a:p>
            <a:pPr defTabSz="457200">
              <a:lnSpc>
                <a:spcPct val="115000"/>
              </a:lnSpc>
              <a:spcAft>
                <a:spcPts val="400"/>
              </a:spcAft>
            </a:pPr>
            <a:endParaRPr b="0" lang="en-US" sz="800" spc="-1" strike="noStrike">
              <a:solidFill>
                <a:srgbClr val="ffffff"/>
              </a:solidFill>
              <a:latin typeface="Arial"/>
            </a:endParaRPr>
          </a:p>
          <a:p>
            <a:pPr defTabSz="457200">
              <a:lnSpc>
                <a:spcPct val="115000"/>
              </a:lnSpc>
              <a:spcAft>
                <a:spcPts val="400"/>
              </a:spcAft>
            </a:pPr>
            <a:r>
              <a:rPr b="1" lang="en-US" sz="1500" spc="-1" strike="noStrike">
                <a:solidFill>
                  <a:srgbClr val="00ccaa"/>
                </a:solidFill>
                <a:latin typeface="Consolas"/>
              </a:rPr>
              <a:t>The clever part:  it's the same raptor, but with a shock collar.</a:t>
            </a:r>
            <a:endParaRPr b="0" lang="en-US" sz="1500" spc="-1" strike="noStrike">
              <a:solidFill>
                <a:srgbClr val="ffffff"/>
              </a:solidFill>
              <a:latin typeface="Arial"/>
            </a:endParaRPr>
          </a:p>
          <a:p>
            <a:pPr defTabSz="457200">
              <a:lnSpc>
                <a:spcPct val="115000"/>
              </a:lnSpc>
              <a:spcAft>
                <a:spcPts val="400"/>
              </a:spcAft>
            </a:pPr>
            <a:r>
              <a:rPr b="1" lang="en-US" sz="1500" spc="-1" strike="noStrike">
                <a:solidFill>
                  <a:srgbClr val="4ae85a"/>
                </a:solidFill>
                <a:latin typeface="Consolas"/>
              </a:rPr>
              <a:t>The hacker part:  the shock collar only triggers on *detected* queries.</a:t>
            </a:r>
            <a:endParaRPr b="0" lang="en-US" sz="1500" spc="-1" strike="noStrike">
              <a:solidFill>
                <a:srgbClr val="ffffff"/>
              </a:solidFill>
              <a:latin typeface="Arial"/>
            </a:endParaRPr>
          </a:p>
          <a:p>
            <a:pPr defTabSz="457200">
              <a:lnSpc>
                <a:spcPct val="115000"/>
              </a:lnSpc>
              <a:spcAft>
                <a:spcPts val="400"/>
              </a:spcAft>
            </a:pPr>
            <a:endParaRPr b="0" lang="en-US" sz="800" spc="-1" strike="noStrike">
              <a:solidFill>
                <a:srgbClr val="ffffff"/>
              </a:solidFill>
              <a:latin typeface="Arial"/>
            </a:endParaRPr>
          </a:p>
          <a:p>
            <a:pPr defTabSz="457200">
              <a:lnSpc>
                <a:spcPct val="115000"/>
              </a:lnSpc>
              <a:spcAft>
                <a:spcPts val="400"/>
              </a:spcAft>
            </a:pPr>
            <a:r>
              <a:rPr b="1" lang="en-US" sz="1500" spc="-1" strike="noStrike">
                <a:solidFill>
                  <a:srgbClr val="f5a623"/>
                </a:solidFill>
                <a:latin typeface="Consolas"/>
              </a:rPr>
              <a:t>"Fable 5 is the raptor they let you pet at the zoo."</a:t>
            </a:r>
            <a:endParaRPr b="0" lang="en-US" sz="1500" spc="-1" strike="noStrike">
              <a:solidFill>
                <a:srgbClr val="ffffff"/>
              </a:solidFill>
              <a:latin typeface="Arial"/>
            </a:endParaRPr>
          </a:p>
          <a:p>
            <a:pPr defTabSz="457200">
              <a:lnSpc>
                <a:spcPct val="115000"/>
              </a:lnSpc>
              <a:spcAft>
                <a:spcPts val="400"/>
              </a:spcAft>
            </a:pPr>
            <a:r>
              <a:rPr b="0" lang="en-US" sz="1500" spc="-1" strike="noStrike">
                <a:solidFill>
                  <a:srgbClr val="f5a623"/>
                </a:solidFill>
                <a:latin typeface="Consolas"/>
              </a:rPr>
              <a:t>"Same teeth. Shorter leash."</a:t>
            </a:r>
            <a:endParaRPr b="0" lang="en-US" sz="1500" spc="-1" strike="noStrike">
              <a:solidFill>
                <a:srgbClr val="ffffff"/>
              </a:solidFill>
              <a:latin typeface="Arial"/>
            </a:endParaRPr>
          </a:p>
        </p:txBody>
      </p:sp>
      <p:pic>
        <p:nvPicPr>
          <p:cNvPr id="227" name="Picture 19" descr="raptor_shock_collar_faded.png"/>
          <p:cNvPicPr/>
          <p:nvPr/>
        </p:nvPicPr>
        <p:blipFill>
          <a:blip r:embed="rId1"/>
          <a:stretch/>
        </p:blipFill>
        <p:spPr>
          <a:xfrm>
            <a:off x="7772400" y="731520"/>
            <a:ext cx="4388760" cy="438876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228" name="Oval 1"/>
          <p:cNvSpPr/>
          <p:nvPr/>
        </p:nvSpPr>
        <p:spPr>
          <a:xfrm>
            <a:off x="109800" y="256932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29" name="Oval 2"/>
          <p:cNvSpPr/>
          <p:nvPr/>
        </p:nvSpPr>
        <p:spPr>
          <a:xfrm>
            <a:off x="9793080" y="9511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30" name="Oval 3"/>
          <p:cNvSpPr/>
          <p:nvPr/>
        </p:nvSpPr>
        <p:spPr>
          <a:xfrm>
            <a:off x="1974960" y="2926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31" name="Oval 4"/>
          <p:cNvSpPr/>
          <p:nvPr/>
        </p:nvSpPr>
        <p:spPr>
          <a:xfrm>
            <a:off x="1014840" y="217620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32" name="Oval 5"/>
          <p:cNvSpPr/>
          <p:nvPr/>
        </p:nvSpPr>
        <p:spPr>
          <a:xfrm>
            <a:off x="2624400" y="18561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33" name="Oval 6"/>
          <p:cNvSpPr/>
          <p:nvPr/>
        </p:nvSpPr>
        <p:spPr>
          <a:xfrm>
            <a:off x="4123800" y="6071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34" name="Oval 7"/>
          <p:cNvSpPr/>
          <p:nvPr/>
        </p:nvSpPr>
        <p:spPr>
          <a:xfrm>
            <a:off x="118800" y="36576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235" name="Oval 8"/>
          <p:cNvSpPr/>
          <p:nvPr/>
        </p:nvSpPr>
        <p:spPr>
          <a:xfrm>
            <a:off x="5203080" y="35676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36" name="Oval 9"/>
          <p:cNvSpPr/>
          <p:nvPr/>
        </p:nvSpPr>
        <p:spPr>
          <a:xfrm>
            <a:off x="1911240" y="21024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237" name="Oval 10"/>
          <p:cNvSpPr/>
          <p:nvPr/>
        </p:nvSpPr>
        <p:spPr>
          <a:xfrm>
            <a:off x="1673280" y="3218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38" name="Oval 11"/>
          <p:cNvSpPr/>
          <p:nvPr/>
        </p:nvSpPr>
        <p:spPr>
          <a:xfrm>
            <a:off x="804600" y="10699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39" name="Oval 12"/>
          <p:cNvSpPr/>
          <p:nvPr/>
        </p:nvSpPr>
        <p:spPr>
          <a:xfrm>
            <a:off x="1764720" y="7315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40" name="Oval 13"/>
          <p:cNvSpPr/>
          <p:nvPr/>
        </p:nvSpPr>
        <p:spPr>
          <a:xfrm>
            <a:off x="11768400" y="8413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241" name="Oval 14"/>
          <p:cNvSpPr/>
          <p:nvPr/>
        </p:nvSpPr>
        <p:spPr>
          <a:xfrm>
            <a:off x="9464040" y="4204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42" name="Oval 15"/>
          <p:cNvSpPr/>
          <p:nvPr/>
        </p:nvSpPr>
        <p:spPr>
          <a:xfrm>
            <a:off x="1490400" y="53964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243" name="TextBox 16"/>
          <p:cNvSpPr/>
          <p:nvPr/>
        </p:nvSpPr>
        <p:spPr>
          <a:xfrm>
            <a:off x="548640" y="274320"/>
            <a:ext cx="73148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006dd5"/>
                </a:solidFill>
                <a:latin typeface="Consolas"/>
              </a:rPr>
              <a:t>The Three Raptors: FUGU</a:t>
            </a:r>
            <a:endParaRPr b="0" lang="en-US" sz="3200" spc="-1" strike="noStrike">
              <a:solidFill>
                <a:srgbClr val="ffffff"/>
              </a:solidFill>
              <a:latin typeface="Arial"/>
            </a:endParaRPr>
          </a:p>
        </p:txBody>
      </p:sp>
      <p:sp>
        <p:nvSpPr>
          <p:cNvPr id="244" name="Rectangle 17"/>
          <p:cNvSpPr/>
          <p:nvPr/>
        </p:nvSpPr>
        <p:spPr>
          <a:xfrm>
            <a:off x="548640" y="914400"/>
            <a:ext cx="2742840" cy="101160"/>
          </a:xfrm>
          <a:prstGeom prst="rect">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5" name="TextBox 18"/>
          <p:cNvSpPr/>
          <p:nvPr/>
        </p:nvSpPr>
        <p:spPr>
          <a:xfrm>
            <a:off x="548640" y="1280160"/>
            <a:ext cx="6857640" cy="5028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10000"/>
              </a:lnSpc>
              <a:spcAft>
                <a:spcPts val="400"/>
              </a:spcAft>
            </a:pPr>
            <a:r>
              <a:rPr b="1" lang="en-US" sz="1800" spc="-1" strike="noStrike">
                <a:solidFill>
                  <a:srgbClr val="ffffff"/>
                </a:solidFill>
                <a:latin typeface="Consolas"/>
              </a:rPr>
              <a:t>Sakana Fugu  —  The pack hunter (from Japan)</a:t>
            </a:r>
            <a:endParaRPr b="0" lang="en-US" sz="1800" spc="-1" strike="noStrike">
              <a:solidFill>
                <a:srgbClr val="ffffff"/>
              </a:solidFill>
              <a:latin typeface="Arial"/>
            </a:endParaRPr>
          </a:p>
          <a:p>
            <a:pPr defTabSz="457200">
              <a:lnSpc>
                <a:spcPct val="110000"/>
              </a:lnSpc>
              <a:spcAft>
                <a:spcPts val="400"/>
              </a:spcAft>
            </a:pPr>
            <a:endParaRPr b="0" lang="en-US" sz="800" spc="-1" strike="noStrike">
              <a:solidFill>
                <a:srgbClr val="ffffff"/>
              </a:solidFill>
              <a:latin typeface="Arial"/>
            </a:endParaRPr>
          </a:p>
          <a:p>
            <a:pPr defTabSz="457200">
              <a:lnSpc>
                <a:spcPct val="110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Not one big model — a multi-agent orchestrator</a:t>
            </a:r>
            <a:endParaRPr b="0" lang="en-US" sz="1500" spc="-1" strike="noStrike">
              <a:solidFill>
                <a:srgbClr val="ffffff"/>
              </a:solidFill>
              <a:latin typeface="Arial"/>
            </a:endParaRPr>
          </a:p>
          <a:p>
            <a:pPr defTabSz="457200">
              <a:lnSpc>
                <a:spcPct val="110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Dynamically routes tasks to the best model in its agent pool</a:t>
            </a:r>
            <a:endParaRPr b="0" lang="en-US" sz="1500" spc="-1" strike="noStrike">
              <a:solidFill>
                <a:srgbClr val="ffffff"/>
              </a:solidFill>
              <a:latin typeface="Arial"/>
            </a:endParaRPr>
          </a:p>
          <a:p>
            <a:pPr defTabSz="457200">
              <a:lnSpc>
                <a:spcPct val="110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Fugu (everyday) and Fugu Ultra (maximum quality, deep multi-step)</a:t>
            </a:r>
            <a:endParaRPr b="0" lang="en-US" sz="1500" spc="-1" strike="noStrike">
              <a:solidFill>
                <a:srgbClr val="ffffff"/>
              </a:solidFill>
              <a:latin typeface="Arial"/>
            </a:endParaRPr>
          </a:p>
          <a:p>
            <a:pPr defTabSz="457200">
              <a:lnSpc>
                <a:spcPct val="110000"/>
              </a:lnSpc>
              <a:spcAft>
                <a:spcPts val="400"/>
              </a:spcAft>
            </a:pPr>
            <a:r>
              <a:rPr b="0" lang="en-US" sz="1500" spc="-1" strike="noStrike">
                <a:solidFill>
                  <a:srgbClr val="c8d8c0"/>
                </a:solidFill>
                <a:latin typeface="Consolas"/>
              </a:rPr>
              <a:t>• </a:t>
            </a:r>
            <a:r>
              <a:rPr b="0" lang="en-US" sz="1500" spc="-1" strike="noStrike">
                <a:solidFill>
                  <a:srgbClr val="c8d8c0"/>
                </a:solidFill>
                <a:latin typeface="Consolas"/>
              </a:rPr>
              <a:t>OpenAI-compatible API — drop-in replacement</a:t>
            </a:r>
            <a:endParaRPr b="0" lang="en-US" sz="1500" spc="-1" strike="noStrike">
              <a:solidFill>
                <a:srgbClr val="ffffff"/>
              </a:solidFill>
              <a:latin typeface="Arial"/>
            </a:endParaRPr>
          </a:p>
          <a:p>
            <a:pPr defTabSz="457200">
              <a:lnSpc>
                <a:spcPct val="110000"/>
              </a:lnSpc>
              <a:spcAft>
                <a:spcPts val="400"/>
              </a:spcAft>
            </a:pPr>
            <a:r>
              <a:rPr b="1" lang="en-US" sz="1500" spc="-1" strike="noStrike">
                <a:solidFill>
                  <a:srgbClr val="006dd5"/>
                </a:solidFill>
                <a:latin typeface="Consolas"/>
              </a:rPr>
              <a:t>• </a:t>
            </a:r>
            <a:r>
              <a:rPr b="1" lang="en-US" sz="1500" spc="-1" strike="noStrike">
                <a:solidFill>
                  <a:srgbClr val="006dd5"/>
                </a:solidFill>
                <a:latin typeface="Consolas"/>
              </a:rPr>
              <a:t>Built specifically to hedge against export controls &amp; single-vendor lock-in</a:t>
            </a:r>
            <a:endParaRPr b="0" lang="en-US" sz="1500" spc="-1" strike="noStrike">
              <a:solidFill>
                <a:srgbClr val="ffffff"/>
              </a:solidFill>
              <a:latin typeface="Arial"/>
            </a:endParaRPr>
          </a:p>
          <a:p>
            <a:pPr defTabSz="457200">
              <a:lnSpc>
                <a:spcPct val="110000"/>
              </a:lnSpc>
              <a:spcAft>
                <a:spcPts val="400"/>
              </a:spcAft>
            </a:pPr>
            <a:endParaRPr b="0" lang="en-US" sz="800" spc="-1" strike="noStrike">
              <a:solidFill>
                <a:srgbClr val="ffffff"/>
              </a:solidFill>
              <a:latin typeface="Arial"/>
            </a:endParaRPr>
          </a:p>
          <a:p>
            <a:pPr defTabSz="457200">
              <a:lnSpc>
                <a:spcPct val="110000"/>
              </a:lnSpc>
              <a:spcAft>
                <a:spcPts val="400"/>
              </a:spcAft>
            </a:pPr>
            <a:r>
              <a:rPr b="1" lang="en-US" sz="1500" spc="-1" strike="noStrike">
                <a:solidFill>
                  <a:srgbClr val="00ccaa"/>
                </a:solidFill>
                <a:latin typeface="Consolas"/>
              </a:rPr>
              <a:t>Early user quote:</a:t>
            </a:r>
            <a:endParaRPr b="0" lang="en-US" sz="1500" spc="-1" strike="noStrike">
              <a:solidFill>
                <a:srgbClr val="ffffff"/>
              </a:solidFill>
              <a:latin typeface="Arial"/>
            </a:endParaRPr>
          </a:p>
          <a:p>
            <a:pPr defTabSz="457200">
              <a:lnSpc>
                <a:spcPct val="110000"/>
              </a:lnSpc>
              <a:spcAft>
                <a:spcPts val="400"/>
              </a:spcAft>
            </a:pPr>
            <a:r>
              <a:rPr b="0" lang="en-US" sz="1400" spc="-1" strike="noStrike">
                <a:solidFill>
                  <a:srgbClr val="ffffff"/>
                </a:solidFill>
                <a:latin typeface="Consolas"/>
              </a:rPr>
              <a:t>"Given one scoped instruction, Fugu drove a full security</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ffffff"/>
                </a:solidFill>
                <a:latin typeface="Consolas"/>
              </a:rPr>
              <a:t> </a:t>
            </a:r>
            <a:r>
              <a:rPr b="0" lang="en-US" sz="1400" spc="-1" strike="noStrike">
                <a:solidFill>
                  <a:srgbClr val="ffffff"/>
                </a:solidFill>
                <a:latin typeface="Consolas"/>
              </a:rPr>
              <a:t>assessment end-to-end — recon, XSS/SQLi checks, auth</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ffffff"/>
                </a:solidFill>
                <a:latin typeface="Consolas"/>
              </a:rPr>
              <a:t> </a:t>
            </a:r>
            <a:r>
              <a:rPr b="0" lang="en-US" sz="1400" spc="-1" strike="noStrike">
                <a:solidFill>
                  <a:srgbClr val="ffffff"/>
                </a:solidFill>
                <a:latin typeface="Consolas"/>
              </a:rPr>
              <a:t>review, and a clean report with evidence and retests."</a:t>
            </a:r>
            <a:endParaRPr b="0" lang="en-US" sz="1400" spc="-1" strike="noStrike">
              <a:solidFill>
                <a:srgbClr val="ffffff"/>
              </a:solidFill>
              <a:latin typeface="Arial"/>
            </a:endParaRPr>
          </a:p>
          <a:p>
            <a:pPr defTabSz="457200">
              <a:lnSpc>
                <a:spcPct val="110000"/>
              </a:lnSpc>
              <a:spcAft>
                <a:spcPts val="400"/>
              </a:spcAft>
            </a:pPr>
            <a:endParaRPr b="0" lang="en-US" sz="800" spc="-1" strike="noStrike">
              <a:solidFill>
                <a:srgbClr val="ffffff"/>
              </a:solidFill>
              <a:latin typeface="Arial"/>
            </a:endParaRPr>
          </a:p>
          <a:p>
            <a:pPr defTabSz="457200">
              <a:lnSpc>
                <a:spcPct val="110000"/>
              </a:lnSpc>
              <a:spcAft>
                <a:spcPts val="400"/>
              </a:spcAft>
            </a:pPr>
            <a:r>
              <a:rPr b="1" lang="en-US" sz="1500" spc="-1" strike="noStrike">
                <a:solidFill>
                  <a:srgbClr val="4ae85a"/>
                </a:solidFill>
                <a:latin typeface="Consolas"/>
              </a:rPr>
              <a:t>"Fugu is not one raptor. It's the whole pack."</a:t>
            </a:r>
            <a:endParaRPr b="0" lang="en-US" sz="1500" spc="-1" strike="noStrike">
              <a:solidFill>
                <a:srgbClr val="ffffff"/>
              </a:solidFill>
              <a:latin typeface="Arial"/>
            </a:endParaRPr>
          </a:p>
          <a:p>
            <a:pPr defTabSz="457200">
              <a:lnSpc>
                <a:spcPct val="110000"/>
              </a:lnSpc>
              <a:spcAft>
                <a:spcPts val="400"/>
              </a:spcAft>
            </a:pPr>
            <a:r>
              <a:rPr b="0" lang="en-US" sz="1500" spc="-1" strike="noStrike">
                <a:solidFill>
                  <a:srgbClr val="4ae85a"/>
                </a:solidFill>
                <a:latin typeface="Consolas"/>
              </a:rPr>
              <a:t>"And the pack is smarter than any single predator."</a:t>
            </a:r>
            <a:endParaRPr b="0" lang="en-US" sz="1500" spc="-1" strike="noStrike">
              <a:solidFill>
                <a:srgbClr val="ffffff"/>
              </a:solidFill>
              <a:latin typeface="Arial"/>
            </a:endParaRPr>
          </a:p>
        </p:txBody>
      </p:sp>
      <p:pic>
        <p:nvPicPr>
          <p:cNvPr id="246" name="Picture 19" descr="raptor_pack_faded.png"/>
          <p:cNvPicPr/>
          <p:nvPr/>
        </p:nvPicPr>
        <p:blipFill>
          <a:blip r:embed="rId1"/>
          <a:stretch/>
        </p:blipFill>
        <p:spPr>
          <a:xfrm>
            <a:off x="7772400" y="731520"/>
            <a:ext cx="4388760" cy="43887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247"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Quantization &amp; Context Windows</a:t>
            </a:r>
            <a:endParaRPr b="0" lang="en-US" sz="3200" spc="-1" strike="noStrike">
              <a:solidFill>
                <a:srgbClr val="ffffff"/>
              </a:solidFill>
              <a:latin typeface="Arial"/>
            </a:endParaRPr>
          </a:p>
        </p:txBody>
      </p:sp>
      <p:sp>
        <p:nvSpPr>
          <p:cNvPr id="248" name="Rectangle 2"/>
          <p:cNvSpPr/>
          <p:nvPr/>
        </p:nvSpPr>
        <p:spPr>
          <a:xfrm>
            <a:off x="548640" y="1051560"/>
            <a:ext cx="2742840" cy="101160"/>
          </a:xfrm>
          <a:prstGeom prst="rect">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9" name="Rounded Rectangle 3"/>
          <p:cNvSpPr/>
          <p:nvPr/>
        </p:nvSpPr>
        <p:spPr>
          <a:xfrm>
            <a:off x="548640" y="1371600"/>
            <a:ext cx="5303160" cy="50256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0" name="TextBox 4"/>
          <p:cNvSpPr/>
          <p:nvPr/>
        </p:nvSpPr>
        <p:spPr>
          <a:xfrm>
            <a:off x="548640" y="1371600"/>
            <a:ext cx="530316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QUANTIZATION</a:t>
            </a:r>
            <a:endParaRPr b="0" lang="en-US" sz="1400" spc="-1" strike="noStrike">
              <a:solidFill>
                <a:srgbClr val="ffffff"/>
              </a:solidFill>
              <a:latin typeface="Arial"/>
            </a:endParaRPr>
          </a:p>
        </p:txBody>
      </p:sp>
      <p:sp>
        <p:nvSpPr>
          <p:cNvPr id="251" name="TextBox 5"/>
          <p:cNvSpPr/>
          <p:nvPr/>
        </p:nvSpPr>
        <p:spPr>
          <a:xfrm>
            <a:off x="731520" y="2011680"/>
            <a:ext cx="4937400" cy="3657240"/>
          </a:xfrm>
          <a:prstGeom prst="rect">
            <a:avLst/>
          </a:prstGeom>
          <a:noFill/>
          <a:ln w="0">
            <a:noFill/>
          </a:ln>
        </p:spPr>
        <p:style>
          <a:lnRef idx="0"/>
          <a:fillRef idx="0"/>
          <a:effectRef idx="0"/>
          <a:fontRef idx="minor"/>
        </p:style>
        <p:txBody>
          <a:bodyPr lIns="90000" rIns="90000" tIns="45000" bIns="45000" anchor="t">
            <a:normAutofit/>
          </a:bodyPr>
          <a:p>
            <a:pPr defTabSz="457200">
              <a:lnSpc>
                <a:spcPct val="120000"/>
              </a:lnSpc>
              <a:spcAft>
                <a:spcPts val="400"/>
              </a:spcAft>
            </a:pPr>
            <a:r>
              <a:rPr b="0" lang="en-US" sz="1400" spc="-1" strike="noStrike">
                <a:solidFill>
                  <a:srgbClr val="ffffff"/>
                </a:solidFill>
                <a:latin typeface="Consolas"/>
              </a:rPr>
              <a:t>FP16 = full precision (140GB for 70B)</a:t>
            </a:r>
            <a:endParaRPr b="0" lang="en-US" sz="1400" spc="-1" strike="noStrike">
              <a:solidFill>
                <a:srgbClr val="ffffff"/>
              </a:solidFill>
              <a:latin typeface="Arial"/>
            </a:endParaRPr>
          </a:p>
          <a:p>
            <a:pPr defTabSz="457200">
              <a:lnSpc>
                <a:spcPct val="120000"/>
              </a:lnSpc>
              <a:spcAft>
                <a:spcPts val="400"/>
              </a:spcAft>
            </a:pPr>
            <a:r>
              <a:rPr b="0" lang="en-US" sz="1400" spc="-1" strike="noStrike">
                <a:solidFill>
                  <a:srgbClr val="ffffff"/>
                </a:solidFill>
                <a:latin typeface="Consolas"/>
              </a:rPr>
              <a:t>Q4_K_M = 4x smaller, ~97% quality</a:t>
            </a:r>
            <a:endParaRPr b="0" lang="en-US" sz="1400" spc="-1" strike="noStrike">
              <a:solidFill>
                <a:srgbClr val="ffffff"/>
              </a:solidFill>
              <a:latin typeface="Arial"/>
            </a:endParaRPr>
          </a:p>
          <a:p>
            <a:pPr defTabSz="457200">
              <a:lnSpc>
                <a:spcPct val="120000"/>
              </a:lnSpc>
              <a:spcAft>
                <a:spcPts val="400"/>
              </a:spcAft>
            </a:pPr>
            <a:r>
              <a:rPr b="1" lang="en-US" sz="1400" spc="-1" strike="noStrike">
                <a:solidFill>
                  <a:srgbClr val="4ae85a"/>
                </a:solidFill>
                <a:latin typeface="Consolas"/>
              </a:rPr>
              <a:t>For RE: Q4 ≈ FP16 (indistinguishable)</a:t>
            </a:r>
            <a:endParaRPr b="0" lang="en-US" sz="1400" spc="-1" strike="noStrike">
              <a:solidFill>
                <a:srgbClr val="ffffff"/>
              </a:solidFill>
              <a:latin typeface="Arial"/>
            </a:endParaRPr>
          </a:p>
          <a:p>
            <a:pPr defTabSz="457200">
              <a:lnSpc>
                <a:spcPct val="120000"/>
              </a:lnSpc>
              <a:spcAft>
                <a:spcPts val="400"/>
              </a:spcAft>
            </a:pPr>
            <a:endParaRPr b="0" lang="en-US" sz="800" spc="-1" strike="noStrike">
              <a:solidFill>
                <a:srgbClr val="ffffff"/>
              </a:solidFill>
              <a:latin typeface="Arial"/>
            </a:endParaRPr>
          </a:p>
          <a:p>
            <a:pPr defTabSz="457200">
              <a:lnSpc>
                <a:spcPct val="120000"/>
              </a:lnSpc>
              <a:spcAft>
                <a:spcPts val="400"/>
              </a:spcAft>
            </a:pPr>
            <a:r>
              <a:rPr b="0" lang="en-US" sz="1400" spc="-1" strike="noStrike">
                <a:solidFill>
                  <a:srgbClr val="c8d8c0"/>
                </a:solidFill>
                <a:latin typeface="Consolas"/>
              </a:rPr>
              <a:t>This is why your 3090 runs a 70B model.</a:t>
            </a:r>
            <a:endParaRPr b="0" lang="en-US" sz="1400" spc="-1" strike="noStrike">
              <a:solidFill>
                <a:srgbClr val="ffffff"/>
              </a:solidFill>
              <a:latin typeface="Arial"/>
            </a:endParaRPr>
          </a:p>
          <a:p>
            <a:pPr defTabSz="457200">
              <a:lnSpc>
                <a:spcPct val="120000"/>
              </a:lnSpc>
              <a:spcAft>
                <a:spcPts val="400"/>
              </a:spcAft>
            </a:pPr>
            <a:r>
              <a:rPr b="1" lang="en-US" sz="1400" spc="-1" strike="noStrike">
                <a:solidFill>
                  <a:srgbClr val="00ccaa"/>
                </a:solidFill>
                <a:latin typeface="Consolas"/>
              </a:rPr>
              <a:t>This is why V4-Flash fits a DGX Spark.</a:t>
            </a:r>
            <a:endParaRPr b="0" lang="en-US" sz="1400" spc="-1" strike="noStrike">
              <a:solidFill>
                <a:srgbClr val="ffffff"/>
              </a:solidFill>
              <a:latin typeface="Arial"/>
            </a:endParaRPr>
          </a:p>
          <a:p>
            <a:pPr defTabSz="457200">
              <a:lnSpc>
                <a:spcPct val="120000"/>
              </a:lnSpc>
              <a:spcAft>
                <a:spcPts val="400"/>
              </a:spcAft>
            </a:pPr>
            <a:r>
              <a:rPr b="0" lang="en-US" sz="1400" spc="-1" strike="noStrike">
                <a:solidFill>
                  <a:srgbClr val="c8d8c0"/>
                </a:solidFill>
                <a:latin typeface="Consolas"/>
              </a:rPr>
              <a:t>4x compression for ~3% accuracy loss.</a:t>
            </a:r>
            <a:endParaRPr b="0" lang="en-US" sz="1400" spc="-1" strike="noStrike">
              <a:solidFill>
                <a:srgbClr val="ffffff"/>
              </a:solidFill>
              <a:latin typeface="Arial"/>
            </a:endParaRPr>
          </a:p>
        </p:txBody>
      </p:sp>
      <p:sp>
        <p:nvSpPr>
          <p:cNvPr id="252" name="Rounded Rectangle 6"/>
          <p:cNvSpPr/>
          <p:nvPr/>
        </p:nvSpPr>
        <p:spPr>
          <a:xfrm>
            <a:off x="6309360" y="1371600"/>
            <a:ext cx="5303160" cy="50256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3" name="TextBox 7"/>
          <p:cNvSpPr/>
          <p:nvPr/>
        </p:nvSpPr>
        <p:spPr>
          <a:xfrm>
            <a:off x="6309360" y="1371600"/>
            <a:ext cx="530316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CONTEXT WINDOWS</a:t>
            </a:r>
            <a:endParaRPr b="0" lang="en-US" sz="1400" spc="-1" strike="noStrike">
              <a:solidFill>
                <a:srgbClr val="ffffff"/>
              </a:solidFill>
              <a:latin typeface="Arial"/>
            </a:endParaRPr>
          </a:p>
        </p:txBody>
      </p:sp>
      <p:graphicFrame>
        <p:nvGraphicFramePr>
          <p:cNvPr id="254" name="Table 8"/>
          <p:cNvGraphicFramePr/>
          <p:nvPr/>
        </p:nvGraphicFramePr>
        <p:xfrm>
          <a:off x="6309360" y="2011680"/>
          <a:ext cx="5303160" cy="3249720"/>
        </p:xfrm>
        <a:graphic>
          <a:graphicData uri="http://schemas.openxmlformats.org/drawingml/2006/table">
            <a:tbl>
              <a:tblPr/>
              <a:tblGrid>
                <a:gridCol w="1767600"/>
                <a:gridCol w="1767600"/>
                <a:gridCol w="1767600"/>
              </a:tblGrid>
              <a:tr h="457200">
                <a:tc>
                  <a:txBody>
                    <a:bodyPr anchor="t">
                      <a:noAutofit/>
                    </a:bodyPr>
                    <a:p>
                      <a:pPr defTabSz="457200">
                        <a:lnSpc>
                          <a:spcPct val="100000"/>
                        </a:lnSpc>
                      </a:pPr>
                      <a:r>
                        <a:rPr b="1" lang="en-US" sz="1300" spc="-1" strike="noStrike">
                          <a:solidFill>
                            <a:srgbClr val="00ccaa"/>
                          </a:solidFill>
                          <a:latin typeface="Consolas"/>
                        </a:rPr>
                        <a:t>Model</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c>
                  <a:txBody>
                    <a:bodyPr anchor="t">
                      <a:noAutofit/>
                    </a:bodyPr>
                    <a:p>
                      <a:pPr defTabSz="457200">
                        <a:lnSpc>
                          <a:spcPct val="100000"/>
                        </a:lnSpc>
                      </a:pPr>
                      <a:r>
                        <a:rPr b="1" lang="en-US" sz="1300" spc="-1" strike="noStrike">
                          <a:solidFill>
                            <a:srgbClr val="00ccaa"/>
                          </a:solidFill>
                          <a:latin typeface="Consolas"/>
                        </a:rPr>
                        <a:t>Context</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c>
                  <a:txBody>
                    <a:bodyPr anchor="t">
                      <a:noAutofit/>
                    </a:bodyPr>
                    <a:p>
                      <a:pPr defTabSz="457200">
                        <a:lnSpc>
                          <a:spcPct val="100000"/>
                        </a:lnSpc>
                      </a:pPr>
                      <a:r>
                        <a:rPr b="1" lang="en-US" sz="1300" spc="-1" strike="noStrike">
                          <a:solidFill>
                            <a:srgbClr val="00ccaa"/>
                          </a:solidFill>
                          <a:latin typeface="Consolas"/>
                        </a:rPr>
                        <a:t>Real-world</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r>
              <a:tr h="457200">
                <a:tc>
                  <a:txBody>
                    <a:bodyPr anchor="t">
                      <a:noAutofit/>
                    </a:bodyPr>
                    <a:p>
                      <a:pPr defTabSz="457200">
                        <a:lnSpc>
                          <a:spcPct val="100000"/>
                        </a:lnSpc>
                      </a:pPr>
                      <a:r>
                        <a:rPr b="0" lang="en-US" sz="1200" spc="-1" strike="noStrike">
                          <a:solidFill>
                            <a:srgbClr val="ffffff"/>
                          </a:solidFill>
                          <a:latin typeface="Consolas"/>
                        </a:rPr>
                        <a:t>Gemini 3.1 Pro</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2M tokens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~1,500 pages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457200">
                <a:tc>
                  <a:txBody>
                    <a:bodyPr anchor="t">
                      <a:noAutofit/>
                    </a:bodyPr>
                    <a:p>
                      <a:pPr defTabSz="457200">
                        <a:lnSpc>
                          <a:spcPct val="100000"/>
                        </a:lnSpc>
                      </a:pPr>
                      <a:r>
                        <a:rPr b="0" lang="en-US" sz="1200" spc="-1" strike="noStrike">
                          <a:solidFill>
                            <a:srgbClr val="ffffff"/>
                          </a:solidFill>
                          <a:latin typeface="Consolas"/>
                        </a:rPr>
                        <a:t>DeepSeek V4-Flash</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1M tokens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~750 pages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457200">
                <a:tc>
                  <a:txBody>
                    <a:bodyPr anchor="t">
                      <a:noAutofit/>
                    </a:bodyPr>
                    <a:p>
                      <a:pPr defTabSz="457200">
                        <a:lnSpc>
                          <a:spcPct val="100000"/>
                        </a:lnSpc>
                      </a:pPr>
                      <a:r>
                        <a:rPr b="0" lang="en-US" sz="1200" spc="-1" strike="noStrike">
                          <a:solidFill>
                            <a:srgbClr val="ffffff"/>
                          </a:solidFill>
                          <a:latin typeface="Consolas"/>
                        </a:rPr>
                        <a:t>Qwen3.8-27B</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262K-&gt;1M (YaRN)</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~200-750 pages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457200">
                <a:tc>
                  <a:txBody>
                    <a:bodyPr anchor="t">
                      <a:noAutofit/>
                    </a:bodyPr>
                    <a:p>
                      <a:pPr defTabSz="457200">
                        <a:lnSpc>
                          <a:spcPct val="100000"/>
                        </a:lnSpc>
                      </a:pPr>
                      <a:r>
                        <a:rPr b="0" lang="en-US" sz="1200" spc="-1" strike="noStrike">
                          <a:solidFill>
                            <a:srgbClr val="ffffff"/>
                          </a:solidFill>
                          <a:latin typeface="Consolas"/>
                        </a:rPr>
                        <a:t>Claude Fable 5</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500K tokens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~375 pages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457200">
                <a:tc>
                  <a:txBody>
                    <a:bodyPr anchor="t">
                      <a:noAutofit/>
                    </a:bodyPr>
                    <a:p>
                      <a:pPr defTabSz="457200">
                        <a:lnSpc>
                          <a:spcPct val="100000"/>
                        </a:lnSpc>
                      </a:pPr>
                      <a:r>
                        <a:rPr b="0" lang="en-US" sz="1200" spc="-1" strike="noStrike">
                          <a:solidFill>
                            <a:srgbClr val="ffffff"/>
                          </a:solidFill>
                          <a:latin typeface="Consolas"/>
                        </a:rPr>
                        <a:t>GPT 5.6 Terra</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400K tokens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~300 pages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457200">
                <a:tc>
                  <a:txBody>
                    <a:bodyPr anchor="t">
                      <a:noAutofit/>
                    </a:bodyPr>
                    <a:p>
                      <a:pPr defTabSz="457200">
                        <a:lnSpc>
                          <a:spcPct val="100000"/>
                        </a:lnSpc>
                      </a:pPr>
                      <a:r>
                        <a:rPr b="0" lang="en-US" sz="1200" spc="-1" strike="noStrike">
                          <a:solidFill>
                            <a:srgbClr val="ffffff"/>
                          </a:solidFill>
                          <a:latin typeface="Consolas"/>
                        </a:rPr>
                        <a:t>Gemma4 27B (local)</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128K tokens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~100 pages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bl>
          </a:graphicData>
        </a:graphic>
      </p:graphicFrame>
      <p:sp>
        <p:nvSpPr>
          <p:cNvPr id="255" name="Rounded Rectangle 9"/>
          <p:cNvSpPr/>
          <p:nvPr/>
        </p:nvSpPr>
        <p:spPr>
          <a:xfrm>
            <a:off x="548640" y="5486400"/>
            <a:ext cx="11063880" cy="1096920"/>
          </a:xfrm>
          <a:prstGeom prst="roundRect">
            <a:avLst>
              <a:gd name="adj" fmla="val 16667"/>
            </a:avLst>
          </a:prstGeom>
          <a:solidFill>
            <a:srgbClr val="1a2e1e"/>
          </a:solidFill>
          <a:ln w="12700">
            <a:solidFill>
              <a:srgbClr val="d32d2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6" name="TextBox 10"/>
          <p:cNvSpPr/>
          <p:nvPr/>
        </p:nvSpPr>
        <p:spPr>
          <a:xfrm>
            <a:off x="822960" y="5577840"/>
            <a:ext cx="10515240" cy="9140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c89b3c"/>
                </a:solidFill>
                <a:latin typeface="Consolas"/>
              </a:rPr>
              <a:t>The fundamental constraint: You can NEVER fit the whole problem in context. A firmware dump = 500K+ tokens. You work around it — same as IDA.</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012"/>
        </a:solidFill>
      </p:bgPr>
    </p:bg>
    <p:spTree>
      <p:nvGrpSpPr>
        <p:cNvPr id="1" name=""/>
        <p:cNvGrpSpPr/>
        <p:nvPr/>
      </p:nvGrpSpPr>
      <p:grpSpPr>
        <a:xfrm>
          <a:off x="0" y="0"/>
          <a:ext cx="0" cy="0"/>
          <a:chOff x="0" y="0"/>
          <a:chExt cx="0" cy="0"/>
        </a:xfrm>
      </p:grpSpPr>
      <p:sp>
        <p:nvSpPr>
          <p:cNvPr id="257" name="TextBox 1"/>
          <p:cNvSpPr/>
          <p:nvPr/>
        </p:nvSpPr>
        <p:spPr>
          <a:xfrm>
            <a:off x="731520" y="1645920"/>
            <a:ext cx="3657240" cy="2742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12000" spc="-1" strike="noStrike">
                <a:solidFill>
                  <a:srgbClr val="1a2e1e"/>
                </a:solidFill>
                <a:latin typeface="Impact"/>
              </a:rPr>
              <a:t>03</a:t>
            </a:r>
            <a:endParaRPr b="0" lang="en-US" sz="12000" spc="-1" strike="noStrike">
              <a:solidFill>
                <a:srgbClr val="ffffff"/>
              </a:solidFill>
              <a:latin typeface="Arial"/>
            </a:endParaRPr>
          </a:p>
        </p:txBody>
      </p:sp>
      <p:sp>
        <p:nvSpPr>
          <p:cNvPr id="258" name="TextBox 2"/>
          <p:cNvSpPr/>
          <p:nvPr/>
        </p:nvSpPr>
        <p:spPr>
          <a:xfrm>
            <a:off x="731520" y="4206240"/>
            <a:ext cx="10058040" cy="13712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600" spc="-1" strike="noStrike">
                <a:solidFill>
                  <a:srgbClr val="00ccaa"/>
                </a:solidFill>
                <a:latin typeface="Consolas"/>
              </a:rPr>
              <a:t>Training Your Own Pack</a:t>
            </a:r>
            <a:endParaRPr b="0" lang="en-US" sz="3600" spc="-1" strike="noStrike">
              <a:solidFill>
                <a:srgbClr val="ffffff"/>
              </a:solidFill>
              <a:latin typeface="Arial"/>
            </a:endParaRPr>
          </a:p>
        </p:txBody>
      </p:sp>
      <p:sp>
        <p:nvSpPr>
          <p:cNvPr id="259" name="Rectangle 3"/>
          <p:cNvSpPr/>
          <p:nvPr/>
        </p:nvSpPr>
        <p:spPr>
          <a:xfrm>
            <a:off x="731520" y="4023360"/>
            <a:ext cx="2742840" cy="75960"/>
          </a:xfrm>
          <a:prstGeom prst="rect">
            <a:avLst/>
          </a:prstGeom>
          <a:solidFill>
            <a:srgbClr val="00cc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260"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Agentic vs Chatbot: The Spectrum</a:t>
            </a:r>
            <a:endParaRPr b="0" lang="en-US" sz="3200" spc="-1" strike="noStrike">
              <a:solidFill>
                <a:srgbClr val="ffffff"/>
              </a:solidFill>
              <a:latin typeface="Arial"/>
            </a:endParaRPr>
          </a:p>
        </p:txBody>
      </p:sp>
      <p:sp>
        <p:nvSpPr>
          <p:cNvPr id="261" name="Rectangle 2"/>
          <p:cNvSpPr/>
          <p:nvPr/>
        </p:nvSpPr>
        <p:spPr>
          <a:xfrm>
            <a:off x="548640" y="1051560"/>
            <a:ext cx="2742840" cy="101160"/>
          </a:xfrm>
          <a:prstGeom prst="rect">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2" name="Rounded Rectangle 3"/>
          <p:cNvSpPr/>
          <p:nvPr/>
        </p:nvSpPr>
        <p:spPr>
          <a:xfrm>
            <a:off x="563760" y="1371600"/>
            <a:ext cx="3474360" cy="50256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3" name="TextBox 4"/>
          <p:cNvSpPr/>
          <p:nvPr/>
        </p:nvSpPr>
        <p:spPr>
          <a:xfrm>
            <a:off x="563760" y="1371600"/>
            <a:ext cx="347436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CLI / CHATBOT</a:t>
            </a:r>
            <a:endParaRPr b="0" lang="en-US" sz="1400" spc="-1" strike="noStrike">
              <a:solidFill>
                <a:srgbClr val="ffffff"/>
              </a:solidFill>
              <a:latin typeface="Arial"/>
            </a:endParaRPr>
          </a:p>
        </p:txBody>
      </p:sp>
      <p:sp>
        <p:nvSpPr>
          <p:cNvPr id="264" name="TextBox 5"/>
          <p:cNvSpPr/>
          <p:nvPr/>
        </p:nvSpPr>
        <p:spPr>
          <a:xfrm>
            <a:off x="746640" y="2011680"/>
            <a:ext cx="3108600" cy="3200040"/>
          </a:xfrm>
          <a:prstGeom prst="rect">
            <a:avLst/>
          </a:prstGeom>
          <a:noFill/>
          <a:ln w="0">
            <a:noFill/>
          </a:ln>
        </p:spPr>
        <p:style>
          <a:lnRef idx="0"/>
          <a:fillRef idx="0"/>
          <a:effectRef idx="0"/>
          <a:fontRef idx="minor"/>
        </p:style>
        <p:txBody>
          <a:bodyPr lIns="90000" rIns="90000" tIns="45000" bIns="45000" anchor="t">
            <a:normAutofit/>
          </a:bodyPr>
          <a:p>
            <a:pPr defTabSz="457200">
              <a:lnSpc>
                <a:spcPct val="120000"/>
              </a:lnSpc>
              <a:spcAft>
                <a:spcPts val="400"/>
              </a:spcAft>
            </a:pPr>
            <a:r>
              <a:rPr b="0" lang="en-US" sz="1300" spc="-1" strike="noStrike">
                <a:solidFill>
                  <a:srgbClr val="ffffff"/>
                </a:solidFill>
                <a:latin typeface="Consolas"/>
              </a:rPr>
              <a:t>Type, it responds</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Single turn</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Zero autonomy</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Zero tools</a:t>
            </a:r>
            <a:endParaRPr b="0" lang="en-US" sz="1300" spc="-1" strike="noStrike">
              <a:solidFill>
                <a:srgbClr val="ffffff"/>
              </a:solidFill>
              <a:latin typeface="Arial"/>
            </a:endParaRPr>
          </a:p>
          <a:p>
            <a:pPr defTabSz="457200">
              <a:lnSpc>
                <a:spcPct val="120000"/>
              </a:lnSpc>
              <a:spcAft>
                <a:spcPts val="400"/>
              </a:spcAft>
            </a:pP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ollama run qwen3.8</a:t>
            </a:r>
            <a:endParaRPr b="0" lang="en-US" sz="1300" spc="-1" strike="noStrike">
              <a:solidFill>
                <a:srgbClr val="ffffff"/>
              </a:solidFill>
              <a:latin typeface="Arial"/>
            </a:endParaRPr>
          </a:p>
        </p:txBody>
      </p:sp>
      <p:sp>
        <p:nvSpPr>
          <p:cNvPr id="265" name="Rounded Rectangle 6"/>
          <p:cNvSpPr/>
          <p:nvPr/>
        </p:nvSpPr>
        <p:spPr>
          <a:xfrm>
            <a:off x="4358520" y="1371600"/>
            <a:ext cx="3474360" cy="50256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6" name="TextBox 7"/>
          <p:cNvSpPr/>
          <p:nvPr/>
        </p:nvSpPr>
        <p:spPr>
          <a:xfrm>
            <a:off x="4358520" y="1371600"/>
            <a:ext cx="347436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WEB UI</a:t>
            </a:r>
            <a:endParaRPr b="0" lang="en-US" sz="1400" spc="-1" strike="noStrike">
              <a:solidFill>
                <a:srgbClr val="ffffff"/>
              </a:solidFill>
              <a:latin typeface="Arial"/>
            </a:endParaRPr>
          </a:p>
        </p:txBody>
      </p:sp>
      <p:sp>
        <p:nvSpPr>
          <p:cNvPr id="267" name="TextBox 8"/>
          <p:cNvSpPr/>
          <p:nvPr/>
        </p:nvSpPr>
        <p:spPr>
          <a:xfrm>
            <a:off x="4541400" y="2011680"/>
            <a:ext cx="3108600" cy="3200040"/>
          </a:xfrm>
          <a:prstGeom prst="rect">
            <a:avLst/>
          </a:prstGeom>
          <a:noFill/>
          <a:ln w="0">
            <a:noFill/>
          </a:ln>
        </p:spPr>
        <p:style>
          <a:lnRef idx="0"/>
          <a:fillRef idx="0"/>
          <a:effectRef idx="0"/>
          <a:fontRef idx="minor"/>
        </p:style>
        <p:txBody>
          <a:bodyPr lIns="90000" rIns="90000" tIns="45000" bIns="45000" anchor="t">
            <a:normAutofit/>
          </a:bodyPr>
          <a:p>
            <a:pPr defTabSz="457200">
              <a:lnSpc>
                <a:spcPct val="120000"/>
              </a:lnSpc>
              <a:spcAft>
                <a:spcPts val="400"/>
              </a:spcAft>
            </a:pPr>
            <a:r>
              <a:rPr b="0" lang="en-US" sz="1300" spc="-1" strike="noStrike">
                <a:solidFill>
                  <a:srgbClr val="ffffff"/>
                </a:solidFill>
                <a:latin typeface="Consolas"/>
              </a:rPr>
              <a:t>Pretty UI</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Still stateless</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Some memory</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Zero tools</a:t>
            </a:r>
            <a:endParaRPr b="0" lang="en-US" sz="1300" spc="-1" strike="noStrike">
              <a:solidFill>
                <a:srgbClr val="ffffff"/>
              </a:solidFill>
              <a:latin typeface="Arial"/>
            </a:endParaRPr>
          </a:p>
          <a:p>
            <a:pPr defTabSz="457200">
              <a:lnSpc>
                <a:spcPct val="120000"/>
              </a:lnSpc>
              <a:spcAft>
                <a:spcPts val="400"/>
              </a:spcAft>
            </a:pP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ChatGPT, Claude.ai</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Open WebUI</a:t>
            </a:r>
            <a:endParaRPr b="0" lang="en-US" sz="1300" spc="-1" strike="noStrike">
              <a:solidFill>
                <a:srgbClr val="ffffff"/>
              </a:solidFill>
              <a:latin typeface="Arial"/>
            </a:endParaRPr>
          </a:p>
        </p:txBody>
      </p:sp>
      <p:sp>
        <p:nvSpPr>
          <p:cNvPr id="268" name="Rounded Rectangle 9"/>
          <p:cNvSpPr/>
          <p:nvPr/>
        </p:nvSpPr>
        <p:spPr>
          <a:xfrm>
            <a:off x="8153280" y="1371600"/>
            <a:ext cx="3474360" cy="50256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9" name="TextBox 10"/>
          <p:cNvSpPr/>
          <p:nvPr/>
        </p:nvSpPr>
        <p:spPr>
          <a:xfrm>
            <a:off x="8153280" y="1371600"/>
            <a:ext cx="347436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AGENT</a:t>
            </a:r>
            <a:endParaRPr b="0" lang="en-US" sz="1400" spc="-1" strike="noStrike">
              <a:solidFill>
                <a:srgbClr val="ffffff"/>
              </a:solidFill>
              <a:latin typeface="Arial"/>
            </a:endParaRPr>
          </a:p>
        </p:txBody>
      </p:sp>
      <p:sp>
        <p:nvSpPr>
          <p:cNvPr id="270" name="TextBox 11"/>
          <p:cNvSpPr/>
          <p:nvPr/>
        </p:nvSpPr>
        <p:spPr>
          <a:xfrm>
            <a:off x="8336160" y="2011680"/>
            <a:ext cx="3108600" cy="3200040"/>
          </a:xfrm>
          <a:prstGeom prst="rect">
            <a:avLst/>
          </a:prstGeom>
          <a:noFill/>
          <a:ln w="0">
            <a:noFill/>
          </a:ln>
        </p:spPr>
        <p:style>
          <a:lnRef idx="0"/>
          <a:fillRef idx="0"/>
          <a:effectRef idx="0"/>
          <a:fontRef idx="minor"/>
        </p:style>
        <p:txBody>
          <a:bodyPr lIns="90000" rIns="90000" tIns="45000" bIns="45000" anchor="t">
            <a:normAutofit/>
          </a:bodyPr>
          <a:p>
            <a:pPr defTabSz="457200">
              <a:lnSpc>
                <a:spcPct val="120000"/>
              </a:lnSpc>
              <a:spcAft>
                <a:spcPts val="400"/>
              </a:spcAft>
            </a:pPr>
            <a:r>
              <a:rPr b="0" lang="en-US" sz="1300" spc="-1" strike="noStrike">
                <a:solidFill>
                  <a:srgbClr val="ffffff"/>
                </a:solidFill>
                <a:latin typeface="Consolas"/>
              </a:rPr>
              <a:t>Has tools &amp; goals</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Multi-step planning</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Takes actions</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Reads files, runs cmds</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Remembers sessions</a:t>
            </a:r>
            <a:endParaRPr b="0" lang="en-US" sz="1300" spc="-1" strike="noStrike">
              <a:solidFill>
                <a:srgbClr val="ffffff"/>
              </a:solidFill>
              <a:latin typeface="Arial"/>
            </a:endParaRPr>
          </a:p>
          <a:p>
            <a:pPr defTabSz="457200">
              <a:lnSpc>
                <a:spcPct val="120000"/>
              </a:lnSpc>
              <a:spcAft>
                <a:spcPts val="400"/>
              </a:spcAft>
            </a:pP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Hermes, Claude Code</a:t>
            </a:r>
            <a:endParaRPr b="0" lang="en-US" sz="1300" spc="-1" strike="noStrike">
              <a:solidFill>
                <a:srgbClr val="ffffff"/>
              </a:solidFill>
              <a:latin typeface="Arial"/>
            </a:endParaRPr>
          </a:p>
          <a:p>
            <a:pPr defTabSz="457200">
              <a:lnSpc>
                <a:spcPct val="120000"/>
              </a:lnSpc>
              <a:spcAft>
                <a:spcPts val="400"/>
              </a:spcAft>
            </a:pPr>
            <a:r>
              <a:rPr b="0" lang="en-US" sz="1300" spc="-1" strike="noStrike">
                <a:solidFill>
                  <a:srgbClr val="ffffff"/>
                </a:solidFill>
                <a:latin typeface="Consolas"/>
              </a:rPr>
              <a:t>Codex, Sakana Fugu</a:t>
            </a:r>
            <a:endParaRPr b="0" lang="en-US" sz="1300" spc="-1" strike="noStrike">
              <a:solidFill>
                <a:srgbClr val="ffffff"/>
              </a:solidFill>
              <a:latin typeface="Arial"/>
            </a:endParaRPr>
          </a:p>
        </p:txBody>
      </p:sp>
      <p:sp>
        <p:nvSpPr>
          <p:cNvPr id="271" name="TextBox 12"/>
          <p:cNvSpPr/>
          <p:nvPr/>
        </p:nvSpPr>
        <p:spPr>
          <a:xfrm>
            <a:off x="548640" y="5852160"/>
            <a:ext cx="10972440" cy="456840"/>
          </a:xfrm>
          <a:prstGeom prst="rect">
            <a:avLst/>
          </a:prstGeom>
          <a:noFill/>
          <a:ln w="0">
            <a:noFill/>
          </a:ln>
        </p:spPr>
        <p:style>
          <a:lnRef idx="0"/>
          <a:fillRef idx="0"/>
          <a:effectRef idx="0"/>
          <a:fontRef idx="minor"/>
        </p:style>
        <p:txBody>
          <a:bodyPr lIns="90000" rIns="90000" tIns="45000" bIns="45000" anchor="t">
            <a:normAutofit fontScale="98333" lnSpcReduction="20000"/>
          </a:bodyPr>
          <a:p>
            <a:pPr algn="ctr" defTabSz="457200">
              <a:lnSpc>
                <a:spcPct val="100000"/>
              </a:lnSpc>
            </a:pPr>
            <a:r>
              <a:rPr b="1" lang="en-US" sz="1500" spc="-1" strike="noStrike">
                <a:solidFill>
                  <a:srgbClr val="4ae85a"/>
                </a:solidFill>
                <a:latin typeface="Consolas"/>
              </a:rPr>
              <a:t>A chatbot tells you about a buffer overflow. An agent finds it, writes the exploit, and runs it.</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2" name="" descr=""/>
          <p:cNvPicPr/>
          <p:nvPr/>
        </p:nvPicPr>
        <p:blipFill>
          <a:blip r:embed="rId1"/>
          <a:stretch/>
        </p:blipFill>
        <p:spPr>
          <a:xfrm>
            <a:off x="55080" y="361800"/>
            <a:ext cx="12191400" cy="611568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273"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Agent Architecture: The Raptor's Brain</a:t>
            </a:r>
            <a:endParaRPr b="0" lang="en-US" sz="3200" spc="-1" strike="noStrike">
              <a:solidFill>
                <a:srgbClr val="ffffff"/>
              </a:solidFill>
              <a:latin typeface="Arial"/>
            </a:endParaRPr>
          </a:p>
        </p:txBody>
      </p:sp>
      <p:sp>
        <p:nvSpPr>
          <p:cNvPr id="274" name="Rectangle 2"/>
          <p:cNvSpPr/>
          <p:nvPr/>
        </p:nvSpPr>
        <p:spPr>
          <a:xfrm>
            <a:off x="548640" y="1051560"/>
            <a:ext cx="2742840" cy="101160"/>
          </a:xfrm>
          <a:prstGeom prst="rect">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5" name="Rounded Rectangle 3"/>
          <p:cNvSpPr/>
          <p:nvPr/>
        </p:nvSpPr>
        <p:spPr>
          <a:xfrm>
            <a:off x="548640" y="1371600"/>
            <a:ext cx="11063880" cy="5028840"/>
          </a:xfrm>
          <a:prstGeom prst="roundRect">
            <a:avLst>
              <a:gd name="adj" fmla="val 16667"/>
            </a:avLst>
          </a:prstGeom>
          <a:solidFill>
            <a:srgbClr val="122012"/>
          </a:solidFill>
          <a:ln w="12700">
            <a:solidFill>
              <a:srgbClr val="4ae8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6" name="TextBox 4"/>
          <p:cNvSpPr/>
          <p:nvPr/>
        </p:nvSpPr>
        <p:spPr>
          <a:xfrm>
            <a:off x="914400" y="1645920"/>
            <a:ext cx="10332360" cy="4571640"/>
          </a:xfrm>
          <a:prstGeom prst="rect">
            <a:avLst/>
          </a:prstGeom>
          <a:noFill/>
          <a:ln w="0">
            <a:noFill/>
          </a:ln>
        </p:spPr>
        <p:style>
          <a:lnRef idx="0"/>
          <a:fillRef idx="0"/>
          <a:effectRef idx="0"/>
          <a:fontRef idx="minor"/>
        </p:style>
        <p:txBody>
          <a:bodyPr lIns="90000" rIns="90000" tIns="45000" bIns="45000" anchor="t">
            <a:normAutofit fontScale="93333"/>
          </a:bodyPr>
          <a:p>
            <a:pPr defTabSz="457200">
              <a:lnSpc>
                <a:spcPct val="110000"/>
              </a:lnSpc>
              <a:spcAft>
                <a:spcPts val="400"/>
              </a:spcAft>
            </a:pPr>
            <a:r>
              <a:rPr b="0" lang="en-US" sz="1400" spc="-1" strike="noStrike">
                <a:solidFill>
                  <a:srgbClr val="4ae85a"/>
                </a:solidFill>
                <a:latin typeface="Consolas"/>
              </a:rPr>
              <a:t>┌─────────────────────────────────────────────────────┐</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4ae85a"/>
                </a:solidFill>
                <a:latin typeface="Consolas"/>
              </a:rPr>
              <a:t>│                    </a:t>
            </a:r>
            <a:r>
              <a:rPr b="0" lang="en-US" sz="1400" spc="-1" strike="noStrike">
                <a:solidFill>
                  <a:srgbClr val="4ae85a"/>
                </a:solidFill>
                <a:latin typeface="Consolas"/>
              </a:rPr>
              <a:t>AGENT LOOP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708070"/>
                </a:solidFill>
                <a:latin typeface="Consolas"/>
              </a:rPr>
              <a:t>│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00ccaa"/>
                </a:solidFill>
                <a:latin typeface="Consolas"/>
              </a:rPr>
              <a:t>│  ┌─────────┐    ┌─────────┐    ┌─────────┐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ffffff"/>
                </a:solidFill>
                <a:latin typeface="Consolas"/>
              </a:rPr>
              <a:t>│  │  </a:t>
            </a:r>
            <a:r>
              <a:rPr b="0" lang="en-US" sz="1400" spc="-1" strike="noStrike">
                <a:solidFill>
                  <a:srgbClr val="ffffff"/>
                </a:solidFill>
                <a:latin typeface="Consolas"/>
              </a:rPr>
              <a:t>Plan   │───→│  Act    │───→│ Observe  │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c8d8c0"/>
                </a:solidFill>
                <a:latin typeface="Consolas"/>
              </a:rPr>
              <a:t>│  │</a:t>
            </a:r>
            <a:r>
              <a:rPr b="0" lang="en-US" sz="1400" spc="-1" strike="noStrike">
                <a:solidFill>
                  <a:srgbClr val="c8d8c0"/>
                </a:solidFill>
                <a:latin typeface="Consolas"/>
              </a:rPr>
              <a:t>What to  │    │Call     │    │Read     │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c8d8c0"/>
                </a:solidFill>
                <a:latin typeface="Consolas"/>
              </a:rPr>
              <a:t>│  │</a:t>
            </a:r>
            <a:r>
              <a:rPr b="0" lang="en-US" sz="1400" spc="-1" strike="noStrike">
                <a:solidFill>
                  <a:srgbClr val="c8d8c0"/>
                </a:solidFill>
                <a:latin typeface="Consolas"/>
              </a:rPr>
              <a:t>do next? │    │tools    │    │results  │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00ccaa"/>
                </a:solidFill>
                <a:latin typeface="Consolas"/>
              </a:rPr>
              <a:t>│  └─────────┘    └─────────┘    └────┬────┘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708070"/>
                </a:solidFill>
                <a:latin typeface="Consolas"/>
              </a:rPr>
              <a:t>│       ↑                              │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708070"/>
                </a:solidFill>
                <a:latin typeface="Consolas"/>
              </a:rPr>
              <a:t>│       └──────────────────────────────┘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708070"/>
                </a:solidFill>
                <a:latin typeface="Consolas"/>
              </a:rPr>
              <a:t>│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f5a623"/>
                </a:solidFill>
                <a:latin typeface="Consolas"/>
              </a:rPr>
              <a:t>│  </a:t>
            </a:r>
            <a:r>
              <a:rPr b="0" lang="en-US" sz="1400" spc="-1" strike="noStrike">
                <a:solidFill>
                  <a:srgbClr val="f5a623"/>
                </a:solidFill>
                <a:latin typeface="Consolas"/>
              </a:rPr>
              <a:t>TOOLS: read_file, terminal, web_search,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f5a623"/>
                </a:solidFill>
                <a:latin typeface="Consolas"/>
              </a:rPr>
              <a:t>│         </a:t>
            </a:r>
            <a:r>
              <a:rPr b="0" lang="en-US" sz="1400" spc="-1" strike="noStrike">
                <a:solidFill>
                  <a:srgbClr val="f5a623"/>
                </a:solidFill>
                <a:latin typeface="Consolas"/>
              </a:rPr>
              <a:t>browser, code_exec, send_message, ...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708070"/>
                </a:solidFill>
                <a:latin typeface="Consolas"/>
              </a:rPr>
              <a:t>│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006dd5"/>
                </a:solidFill>
                <a:latin typeface="Consolas"/>
              </a:rPr>
              <a:t>│  </a:t>
            </a:r>
            <a:r>
              <a:rPr b="0" lang="en-US" sz="1400" spc="-1" strike="noStrike">
                <a:solidFill>
                  <a:srgbClr val="006dd5"/>
                </a:solidFill>
                <a:latin typeface="Consolas"/>
              </a:rPr>
              <a:t>MEMORY: ephemeral + working + long-term + RAG       │</a:t>
            </a:r>
            <a:endParaRPr b="0" lang="en-US" sz="1400" spc="-1" strike="noStrike">
              <a:solidFill>
                <a:srgbClr val="ffffff"/>
              </a:solidFill>
              <a:latin typeface="Arial"/>
            </a:endParaRPr>
          </a:p>
          <a:p>
            <a:pPr defTabSz="457200">
              <a:lnSpc>
                <a:spcPct val="110000"/>
              </a:lnSpc>
              <a:spcAft>
                <a:spcPts val="400"/>
              </a:spcAft>
            </a:pPr>
            <a:r>
              <a:rPr b="0" lang="en-US" sz="1400" spc="-1" strike="noStrike">
                <a:solidFill>
                  <a:srgbClr val="4ae85a"/>
                </a:solidFill>
                <a:latin typeface="Consolas"/>
              </a:rPr>
              <a:t>└─────────────────────────────────────────────────────┘</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277"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Agentic Memory: How Raptors Learn</a:t>
            </a:r>
            <a:endParaRPr b="0" lang="en-US" sz="3200" spc="-1" strike="noStrike">
              <a:solidFill>
                <a:srgbClr val="ffffff"/>
              </a:solidFill>
              <a:latin typeface="Arial"/>
            </a:endParaRPr>
          </a:p>
        </p:txBody>
      </p:sp>
      <p:sp>
        <p:nvSpPr>
          <p:cNvPr id="278" name="Rectangle 2"/>
          <p:cNvSpPr/>
          <p:nvPr/>
        </p:nvSpPr>
        <p:spPr>
          <a:xfrm>
            <a:off x="548640" y="1051560"/>
            <a:ext cx="2742840" cy="101160"/>
          </a:xfrm>
          <a:prstGeom prst="rect">
            <a:avLst/>
          </a:prstGeom>
          <a:solidFill>
            <a:srgbClr val="00cca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9" name="Rounded Rectangle 3"/>
          <p:cNvSpPr/>
          <p:nvPr/>
        </p:nvSpPr>
        <p:spPr>
          <a:xfrm>
            <a:off x="1371600" y="1371600"/>
            <a:ext cx="9143640" cy="73116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0" name="TextBox 4"/>
          <p:cNvSpPr/>
          <p:nvPr/>
        </p:nvSpPr>
        <p:spPr>
          <a:xfrm>
            <a:off x="1371600" y="1371600"/>
            <a:ext cx="9143640" cy="7311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  </a:t>
            </a:r>
            <a:r>
              <a:rPr b="1" lang="en-US" sz="1400" spc="-1" strike="noStrike">
                <a:solidFill>
                  <a:srgbClr val="ffffff"/>
                </a:solidFill>
                <a:latin typeface="Consolas"/>
              </a:rPr>
              <a:t>Ephemeral (this turn): Tool output, current file</a:t>
            </a:r>
            <a:endParaRPr b="0" lang="en-US" sz="1400" spc="-1" strike="noStrike">
              <a:solidFill>
                <a:srgbClr val="ffffff"/>
              </a:solidFill>
              <a:latin typeface="Arial"/>
            </a:endParaRPr>
          </a:p>
        </p:txBody>
      </p:sp>
      <p:sp>
        <p:nvSpPr>
          <p:cNvPr id="281" name="Rounded Rectangle 5"/>
          <p:cNvSpPr/>
          <p:nvPr/>
        </p:nvSpPr>
        <p:spPr>
          <a:xfrm>
            <a:off x="1371600" y="2286000"/>
            <a:ext cx="9143640" cy="73116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2" name="TextBox 6"/>
          <p:cNvSpPr/>
          <p:nvPr/>
        </p:nvSpPr>
        <p:spPr>
          <a:xfrm>
            <a:off x="1371600" y="2286000"/>
            <a:ext cx="9143640" cy="7311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  </a:t>
            </a:r>
            <a:r>
              <a:rPr b="1" lang="en-US" sz="1400" spc="-1" strike="noStrike">
                <a:solidFill>
                  <a:srgbClr val="ffffff"/>
                </a:solidFill>
                <a:latin typeface="Consolas"/>
              </a:rPr>
              <a:t>Working Memory (session): Conversation, scratch pad</a:t>
            </a:r>
            <a:endParaRPr b="0" lang="en-US" sz="1400" spc="-1" strike="noStrike">
              <a:solidFill>
                <a:srgbClr val="ffffff"/>
              </a:solidFill>
              <a:latin typeface="Arial"/>
            </a:endParaRPr>
          </a:p>
        </p:txBody>
      </p:sp>
      <p:sp>
        <p:nvSpPr>
          <p:cNvPr id="283" name="Rounded Rectangle 7"/>
          <p:cNvSpPr/>
          <p:nvPr/>
        </p:nvSpPr>
        <p:spPr>
          <a:xfrm>
            <a:off x="1371600" y="3200400"/>
            <a:ext cx="9143640" cy="73116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4" name="TextBox 8"/>
          <p:cNvSpPr/>
          <p:nvPr/>
        </p:nvSpPr>
        <p:spPr>
          <a:xfrm>
            <a:off x="1371600" y="3200400"/>
            <a:ext cx="9143640" cy="7311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  </a:t>
            </a:r>
            <a:r>
              <a:rPr b="1" lang="en-US" sz="1400" spc="-1" strike="noStrike">
                <a:solidFill>
                  <a:srgbClr val="ffffff"/>
                </a:solidFill>
                <a:latin typeface="Consolas"/>
              </a:rPr>
              <a:t>Long-term (cross-session): SOUL.md, skills, wiki, files</a:t>
            </a:r>
            <a:endParaRPr b="0" lang="en-US" sz="1400" spc="-1" strike="noStrike">
              <a:solidFill>
                <a:srgbClr val="ffffff"/>
              </a:solidFill>
              <a:latin typeface="Arial"/>
            </a:endParaRPr>
          </a:p>
        </p:txBody>
      </p:sp>
      <p:sp>
        <p:nvSpPr>
          <p:cNvPr id="285" name="Rounded Rectangle 9"/>
          <p:cNvSpPr/>
          <p:nvPr/>
        </p:nvSpPr>
        <p:spPr>
          <a:xfrm>
            <a:off x="1371600" y="4114800"/>
            <a:ext cx="9143640" cy="73116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6" name="TextBox 10"/>
          <p:cNvSpPr/>
          <p:nvPr/>
        </p:nvSpPr>
        <p:spPr>
          <a:xfrm>
            <a:off x="1371600" y="4114800"/>
            <a:ext cx="9143640" cy="7311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  </a:t>
            </a:r>
            <a:r>
              <a:rPr b="1" lang="en-US" sz="1400" spc="-1" strike="noStrike">
                <a:solidFill>
                  <a:srgbClr val="ffffff"/>
                </a:solidFill>
                <a:latin typeface="Consolas"/>
              </a:rPr>
              <a:t>External / RAG: Vector DB, docs, CVEs, specs</a:t>
            </a:r>
            <a:endParaRPr b="0" lang="en-US" sz="1400" spc="-1" strike="noStrike">
              <a:solidFill>
                <a:srgbClr val="ffffff"/>
              </a:solidFill>
              <a:latin typeface="Arial"/>
            </a:endParaRPr>
          </a:p>
        </p:txBody>
      </p:sp>
      <p:sp>
        <p:nvSpPr>
          <p:cNvPr id="287" name="TextBox 11"/>
          <p:cNvSpPr/>
          <p:nvPr/>
        </p:nvSpPr>
        <p:spPr>
          <a:xfrm>
            <a:off x="1371600" y="5120640"/>
            <a:ext cx="9143640" cy="1371240"/>
          </a:xfrm>
          <a:prstGeom prst="rect">
            <a:avLst/>
          </a:prstGeom>
          <a:noFill/>
          <a:ln w="0">
            <a:noFill/>
          </a:ln>
        </p:spPr>
        <p:style>
          <a:lnRef idx="0"/>
          <a:fillRef idx="0"/>
          <a:effectRef idx="0"/>
          <a:fontRef idx="minor"/>
        </p:style>
        <p:txBody>
          <a:bodyPr lIns="90000" rIns="90000" tIns="45000" bIns="45000" anchor="t">
            <a:normAutofit/>
          </a:bodyPr>
          <a:p>
            <a:pPr defTabSz="457200">
              <a:lnSpc>
                <a:spcPct val="120000"/>
              </a:lnSpc>
              <a:spcAft>
                <a:spcPts val="400"/>
              </a:spcAft>
            </a:pPr>
            <a:r>
              <a:rPr b="0" lang="en-US" sz="1500" spc="-1" strike="noStrike">
                <a:solidFill>
                  <a:srgbClr val="c8d8c0"/>
                </a:solidFill>
                <a:latin typeface="Consolas"/>
              </a:rPr>
              <a:t>Without memory: every session is a fresh amnesiac.</a:t>
            </a:r>
            <a:endParaRPr b="0" lang="en-US" sz="1500" spc="-1" strike="noStrike">
              <a:solidFill>
                <a:srgbClr val="ffffff"/>
              </a:solidFill>
              <a:latin typeface="Arial"/>
            </a:endParaRPr>
          </a:p>
          <a:p>
            <a:pPr defTabSz="457200">
              <a:lnSpc>
                <a:spcPct val="120000"/>
              </a:lnSpc>
              <a:spcAft>
                <a:spcPts val="400"/>
              </a:spcAft>
            </a:pPr>
            <a:r>
              <a:rPr b="1" lang="en-US" sz="1500" spc="-1" strike="noStrike">
                <a:solidFill>
                  <a:srgbClr val="4ae85a"/>
                </a:solidFill>
                <a:latin typeface="Consolas"/>
              </a:rPr>
              <a:t>With memory: the agent learns your tools, targets, and style over time.</a:t>
            </a:r>
            <a:endParaRPr b="0" lang="en-US" sz="1500" spc="-1" strike="noStrike">
              <a:solidFill>
                <a:srgbClr val="ffffff"/>
              </a:solidFill>
              <a:latin typeface="Arial"/>
            </a:endParaRPr>
          </a:p>
          <a:p>
            <a:pPr defTabSz="457200">
              <a:lnSpc>
                <a:spcPct val="120000"/>
              </a:lnSpc>
              <a:spcAft>
                <a:spcPts val="400"/>
              </a:spcAft>
            </a:pPr>
            <a:r>
              <a:rPr b="1" lang="en-US" sz="1500" spc="-1" strike="noStrike">
                <a:solidFill>
                  <a:srgbClr val="00ccaa"/>
                </a:solidFill>
                <a:latin typeface="Consolas"/>
              </a:rPr>
              <a:t>Layer 3 (files/wiki) &gt; 10x bigger context window.</a:t>
            </a:r>
            <a:endParaRPr b="0" lang="en-US" sz="1500" spc="-1" strike="noStrike">
              <a:solidFill>
                <a:srgbClr val="ffffff"/>
              </a:solidFill>
              <a:latin typeface="Arial"/>
            </a:endParaRPr>
          </a:p>
          <a:p>
            <a:pPr defTabSz="457200">
              <a:lnSpc>
                <a:spcPct val="120000"/>
              </a:lnSpc>
              <a:spcAft>
                <a:spcPts val="400"/>
              </a:spcAft>
            </a:pPr>
            <a:r>
              <a:rPr b="0" lang="en-US" sz="1500" spc="-1" strike="noStrike">
                <a:solidFill>
                  <a:srgbClr val="f5a623"/>
                </a:solidFill>
                <a:latin typeface="Consolas"/>
              </a:rPr>
              <a:t>This is how the raptors learned the fence patterns — persistence.</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8" name="" descr=""/>
          <p:cNvPicPr/>
          <p:nvPr/>
        </p:nvPicPr>
        <p:blipFill>
          <a:blip r:embed="rId1"/>
          <a:stretch/>
        </p:blipFill>
        <p:spPr>
          <a:xfrm>
            <a:off x="1693800" y="-9360"/>
            <a:ext cx="8625240" cy="1029600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pic>
        <p:nvPicPr>
          <p:cNvPr id="289" name="Picture 1" descr="electric_fence_faded.png"/>
          <p:cNvPicPr/>
          <p:nvPr/>
        </p:nvPicPr>
        <p:blipFill>
          <a:blip r:embed="rId1"/>
          <a:stretch/>
        </p:blipFill>
        <p:spPr>
          <a:xfrm>
            <a:off x="0" y="0"/>
            <a:ext cx="12191400" cy="6857640"/>
          </a:xfrm>
          <a:prstGeom prst="rect">
            <a:avLst/>
          </a:prstGeom>
          <a:ln w="0">
            <a:noFill/>
          </a:ln>
        </p:spPr>
      </p:pic>
      <p:sp>
        <p:nvSpPr>
          <p:cNvPr id="290" name="TextBox 2"/>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The Decomposition Meta-Strategy</a:t>
            </a:r>
            <a:endParaRPr b="0" lang="en-US" sz="3200" spc="-1" strike="noStrike">
              <a:solidFill>
                <a:srgbClr val="ffffff"/>
              </a:solidFill>
              <a:latin typeface="Arial"/>
            </a:endParaRPr>
          </a:p>
        </p:txBody>
      </p:sp>
      <p:sp>
        <p:nvSpPr>
          <p:cNvPr id="291" name="Rectangle 3"/>
          <p:cNvSpPr/>
          <p:nvPr/>
        </p:nvSpPr>
        <p:spPr>
          <a:xfrm>
            <a:off x="548640" y="1051560"/>
            <a:ext cx="2742840" cy="101160"/>
          </a:xfrm>
          <a:prstGeom prst="rect">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2" name="TextBox 4"/>
          <p:cNvSpPr/>
          <p:nvPr/>
        </p:nvSpPr>
        <p:spPr>
          <a:xfrm>
            <a:off x="1371600" y="1371600"/>
            <a:ext cx="9143640" cy="9140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2200" spc="-1" strike="noStrike">
                <a:solidFill>
                  <a:srgbClr val="4ae85a"/>
                </a:solidFill>
                <a:latin typeface="Consolas"/>
              </a:rPr>
              <a:t>"You can't fit the whole problem in context. So you don't try."</a:t>
            </a:r>
            <a:endParaRPr b="0" lang="en-US" sz="2200" spc="-1" strike="noStrike">
              <a:solidFill>
                <a:srgbClr val="ffffff"/>
              </a:solidFill>
              <a:latin typeface="Arial"/>
            </a:endParaRPr>
          </a:p>
        </p:txBody>
      </p:sp>
      <p:sp>
        <p:nvSpPr>
          <p:cNvPr id="293" name="Rounded Rectangle 5"/>
          <p:cNvSpPr/>
          <p:nvPr/>
        </p:nvSpPr>
        <p:spPr>
          <a:xfrm>
            <a:off x="975240" y="2560320"/>
            <a:ext cx="1462680" cy="109692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4" name="TextBox 6"/>
          <p:cNvSpPr/>
          <p:nvPr/>
        </p:nvSpPr>
        <p:spPr>
          <a:xfrm>
            <a:off x="975240" y="2560320"/>
            <a:ext cx="146268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000" spc="-1" strike="noStrike">
                <a:solidFill>
                  <a:srgbClr val="ffffff"/>
                </a:solidFill>
                <a:latin typeface="Consolas"/>
              </a:rPr>
              <a:t>Big</a:t>
            </a:r>
            <a:br>
              <a:rPr sz="1000"/>
            </a:br>
            <a:r>
              <a:rPr b="1" lang="en-US" sz="1000" spc="-1" strike="noStrike">
                <a:solidFill>
                  <a:srgbClr val="ffffff"/>
                </a:solidFill>
                <a:latin typeface="Consolas"/>
              </a:rPr>
              <a:t>Problem</a:t>
            </a:r>
            <a:endParaRPr b="0" lang="en-US" sz="1000" spc="-1" strike="noStrike">
              <a:solidFill>
                <a:srgbClr val="ffffff"/>
              </a:solidFill>
              <a:latin typeface="Arial"/>
            </a:endParaRPr>
          </a:p>
        </p:txBody>
      </p:sp>
      <p:sp>
        <p:nvSpPr>
          <p:cNvPr id="295" name="TextBox 7"/>
          <p:cNvSpPr/>
          <p:nvPr/>
        </p:nvSpPr>
        <p:spPr>
          <a:xfrm>
            <a:off x="2346840" y="2834640"/>
            <a:ext cx="27396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000" spc="-1" strike="noStrike">
                <a:solidFill>
                  <a:srgbClr val="708070"/>
                </a:solidFill>
                <a:latin typeface="Consolas"/>
              </a:rPr>
              <a:t>→</a:t>
            </a:r>
            <a:endParaRPr b="0" lang="en-US" sz="2000" spc="-1" strike="noStrike">
              <a:solidFill>
                <a:srgbClr val="ffffff"/>
              </a:solidFill>
              <a:latin typeface="Arial"/>
            </a:endParaRPr>
          </a:p>
        </p:txBody>
      </p:sp>
      <p:sp>
        <p:nvSpPr>
          <p:cNvPr id="296" name="Rounded Rectangle 8"/>
          <p:cNvSpPr/>
          <p:nvPr/>
        </p:nvSpPr>
        <p:spPr>
          <a:xfrm>
            <a:off x="2438280" y="2560320"/>
            <a:ext cx="1462680" cy="109692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7" name="TextBox 9"/>
          <p:cNvSpPr/>
          <p:nvPr/>
        </p:nvSpPr>
        <p:spPr>
          <a:xfrm>
            <a:off x="2438280" y="2560320"/>
            <a:ext cx="146268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000" spc="-1" strike="noStrike">
                <a:solidFill>
                  <a:srgbClr val="ffffff"/>
                </a:solidFill>
                <a:latin typeface="Consolas"/>
              </a:rPr>
              <a:t>Decompose</a:t>
            </a:r>
            <a:endParaRPr b="0" lang="en-US" sz="1000" spc="-1" strike="noStrike">
              <a:solidFill>
                <a:srgbClr val="ffffff"/>
              </a:solidFill>
              <a:latin typeface="Arial"/>
            </a:endParaRPr>
          </a:p>
        </p:txBody>
      </p:sp>
      <p:sp>
        <p:nvSpPr>
          <p:cNvPr id="298" name="TextBox 10"/>
          <p:cNvSpPr/>
          <p:nvPr/>
        </p:nvSpPr>
        <p:spPr>
          <a:xfrm>
            <a:off x="3809880" y="2834640"/>
            <a:ext cx="27396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000" spc="-1" strike="noStrike">
                <a:solidFill>
                  <a:srgbClr val="708070"/>
                </a:solidFill>
                <a:latin typeface="Consolas"/>
              </a:rPr>
              <a:t>→</a:t>
            </a:r>
            <a:endParaRPr b="0" lang="en-US" sz="2000" spc="-1" strike="noStrike">
              <a:solidFill>
                <a:srgbClr val="ffffff"/>
              </a:solidFill>
              <a:latin typeface="Arial"/>
            </a:endParaRPr>
          </a:p>
        </p:txBody>
      </p:sp>
      <p:sp>
        <p:nvSpPr>
          <p:cNvPr id="299" name="Rounded Rectangle 11"/>
          <p:cNvSpPr/>
          <p:nvPr/>
        </p:nvSpPr>
        <p:spPr>
          <a:xfrm>
            <a:off x="3901320" y="2560320"/>
            <a:ext cx="1462680" cy="109692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0" name="TextBox 12"/>
          <p:cNvSpPr/>
          <p:nvPr/>
        </p:nvSpPr>
        <p:spPr>
          <a:xfrm>
            <a:off x="3901320" y="2560320"/>
            <a:ext cx="146268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000" spc="-1" strike="noStrike">
                <a:solidFill>
                  <a:srgbClr val="ffffff"/>
                </a:solidFill>
                <a:latin typeface="Consolas"/>
              </a:rPr>
              <a:t>Chunk 1</a:t>
            </a:r>
            <a:br>
              <a:rPr sz="1000"/>
            </a:br>
            <a:r>
              <a:rPr b="1" lang="en-US" sz="1000" spc="-1" strike="noStrike">
                <a:solidFill>
                  <a:srgbClr val="ffffff"/>
                </a:solidFill>
                <a:latin typeface="Consolas"/>
              </a:rPr>
              <a:t>→ Analyze</a:t>
            </a:r>
            <a:endParaRPr b="0" lang="en-US" sz="1000" spc="-1" strike="noStrike">
              <a:solidFill>
                <a:srgbClr val="ffffff"/>
              </a:solidFill>
              <a:latin typeface="Arial"/>
            </a:endParaRPr>
          </a:p>
        </p:txBody>
      </p:sp>
      <p:sp>
        <p:nvSpPr>
          <p:cNvPr id="301" name="TextBox 13"/>
          <p:cNvSpPr/>
          <p:nvPr/>
        </p:nvSpPr>
        <p:spPr>
          <a:xfrm>
            <a:off x="5272920" y="2834640"/>
            <a:ext cx="27396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000" spc="-1" strike="noStrike">
                <a:solidFill>
                  <a:srgbClr val="708070"/>
                </a:solidFill>
                <a:latin typeface="Consolas"/>
              </a:rPr>
              <a:t>→</a:t>
            </a:r>
            <a:endParaRPr b="0" lang="en-US" sz="2000" spc="-1" strike="noStrike">
              <a:solidFill>
                <a:srgbClr val="ffffff"/>
              </a:solidFill>
              <a:latin typeface="Arial"/>
            </a:endParaRPr>
          </a:p>
        </p:txBody>
      </p:sp>
      <p:sp>
        <p:nvSpPr>
          <p:cNvPr id="302" name="Rounded Rectangle 14"/>
          <p:cNvSpPr/>
          <p:nvPr/>
        </p:nvSpPr>
        <p:spPr>
          <a:xfrm>
            <a:off x="5364360" y="2560320"/>
            <a:ext cx="1462680" cy="109692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3" name="TextBox 15"/>
          <p:cNvSpPr/>
          <p:nvPr/>
        </p:nvSpPr>
        <p:spPr>
          <a:xfrm>
            <a:off x="5364360" y="2560320"/>
            <a:ext cx="146268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000" spc="-1" strike="noStrike">
                <a:solidFill>
                  <a:srgbClr val="ffffff"/>
                </a:solidFill>
                <a:latin typeface="Consolas"/>
              </a:rPr>
              <a:t>Chunk 2</a:t>
            </a:r>
            <a:br>
              <a:rPr sz="1000"/>
            </a:br>
            <a:r>
              <a:rPr b="1" lang="en-US" sz="1000" spc="-1" strike="noStrike">
                <a:solidFill>
                  <a:srgbClr val="ffffff"/>
                </a:solidFill>
                <a:latin typeface="Consolas"/>
              </a:rPr>
              <a:t>→ Analyze</a:t>
            </a:r>
            <a:endParaRPr b="0" lang="en-US" sz="1000" spc="-1" strike="noStrike">
              <a:solidFill>
                <a:srgbClr val="ffffff"/>
              </a:solidFill>
              <a:latin typeface="Arial"/>
            </a:endParaRPr>
          </a:p>
        </p:txBody>
      </p:sp>
      <p:sp>
        <p:nvSpPr>
          <p:cNvPr id="304" name="TextBox 16"/>
          <p:cNvSpPr/>
          <p:nvPr/>
        </p:nvSpPr>
        <p:spPr>
          <a:xfrm>
            <a:off x="6735960" y="2834640"/>
            <a:ext cx="27396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000" spc="-1" strike="noStrike">
                <a:solidFill>
                  <a:srgbClr val="708070"/>
                </a:solidFill>
                <a:latin typeface="Consolas"/>
              </a:rPr>
              <a:t>→</a:t>
            </a:r>
            <a:endParaRPr b="0" lang="en-US" sz="2000" spc="-1" strike="noStrike">
              <a:solidFill>
                <a:srgbClr val="ffffff"/>
              </a:solidFill>
              <a:latin typeface="Arial"/>
            </a:endParaRPr>
          </a:p>
        </p:txBody>
      </p:sp>
      <p:sp>
        <p:nvSpPr>
          <p:cNvPr id="305" name="Rounded Rectangle 17"/>
          <p:cNvSpPr/>
          <p:nvPr/>
        </p:nvSpPr>
        <p:spPr>
          <a:xfrm>
            <a:off x="6827400" y="2560320"/>
            <a:ext cx="1462680" cy="109692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6" name="TextBox 18"/>
          <p:cNvSpPr/>
          <p:nvPr/>
        </p:nvSpPr>
        <p:spPr>
          <a:xfrm>
            <a:off x="6827400" y="2560320"/>
            <a:ext cx="146268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000" spc="-1" strike="noStrike">
                <a:solidFill>
                  <a:srgbClr val="ffffff"/>
                </a:solidFill>
                <a:latin typeface="Consolas"/>
              </a:rPr>
              <a:t>Chunk 3</a:t>
            </a:r>
            <a:br>
              <a:rPr sz="1000"/>
            </a:br>
            <a:r>
              <a:rPr b="1" lang="en-US" sz="1000" spc="-1" strike="noStrike">
                <a:solidFill>
                  <a:srgbClr val="ffffff"/>
                </a:solidFill>
                <a:latin typeface="Consolas"/>
              </a:rPr>
              <a:t>→ Analyze</a:t>
            </a:r>
            <a:endParaRPr b="0" lang="en-US" sz="1000" spc="-1" strike="noStrike">
              <a:solidFill>
                <a:srgbClr val="ffffff"/>
              </a:solidFill>
              <a:latin typeface="Arial"/>
            </a:endParaRPr>
          </a:p>
        </p:txBody>
      </p:sp>
      <p:sp>
        <p:nvSpPr>
          <p:cNvPr id="307" name="TextBox 19"/>
          <p:cNvSpPr/>
          <p:nvPr/>
        </p:nvSpPr>
        <p:spPr>
          <a:xfrm>
            <a:off x="8199000" y="2834640"/>
            <a:ext cx="27396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000" spc="-1" strike="noStrike">
                <a:solidFill>
                  <a:srgbClr val="708070"/>
                </a:solidFill>
                <a:latin typeface="Consolas"/>
              </a:rPr>
              <a:t>→</a:t>
            </a:r>
            <a:endParaRPr b="0" lang="en-US" sz="2000" spc="-1" strike="noStrike">
              <a:solidFill>
                <a:srgbClr val="ffffff"/>
              </a:solidFill>
              <a:latin typeface="Arial"/>
            </a:endParaRPr>
          </a:p>
        </p:txBody>
      </p:sp>
      <p:sp>
        <p:nvSpPr>
          <p:cNvPr id="308" name="Rounded Rectangle 20"/>
          <p:cNvSpPr/>
          <p:nvPr/>
        </p:nvSpPr>
        <p:spPr>
          <a:xfrm>
            <a:off x="8290440" y="2560320"/>
            <a:ext cx="1462680" cy="109692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9" name="TextBox 21"/>
          <p:cNvSpPr/>
          <p:nvPr/>
        </p:nvSpPr>
        <p:spPr>
          <a:xfrm>
            <a:off x="8290440" y="2560320"/>
            <a:ext cx="146268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000" spc="-1" strike="noStrike">
                <a:solidFill>
                  <a:srgbClr val="ffffff"/>
                </a:solidFill>
                <a:latin typeface="Consolas"/>
              </a:rPr>
              <a:t>Merge</a:t>
            </a:r>
            <a:br>
              <a:rPr sz="1000"/>
            </a:br>
            <a:r>
              <a:rPr b="1" lang="en-US" sz="1000" spc="-1" strike="noStrike">
                <a:solidFill>
                  <a:srgbClr val="ffffff"/>
                </a:solidFill>
                <a:latin typeface="Consolas"/>
              </a:rPr>
              <a:t>Summaries</a:t>
            </a:r>
            <a:endParaRPr b="0" lang="en-US" sz="1000" spc="-1" strike="noStrike">
              <a:solidFill>
                <a:srgbClr val="ffffff"/>
              </a:solidFill>
              <a:latin typeface="Arial"/>
            </a:endParaRPr>
          </a:p>
        </p:txBody>
      </p:sp>
      <p:sp>
        <p:nvSpPr>
          <p:cNvPr id="310" name="TextBox 22"/>
          <p:cNvSpPr/>
          <p:nvPr/>
        </p:nvSpPr>
        <p:spPr>
          <a:xfrm>
            <a:off x="9662040" y="2834640"/>
            <a:ext cx="27396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000" spc="-1" strike="noStrike">
                <a:solidFill>
                  <a:srgbClr val="708070"/>
                </a:solidFill>
                <a:latin typeface="Consolas"/>
              </a:rPr>
              <a:t>→</a:t>
            </a:r>
            <a:endParaRPr b="0" lang="en-US" sz="2000" spc="-1" strike="noStrike">
              <a:solidFill>
                <a:srgbClr val="ffffff"/>
              </a:solidFill>
              <a:latin typeface="Arial"/>
            </a:endParaRPr>
          </a:p>
        </p:txBody>
      </p:sp>
      <p:sp>
        <p:nvSpPr>
          <p:cNvPr id="311" name="Rounded Rectangle 23"/>
          <p:cNvSpPr/>
          <p:nvPr/>
        </p:nvSpPr>
        <p:spPr>
          <a:xfrm>
            <a:off x="9753480" y="2560320"/>
            <a:ext cx="1462680" cy="1096920"/>
          </a:xfrm>
          <a:prstGeom prst="roundRect">
            <a:avLst>
              <a:gd name="adj" fmla="val 8000"/>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2" name="TextBox 24"/>
          <p:cNvSpPr/>
          <p:nvPr/>
        </p:nvSpPr>
        <p:spPr>
          <a:xfrm>
            <a:off x="9753480" y="2560320"/>
            <a:ext cx="146268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000" spc="-1" strike="noStrike">
                <a:solidFill>
                  <a:srgbClr val="ffffff"/>
                </a:solidFill>
                <a:latin typeface="Consolas"/>
              </a:rPr>
              <a:t>Act!</a:t>
            </a:r>
            <a:endParaRPr b="0" lang="en-US" sz="1000" spc="-1" strike="noStrike">
              <a:solidFill>
                <a:srgbClr val="ffffff"/>
              </a:solidFill>
              <a:latin typeface="Arial"/>
            </a:endParaRPr>
          </a:p>
        </p:txBody>
      </p:sp>
      <p:sp>
        <p:nvSpPr>
          <p:cNvPr id="313" name="TextBox 25"/>
          <p:cNvSpPr/>
          <p:nvPr/>
        </p:nvSpPr>
        <p:spPr>
          <a:xfrm>
            <a:off x="1371600" y="4114800"/>
            <a:ext cx="9143640" cy="2285640"/>
          </a:xfrm>
          <a:prstGeom prst="rect">
            <a:avLst/>
          </a:prstGeom>
          <a:noFill/>
          <a:ln w="0">
            <a:noFill/>
          </a:ln>
        </p:spPr>
        <p:style>
          <a:lnRef idx="0"/>
          <a:fillRef idx="0"/>
          <a:effectRef idx="0"/>
          <a:fontRef idx="minor"/>
        </p:style>
        <p:txBody>
          <a:bodyPr lIns="90000" rIns="90000" tIns="45000" bIns="45000" anchor="t">
            <a:normAutofit/>
          </a:bodyPr>
          <a:p>
            <a:pPr defTabSz="457200">
              <a:lnSpc>
                <a:spcPct val="120000"/>
              </a:lnSpc>
              <a:spcAft>
                <a:spcPts val="400"/>
              </a:spcAft>
            </a:pPr>
            <a:r>
              <a:rPr b="1" lang="en-US" sz="1600" spc="-1" strike="noStrike">
                <a:solidFill>
                  <a:srgbClr val="00ccaa"/>
                </a:solidFill>
                <a:latin typeface="Consolas"/>
              </a:rPr>
              <a:t>This is exactly how you work with IDA/Ghidra:</a:t>
            </a:r>
            <a:endParaRPr b="0" lang="en-US" sz="1600" spc="-1" strike="noStrike">
              <a:solidFill>
                <a:srgbClr val="ffffff"/>
              </a:solidFill>
              <a:latin typeface="Arial"/>
            </a:endParaRPr>
          </a:p>
          <a:p>
            <a:pPr defTabSz="457200">
              <a:lnSpc>
                <a:spcPct val="120000"/>
              </a:lnSpc>
              <a:spcAft>
                <a:spcPts val="400"/>
              </a:spcAft>
            </a:pPr>
            <a:r>
              <a:rPr b="0" lang="en-US" sz="1500" spc="-1" strike="noStrike">
                <a:solidFill>
                  <a:srgbClr val="ffffff"/>
                </a:solidFill>
                <a:latin typeface="Consolas"/>
              </a:rPr>
              <a:t>• </a:t>
            </a:r>
            <a:r>
              <a:rPr b="0" lang="en-US" sz="1500" spc="-1" strike="noStrike">
                <a:solidFill>
                  <a:srgbClr val="ffffff"/>
                </a:solidFill>
                <a:latin typeface="Consolas"/>
              </a:rPr>
              <a:t>You don't read every byte — imports → strings → call graph → drill in</a:t>
            </a:r>
            <a:endParaRPr b="0" lang="en-US" sz="1500" spc="-1" strike="noStrike">
              <a:solidFill>
                <a:srgbClr val="ffffff"/>
              </a:solidFill>
              <a:latin typeface="Arial"/>
            </a:endParaRPr>
          </a:p>
          <a:p>
            <a:pPr defTabSz="457200">
              <a:lnSpc>
                <a:spcPct val="120000"/>
              </a:lnSpc>
              <a:spcAft>
                <a:spcPts val="400"/>
              </a:spcAft>
            </a:pPr>
            <a:r>
              <a:rPr b="0" lang="en-US" sz="1500" spc="-1" strike="noStrike">
                <a:solidFill>
                  <a:srgbClr val="ffffff"/>
                </a:solidFill>
                <a:latin typeface="Consolas"/>
              </a:rPr>
              <a:t>• </a:t>
            </a:r>
            <a:r>
              <a:rPr b="0" lang="en-US" sz="1500" spc="-1" strike="noStrike">
                <a:solidFill>
                  <a:srgbClr val="ffffff"/>
                </a:solidFill>
                <a:latin typeface="Consolas"/>
              </a:rPr>
              <a:t>Same approach works with AI</a:t>
            </a:r>
            <a:endParaRPr b="0" lang="en-US" sz="1500" spc="-1" strike="noStrike">
              <a:solidFill>
                <a:srgbClr val="ffffff"/>
              </a:solidFill>
              <a:latin typeface="Arial"/>
            </a:endParaRPr>
          </a:p>
          <a:p>
            <a:pPr defTabSz="457200">
              <a:lnSpc>
                <a:spcPct val="120000"/>
              </a:lnSpc>
              <a:spcAft>
                <a:spcPts val="400"/>
              </a:spcAft>
            </a:pPr>
            <a:r>
              <a:rPr b="1" lang="en-US" sz="1500" spc="-1" strike="noStrike">
                <a:solidFill>
                  <a:srgbClr val="4ae85a"/>
                </a:solidFill>
                <a:latin typeface="Consolas"/>
              </a:rPr>
              <a:t>• </a:t>
            </a:r>
            <a:r>
              <a:rPr b="1" lang="en-US" sz="1500" spc="-1" strike="noStrike">
                <a:solidFill>
                  <a:srgbClr val="4ae85a"/>
                </a:solidFill>
                <a:latin typeface="Consolas"/>
              </a:rPr>
              <a:t>With Fugu, the orchestrator does this *for you*</a:t>
            </a:r>
            <a:endParaRPr b="0" lang="en-US" sz="1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314"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Single Model vs Orchestration</a:t>
            </a:r>
            <a:endParaRPr b="0" lang="en-US" sz="3200" spc="-1" strike="noStrike">
              <a:solidFill>
                <a:srgbClr val="ffffff"/>
              </a:solidFill>
              <a:latin typeface="Arial"/>
            </a:endParaRPr>
          </a:p>
        </p:txBody>
      </p:sp>
      <p:sp>
        <p:nvSpPr>
          <p:cNvPr id="315" name="Rectangle 2"/>
          <p:cNvSpPr/>
          <p:nvPr/>
        </p:nvSpPr>
        <p:spPr>
          <a:xfrm>
            <a:off x="548640" y="1051560"/>
            <a:ext cx="2742840" cy="101160"/>
          </a:xfrm>
          <a:prstGeom prst="rect">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6" name="Rounded Rectangle 3"/>
          <p:cNvSpPr/>
          <p:nvPr/>
        </p:nvSpPr>
        <p:spPr>
          <a:xfrm>
            <a:off x="548640" y="1371600"/>
            <a:ext cx="5028840" cy="45684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7" name="TextBox 4"/>
          <p:cNvSpPr/>
          <p:nvPr/>
        </p:nvSpPr>
        <p:spPr>
          <a:xfrm>
            <a:off x="548640" y="1371600"/>
            <a:ext cx="502884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300" spc="-1" strike="noStrike">
                <a:solidFill>
                  <a:srgbClr val="ffffff"/>
                </a:solidFill>
                <a:latin typeface="Consolas"/>
              </a:rPr>
              <a:t>TRADITIONAL: One big model</a:t>
            </a:r>
            <a:endParaRPr b="0" lang="en-US" sz="1300" spc="-1" strike="noStrike">
              <a:solidFill>
                <a:srgbClr val="ffffff"/>
              </a:solidFill>
              <a:latin typeface="Arial"/>
            </a:endParaRPr>
          </a:p>
        </p:txBody>
      </p:sp>
      <p:sp>
        <p:nvSpPr>
          <p:cNvPr id="318" name="Rounded Rectangle 5"/>
          <p:cNvSpPr/>
          <p:nvPr/>
        </p:nvSpPr>
        <p:spPr>
          <a:xfrm>
            <a:off x="1371600" y="2011680"/>
            <a:ext cx="3382920" cy="1371240"/>
          </a:xfrm>
          <a:prstGeom prst="roundRect">
            <a:avLst>
              <a:gd name="adj" fmla="val 16667"/>
            </a:avLst>
          </a:prstGeom>
          <a:solidFill>
            <a:srgbClr val="1a2e1e"/>
          </a:solidFill>
          <a:ln w="12700">
            <a:solidFill>
              <a:srgbClr val="d32d2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9" name="TextBox 6"/>
          <p:cNvSpPr/>
          <p:nvPr/>
        </p:nvSpPr>
        <p:spPr>
          <a:xfrm>
            <a:off x="1371600" y="2286000"/>
            <a:ext cx="3382920" cy="9140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0" lang="en-US" sz="1400" spc="-1" strike="noStrike">
                <a:solidFill>
                  <a:srgbClr val="ffffff"/>
                </a:solidFill>
                <a:latin typeface="Consolas"/>
              </a:rPr>
              <a:t>Claude Fable 5</a:t>
            </a:r>
            <a:br>
              <a:rPr sz="1400"/>
            </a:br>
            <a:r>
              <a:rPr b="0" lang="en-US" sz="1400" spc="-1" strike="noStrike">
                <a:solidFill>
                  <a:srgbClr val="ffffff"/>
                </a:solidFill>
                <a:latin typeface="Consolas"/>
              </a:rPr>
              <a:t>(but muzzled on security)</a:t>
            </a:r>
            <a:endParaRPr b="0" lang="en-US" sz="1400" spc="-1" strike="noStrike">
              <a:solidFill>
                <a:srgbClr val="ffffff"/>
              </a:solidFill>
              <a:latin typeface="Arial"/>
            </a:endParaRPr>
          </a:p>
        </p:txBody>
      </p:sp>
      <p:sp>
        <p:nvSpPr>
          <p:cNvPr id="320" name="Rounded Rectangle 7"/>
          <p:cNvSpPr/>
          <p:nvPr/>
        </p:nvSpPr>
        <p:spPr>
          <a:xfrm>
            <a:off x="6309360" y="1371600"/>
            <a:ext cx="5303160" cy="45684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1" name="TextBox 8"/>
          <p:cNvSpPr/>
          <p:nvPr/>
        </p:nvSpPr>
        <p:spPr>
          <a:xfrm>
            <a:off x="6309360" y="1371600"/>
            <a:ext cx="530316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300" spc="-1" strike="noStrike">
                <a:solidFill>
                  <a:srgbClr val="ffffff"/>
                </a:solidFill>
                <a:latin typeface="Consolas"/>
              </a:rPr>
              <a:t>ORCHESTRATION: Fugu picks the right model</a:t>
            </a:r>
            <a:endParaRPr b="0" lang="en-US" sz="1300" spc="-1" strike="noStrike">
              <a:solidFill>
                <a:srgbClr val="ffffff"/>
              </a:solidFill>
              <a:latin typeface="Arial"/>
            </a:endParaRPr>
          </a:p>
        </p:txBody>
      </p:sp>
      <p:sp>
        <p:nvSpPr>
          <p:cNvPr id="322" name="Rounded Rectangle 9"/>
          <p:cNvSpPr/>
          <p:nvPr/>
        </p:nvSpPr>
        <p:spPr>
          <a:xfrm>
            <a:off x="6858000" y="2011680"/>
            <a:ext cx="4114440" cy="1096920"/>
          </a:xfrm>
          <a:prstGeom prst="roundRect">
            <a:avLst>
              <a:gd name="adj" fmla="val 16667"/>
            </a:avLst>
          </a:prstGeom>
          <a:solidFill>
            <a:srgbClr val="1a2e1e"/>
          </a:solidFill>
          <a:ln w="12700">
            <a:solidFill>
              <a:srgbClr val="2d8c3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3" name="TextBox 10"/>
          <p:cNvSpPr/>
          <p:nvPr/>
        </p:nvSpPr>
        <p:spPr>
          <a:xfrm>
            <a:off x="6858000" y="2194560"/>
            <a:ext cx="4114440" cy="7311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4ae85a"/>
                </a:solidFill>
                <a:latin typeface="Consolas"/>
              </a:rPr>
              <a:t>Sakana Fugu</a:t>
            </a:r>
            <a:br>
              <a:rPr sz="1400"/>
            </a:br>
            <a:r>
              <a:rPr b="1" lang="en-US" sz="1400" spc="-1" strike="noStrike">
                <a:solidFill>
                  <a:srgbClr val="4ae85a"/>
                </a:solidFill>
                <a:latin typeface="Consolas"/>
              </a:rPr>
              <a:t>(orchestrator / coordinator)</a:t>
            </a:r>
            <a:endParaRPr b="0" lang="en-US" sz="1400" spc="-1" strike="noStrike">
              <a:solidFill>
                <a:srgbClr val="ffffff"/>
              </a:solidFill>
              <a:latin typeface="Arial"/>
            </a:endParaRPr>
          </a:p>
        </p:txBody>
      </p:sp>
      <p:sp>
        <p:nvSpPr>
          <p:cNvPr id="324" name="Rounded Rectangle 11"/>
          <p:cNvSpPr/>
          <p:nvPr/>
        </p:nvSpPr>
        <p:spPr>
          <a:xfrm>
            <a:off x="6858000" y="3474720"/>
            <a:ext cx="1279800" cy="73116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5" name="TextBox 12"/>
          <p:cNvSpPr/>
          <p:nvPr/>
        </p:nvSpPr>
        <p:spPr>
          <a:xfrm>
            <a:off x="6858000" y="3474720"/>
            <a:ext cx="1279800" cy="7311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100" spc="-1" strike="noStrike">
                <a:solidFill>
                  <a:srgbClr val="ffffff"/>
                </a:solidFill>
                <a:latin typeface="Consolas"/>
              </a:rPr>
              <a:t>GPT 5.6</a:t>
            </a:r>
            <a:endParaRPr b="0" lang="en-US" sz="1100" spc="-1" strike="noStrike">
              <a:solidFill>
                <a:srgbClr val="ffffff"/>
              </a:solidFill>
              <a:latin typeface="Arial"/>
            </a:endParaRPr>
          </a:p>
        </p:txBody>
      </p:sp>
      <p:sp>
        <p:nvSpPr>
          <p:cNvPr id="326" name="TextBox 13"/>
          <p:cNvSpPr/>
          <p:nvPr/>
        </p:nvSpPr>
        <p:spPr>
          <a:xfrm>
            <a:off x="7223760" y="3108960"/>
            <a:ext cx="54828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600" spc="-1" strike="noStrike">
                <a:solidFill>
                  <a:srgbClr val="708070"/>
                </a:solidFill>
                <a:latin typeface="Consolas"/>
              </a:rPr>
              <a:t>↓</a:t>
            </a:r>
            <a:endParaRPr b="0" lang="en-US" sz="1600" spc="-1" strike="noStrike">
              <a:solidFill>
                <a:srgbClr val="ffffff"/>
              </a:solidFill>
              <a:latin typeface="Arial"/>
            </a:endParaRPr>
          </a:p>
        </p:txBody>
      </p:sp>
      <p:sp>
        <p:nvSpPr>
          <p:cNvPr id="327" name="Rounded Rectangle 14"/>
          <p:cNvSpPr/>
          <p:nvPr/>
        </p:nvSpPr>
        <p:spPr>
          <a:xfrm>
            <a:off x="8321040" y="3474720"/>
            <a:ext cx="1279800" cy="73116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8" name="TextBox 15"/>
          <p:cNvSpPr/>
          <p:nvPr/>
        </p:nvSpPr>
        <p:spPr>
          <a:xfrm>
            <a:off x="8321040" y="3474720"/>
            <a:ext cx="1279800" cy="7311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100" spc="-1" strike="noStrike">
                <a:solidFill>
                  <a:srgbClr val="ffffff"/>
                </a:solidFill>
                <a:latin typeface="Consolas"/>
              </a:rPr>
              <a:t>Qwen 3.7</a:t>
            </a:r>
            <a:endParaRPr b="0" lang="en-US" sz="1100" spc="-1" strike="noStrike">
              <a:solidFill>
                <a:srgbClr val="ffffff"/>
              </a:solidFill>
              <a:latin typeface="Arial"/>
            </a:endParaRPr>
          </a:p>
        </p:txBody>
      </p:sp>
      <p:sp>
        <p:nvSpPr>
          <p:cNvPr id="329" name="TextBox 16"/>
          <p:cNvSpPr/>
          <p:nvPr/>
        </p:nvSpPr>
        <p:spPr>
          <a:xfrm>
            <a:off x="8686800" y="3108960"/>
            <a:ext cx="54828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600" spc="-1" strike="noStrike">
                <a:solidFill>
                  <a:srgbClr val="708070"/>
                </a:solidFill>
                <a:latin typeface="Consolas"/>
              </a:rPr>
              <a:t>↓</a:t>
            </a:r>
            <a:endParaRPr b="0" lang="en-US" sz="1600" spc="-1" strike="noStrike">
              <a:solidFill>
                <a:srgbClr val="ffffff"/>
              </a:solidFill>
              <a:latin typeface="Arial"/>
            </a:endParaRPr>
          </a:p>
        </p:txBody>
      </p:sp>
      <p:sp>
        <p:nvSpPr>
          <p:cNvPr id="330" name="Rounded Rectangle 17"/>
          <p:cNvSpPr/>
          <p:nvPr/>
        </p:nvSpPr>
        <p:spPr>
          <a:xfrm>
            <a:off x="9784080" y="3474720"/>
            <a:ext cx="1279800" cy="73116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1" name="TextBox 18"/>
          <p:cNvSpPr/>
          <p:nvPr/>
        </p:nvSpPr>
        <p:spPr>
          <a:xfrm>
            <a:off x="9784080" y="3474720"/>
            <a:ext cx="1279800" cy="7311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100" spc="-1" strike="noStrike">
                <a:solidFill>
                  <a:srgbClr val="ffffff"/>
                </a:solidFill>
                <a:latin typeface="Consolas"/>
              </a:rPr>
              <a:t>Gemini 3.1</a:t>
            </a:r>
            <a:endParaRPr b="0" lang="en-US" sz="1100" spc="-1" strike="noStrike">
              <a:solidFill>
                <a:srgbClr val="ffffff"/>
              </a:solidFill>
              <a:latin typeface="Arial"/>
            </a:endParaRPr>
          </a:p>
        </p:txBody>
      </p:sp>
      <p:sp>
        <p:nvSpPr>
          <p:cNvPr id="332" name="TextBox 19"/>
          <p:cNvSpPr/>
          <p:nvPr/>
        </p:nvSpPr>
        <p:spPr>
          <a:xfrm>
            <a:off x="10149840" y="3108960"/>
            <a:ext cx="54828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600" spc="-1" strike="noStrike">
                <a:solidFill>
                  <a:srgbClr val="708070"/>
                </a:solidFill>
                <a:latin typeface="Consolas"/>
              </a:rPr>
              <a:t>↓</a:t>
            </a:r>
            <a:endParaRPr b="0" lang="en-US" sz="1600" spc="-1" strike="noStrike">
              <a:solidFill>
                <a:srgbClr val="ffffff"/>
              </a:solidFill>
              <a:latin typeface="Arial"/>
            </a:endParaRPr>
          </a:p>
        </p:txBody>
      </p:sp>
      <p:sp>
        <p:nvSpPr>
          <p:cNvPr id="333" name="TextBox 20"/>
          <p:cNvSpPr/>
          <p:nvPr/>
        </p:nvSpPr>
        <p:spPr>
          <a:xfrm>
            <a:off x="6309360" y="4389120"/>
            <a:ext cx="530316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200" spc="-1" strike="noStrike">
                <a:solidFill>
                  <a:srgbClr val="c8d8c0"/>
                </a:solidFill>
                <a:latin typeface="Consolas"/>
              </a:rPr>
              <a:t>...swap any model. Routes around export controls.</a:t>
            </a:r>
            <a:endParaRPr b="0" lang="en-US" sz="1200" spc="-1" strike="noStrike">
              <a:solidFill>
                <a:srgbClr val="ffffff"/>
              </a:solidFill>
              <a:latin typeface="Arial"/>
            </a:endParaRPr>
          </a:p>
        </p:txBody>
      </p:sp>
      <p:sp>
        <p:nvSpPr>
          <p:cNvPr id="334" name="Rounded Rectangle 21"/>
          <p:cNvSpPr/>
          <p:nvPr/>
        </p:nvSpPr>
        <p:spPr>
          <a:xfrm>
            <a:off x="548640" y="5120640"/>
            <a:ext cx="11063880" cy="1371240"/>
          </a:xfrm>
          <a:prstGeom prst="roundRect">
            <a:avLst>
              <a:gd name="adj" fmla="val 16667"/>
            </a:avLst>
          </a:prstGeom>
          <a:solidFill>
            <a:srgbClr val="1a2e1e"/>
          </a:solidFill>
          <a:ln w="12700">
            <a:solidFill>
              <a:srgbClr val="f5a62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5" name="TextBox 22"/>
          <p:cNvSpPr/>
          <p:nvPr/>
        </p:nvSpPr>
        <p:spPr>
          <a:xfrm>
            <a:off x="822960" y="5303520"/>
            <a:ext cx="10515240" cy="1096920"/>
          </a:xfrm>
          <a:prstGeom prst="rect">
            <a:avLst/>
          </a:prstGeom>
          <a:noFill/>
          <a:ln w="0">
            <a:noFill/>
          </a:ln>
        </p:spPr>
        <p:style>
          <a:lnRef idx="0"/>
          <a:fillRef idx="0"/>
          <a:effectRef idx="0"/>
          <a:fontRef idx="minor"/>
        </p:style>
        <p:txBody>
          <a:bodyPr lIns="90000" rIns="90000" tIns="45000" bIns="45000" anchor="t">
            <a:normAutofit fontScale="83888"/>
          </a:bodyPr>
          <a:p>
            <a:pPr defTabSz="457200">
              <a:lnSpc>
                <a:spcPct val="115000"/>
              </a:lnSpc>
              <a:spcAft>
                <a:spcPts val="400"/>
              </a:spcAft>
            </a:pPr>
            <a:r>
              <a:rPr b="1" lang="en-US" sz="1600" spc="-1" strike="noStrike">
                <a:solidFill>
                  <a:srgbClr val="f5a623"/>
                </a:solidFill>
                <a:latin typeface="Consolas"/>
              </a:rPr>
              <a:t>The geopolitical angle:</a:t>
            </a:r>
            <a:endParaRPr b="0" lang="en-US" sz="1600" spc="-1" strike="noStrike">
              <a:solidFill>
                <a:srgbClr val="ffffff"/>
              </a:solidFill>
              <a:latin typeface="Arial"/>
            </a:endParaRPr>
          </a:p>
          <a:p>
            <a:pPr defTabSz="457200">
              <a:lnSpc>
                <a:spcPct val="115000"/>
              </a:lnSpc>
              <a:spcAft>
                <a:spcPts val="400"/>
              </a:spcAft>
            </a:pPr>
            <a:r>
              <a:rPr b="0" lang="en-US" sz="1400" spc="-1" strike="noStrike">
                <a:solidFill>
                  <a:srgbClr val="ffffff"/>
                </a:solidFill>
                <a:latin typeface="Consolas"/>
              </a:rPr>
              <a:t>• </a:t>
            </a:r>
            <a:r>
              <a:rPr b="0" lang="en-US" sz="1400" spc="-1" strike="noStrike">
                <a:solidFill>
                  <a:srgbClr val="ffffff"/>
                </a:solidFill>
                <a:latin typeface="Consolas"/>
              </a:rPr>
              <a:t>Export controls can cut off single-vendor access overnight</a:t>
            </a:r>
            <a:endParaRPr b="0" lang="en-US" sz="1400" spc="-1" strike="noStrike">
              <a:solidFill>
                <a:srgbClr val="ffffff"/>
              </a:solidFill>
              <a:latin typeface="Arial"/>
            </a:endParaRPr>
          </a:p>
          <a:p>
            <a:pPr defTabSz="457200">
              <a:lnSpc>
                <a:spcPct val="115000"/>
              </a:lnSpc>
              <a:spcAft>
                <a:spcPts val="400"/>
              </a:spcAft>
            </a:pPr>
            <a:r>
              <a:rPr b="0" lang="en-US" sz="1400" spc="-1" strike="noStrike">
                <a:solidFill>
                  <a:srgbClr val="ffffff"/>
                </a:solidFill>
                <a:latin typeface="Consolas"/>
              </a:rPr>
              <a:t>• </a:t>
            </a:r>
            <a:r>
              <a:rPr b="0" lang="en-US" sz="1400" spc="-1" strike="noStrike">
                <a:solidFill>
                  <a:srgbClr val="ffffff"/>
                </a:solidFill>
                <a:latin typeface="Consolas"/>
              </a:rPr>
              <a:t>Fugu routes around it — the agent pool is swappable</a:t>
            </a:r>
            <a:endParaRPr b="0" lang="en-US" sz="1400" spc="-1" strike="noStrike">
              <a:solidFill>
                <a:srgbClr val="ffffff"/>
              </a:solidFill>
              <a:latin typeface="Arial"/>
            </a:endParaRPr>
          </a:p>
          <a:p>
            <a:pPr defTabSz="457200">
              <a:lnSpc>
                <a:spcPct val="115000"/>
              </a:lnSpc>
              <a:spcAft>
                <a:spcPts val="400"/>
              </a:spcAft>
            </a:pPr>
            <a:r>
              <a:rPr b="1" lang="en-US" sz="1400" spc="-1" strike="noStrike">
                <a:solidFill>
                  <a:srgbClr val="4ae85a"/>
                </a:solidFill>
                <a:latin typeface="Consolas"/>
              </a:rPr>
              <a:t>• </a:t>
            </a:r>
            <a:r>
              <a:rPr b="1" lang="en-US" sz="1400" spc="-1" strike="noStrike">
                <a:solidFill>
                  <a:srgbClr val="4ae85a"/>
                </a:solidFill>
                <a:latin typeface="Consolas"/>
              </a:rPr>
              <a:t>"AI sovereignty" = not depending on one company's API for your security work</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22012"/>
        </a:solidFill>
      </p:bgPr>
    </p:bg>
    <p:spTree>
      <p:nvGrpSpPr>
        <p:cNvPr id="1" name=""/>
        <p:cNvGrpSpPr/>
        <p:nvPr/>
      </p:nvGrpSpPr>
      <p:grpSpPr>
        <a:xfrm>
          <a:off x="0" y="0"/>
          <a:ext cx="0" cy="0"/>
          <a:chOff x="0" y="0"/>
          <a:chExt cx="0" cy="0"/>
        </a:xfrm>
      </p:grpSpPr>
      <p:sp>
        <p:nvSpPr>
          <p:cNvPr id="336" name="TextBox 1"/>
          <p:cNvSpPr/>
          <p:nvPr/>
        </p:nvSpPr>
        <p:spPr>
          <a:xfrm>
            <a:off x="731520" y="1645920"/>
            <a:ext cx="3657240" cy="27428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12000" spc="-1" strike="noStrike">
                <a:solidFill>
                  <a:srgbClr val="1a2e1e"/>
                </a:solidFill>
                <a:latin typeface="Impact"/>
              </a:rPr>
              <a:t>04</a:t>
            </a:r>
            <a:endParaRPr b="0" lang="en-US" sz="12000" spc="-1" strike="noStrike">
              <a:solidFill>
                <a:srgbClr val="ffffff"/>
              </a:solidFill>
              <a:latin typeface="Arial"/>
            </a:endParaRPr>
          </a:p>
        </p:txBody>
      </p:sp>
      <p:sp>
        <p:nvSpPr>
          <p:cNvPr id="337" name="TextBox 2"/>
          <p:cNvSpPr/>
          <p:nvPr/>
        </p:nvSpPr>
        <p:spPr>
          <a:xfrm>
            <a:off x="731520" y="4206240"/>
            <a:ext cx="10058040" cy="137124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600" spc="-1" strike="noStrike">
                <a:solidFill>
                  <a:srgbClr val="d32d2d"/>
                </a:solidFill>
                <a:latin typeface="Consolas"/>
              </a:rPr>
              <a:t>The Hunt</a:t>
            </a:r>
            <a:endParaRPr b="0" lang="en-US" sz="3600" spc="-1" strike="noStrike">
              <a:solidFill>
                <a:srgbClr val="ffffff"/>
              </a:solidFill>
              <a:latin typeface="Arial"/>
            </a:endParaRPr>
          </a:p>
        </p:txBody>
      </p:sp>
      <p:sp>
        <p:nvSpPr>
          <p:cNvPr id="338" name="Rectangle 3"/>
          <p:cNvSpPr/>
          <p:nvPr/>
        </p:nvSpPr>
        <p:spPr>
          <a:xfrm>
            <a:off x="731520" y="4023360"/>
            <a:ext cx="2742840" cy="75960"/>
          </a:xfrm>
          <a:prstGeom prst="rect">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339"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d32d2d"/>
                </a:solidFill>
                <a:latin typeface="Consolas"/>
              </a:rPr>
              <a:t>HW 1: Autonomous Binary RE [OFFENSIVE]</a:t>
            </a:r>
            <a:endParaRPr b="0" lang="en-US" sz="3200" spc="-1" strike="noStrike">
              <a:solidFill>
                <a:srgbClr val="ffffff"/>
              </a:solidFill>
              <a:latin typeface="Arial"/>
            </a:endParaRPr>
          </a:p>
        </p:txBody>
      </p:sp>
      <p:sp>
        <p:nvSpPr>
          <p:cNvPr id="340" name="Rectangle 2"/>
          <p:cNvSpPr/>
          <p:nvPr/>
        </p:nvSpPr>
        <p:spPr>
          <a:xfrm>
            <a:off x="548640" y="1051560"/>
            <a:ext cx="2742840" cy="101160"/>
          </a:xfrm>
          <a:prstGeom prst="rect">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1" name="Rounded Rectangle 3"/>
          <p:cNvSpPr/>
          <p:nvPr/>
        </p:nvSpPr>
        <p:spPr>
          <a:xfrm>
            <a:off x="548640" y="1371600"/>
            <a:ext cx="11063880" cy="2285640"/>
          </a:xfrm>
          <a:prstGeom prst="roundRect">
            <a:avLst>
              <a:gd name="adj" fmla="val 16667"/>
            </a:avLst>
          </a:prstGeom>
          <a:solidFill>
            <a:srgbClr val="122012"/>
          </a:solidFill>
          <a:ln w="12700">
            <a:solidFill>
              <a:srgbClr val="4ae8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2" name="TextBox 4"/>
          <p:cNvSpPr/>
          <p:nvPr/>
        </p:nvSpPr>
        <p:spPr>
          <a:xfrm>
            <a:off x="914400" y="1645920"/>
            <a:ext cx="10332360" cy="1828440"/>
          </a:xfrm>
          <a:prstGeom prst="rect">
            <a:avLst/>
          </a:prstGeom>
          <a:noFill/>
          <a:ln w="0">
            <a:noFill/>
          </a:ln>
        </p:spPr>
        <p:style>
          <a:lnRef idx="0"/>
          <a:fillRef idx="0"/>
          <a:effectRef idx="0"/>
          <a:fontRef idx="minor"/>
        </p:style>
        <p:txBody>
          <a:bodyPr lIns="90000" rIns="90000" tIns="45000" bIns="45000" anchor="t">
            <a:normAutofit fontScale="75000"/>
          </a:bodyPr>
          <a:p>
            <a:pPr defTabSz="457200">
              <a:lnSpc>
                <a:spcPct val="115000"/>
              </a:lnSpc>
              <a:spcAft>
                <a:spcPts val="400"/>
              </a:spcAft>
            </a:pPr>
            <a:r>
              <a:rPr b="0" lang="en-US" sz="1300" spc="-1" strike="noStrike">
                <a:solidFill>
                  <a:srgbClr val="708070"/>
                </a:solidFill>
                <a:latin typeface="Consolas"/>
              </a:rPr>
              <a:t># Compile a vulnerable binary</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4ae85a"/>
                </a:solidFill>
                <a:latin typeface="Consolas"/>
              </a:rPr>
              <a:t>gcc -o target -fno-stack-protector target.c</a:t>
            </a:r>
            <a:endParaRPr b="0" lang="en-US" sz="1300" spc="-1" strike="noStrike">
              <a:solidFill>
                <a:srgbClr val="ffffff"/>
              </a:solidFill>
              <a:latin typeface="Arial"/>
            </a:endParaRPr>
          </a:p>
          <a:p>
            <a:pPr defTabSz="457200">
              <a:lnSpc>
                <a:spcPct val="115000"/>
              </a:lnSpc>
              <a:spcAft>
                <a:spcPts val="400"/>
              </a:spcAft>
            </a:pPr>
            <a:endParaRPr b="0" lang="en-US" sz="800" spc="-1" strike="noStrike">
              <a:solidFill>
                <a:srgbClr val="ffffff"/>
              </a:solidFill>
              <a:latin typeface="Arial"/>
            </a:endParaRPr>
          </a:p>
          <a:p>
            <a:pPr defTabSz="457200">
              <a:lnSpc>
                <a:spcPct val="115000"/>
              </a:lnSpc>
              <a:spcAft>
                <a:spcPts val="400"/>
              </a:spcAft>
            </a:pPr>
            <a:r>
              <a:rPr b="0" lang="en-US" sz="1300" spc="-1" strike="noStrike">
                <a:solidFill>
                  <a:srgbClr val="708070"/>
                </a:solidFill>
                <a:latin typeface="Consolas"/>
              </a:rPr>
              <a:t># Set the agent loose</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4ae85a"/>
                </a:solidFill>
                <a:latin typeface="Consolas"/>
              </a:rPr>
              <a:t>hermes -m qwen3.8-27b</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ffffff"/>
                </a:solidFill>
                <a:latin typeface="Consolas"/>
              </a:rPr>
              <a:t>&gt; Disassemble 'target', list all functions, find the</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ffffff"/>
                </a:solidFill>
                <a:latin typeface="Consolas"/>
              </a:rPr>
              <a:t>  </a:t>
            </a:r>
            <a:r>
              <a:rPr b="0" lang="en-US" sz="1300" spc="-1" strike="noStrike">
                <a:solidFill>
                  <a:srgbClr val="ffffff"/>
                </a:solidFill>
                <a:latin typeface="Consolas"/>
              </a:rPr>
              <a:t>unreachable secret_function, calculate the overflow</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ffffff"/>
                </a:solidFill>
                <a:latin typeface="Consolas"/>
              </a:rPr>
              <a:t>  </a:t>
            </a:r>
            <a:r>
              <a:rPr b="0" lang="en-US" sz="1300" spc="-1" strike="noStrike">
                <a:solidFill>
                  <a:srgbClr val="ffffff"/>
                </a:solidFill>
                <a:latin typeface="Consolas"/>
              </a:rPr>
              <a:t>offset, and explain how to redirect execution to it.</a:t>
            </a:r>
            <a:endParaRPr b="0" lang="en-US" sz="1300" spc="-1" strike="noStrike">
              <a:solidFill>
                <a:srgbClr val="ffffff"/>
              </a:solidFill>
              <a:latin typeface="Arial"/>
            </a:endParaRPr>
          </a:p>
        </p:txBody>
      </p:sp>
      <p:sp>
        <p:nvSpPr>
          <p:cNvPr id="343" name="Rounded Rectangle 5"/>
          <p:cNvSpPr/>
          <p:nvPr/>
        </p:nvSpPr>
        <p:spPr>
          <a:xfrm>
            <a:off x="548640" y="3931920"/>
            <a:ext cx="11063880" cy="41112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4" name="TextBox 6"/>
          <p:cNvSpPr/>
          <p:nvPr/>
        </p:nvSpPr>
        <p:spPr>
          <a:xfrm>
            <a:off x="548640" y="39319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1. objdump -d target → list all functions</a:t>
            </a:r>
            <a:endParaRPr b="0" lang="en-US" sz="1200" spc="-1" strike="noStrike">
              <a:solidFill>
                <a:srgbClr val="ffffff"/>
              </a:solidFill>
              <a:latin typeface="Arial"/>
            </a:endParaRPr>
          </a:p>
        </p:txBody>
      </p:sp>
      <p:sp>
        <p:nvSpPr>
          <p:cNvPr id="345" name="Rounded Rectangle 7"/>
          <p:cNvSpPr/>
          <p:nvPr/>
        </p:nvSpPr>
        <p:spPr>
          <a:xfrm>
            <a:off x="548640" y="4389120"/>
            <a:ext cx="11063880" cy="41112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6" name="TextBox 8"/>
          <p:cNvSpPr/>
          <p:nvPr/>
        </p:nvSpPr>
        <p:spPr>
          <a:xfrm>
            <a:off x="548640" y="43891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2. Identify secret_function — never called</a:t>
            </a:r>
            <a:endParaRPr b="0" lang="en-US" sz="1200" spc="-1" strike="noStrike">
              <a:solidFill>
                <a:srgbClr val="ffffff"/>
              </a:solidFill>
              <a:latin typeface="Arial"/>
            </a:endParaRPr>
          </a:p>
        </p:txBody>
      </p:sp>
      <p:sp>
        <p:nvSpPr>
          <p:cNvPr id="347" name="Rounded Rectangle 9"/>
          <p:cNvSpPr/>
          <p:nvPr/>
        </p:nvSpPr>
        <p:spPr>
          <a:xfrm>
            <a:off x="548640" y="4846320"/>
            <a:ext cx="11063880" cy="41112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8" name="TextBox 10"/>
          <p:cNvSpPr/>
          <p:nvPr/>
        </p:nvSpPr>
        <p:spPr>
          <a:xfrm>
            <a:off x="548640" y="48463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3. Find vulnerable strcpy in main</a:t>
            </a:r>
            <a:endParaRPr b="0" lang="en-US" sz="1200" spc="-1" strike="noStrike">
              <a:solidFill>
                <a:srgbClr val="ffffff"/>
              </a:solidFill>
              <a:latin typeface="Arial"/>
            </a:endParaRPr>
          </a:p>
        </p:txBody>
      </p:sp>
      <p:sp>
        <p:nvSpPr>
          <p:cNvPr id="349" name="Rounded Rectangle 11"/>
          <p:cNvSpPr/>
          <p:nvPr/>
        </p:nvSpPr>
        <p:spPr>
          <a:xfrm>
            <a:off x="548640" y="5303520"/>
            <a:ext cx="11063880" cy="41112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0" name="TextBox 12"/>
          <p:cNvSpPr/>
          <p:nvPr/>
        </p:nvSpPr>
        <p:spPr>
          <a:xfrm>
            <a:off x="548640" y="53035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4. Calculate offset (24 bytes on x86_64)</a:t>
            </a:r>
            <a:endParaRPr b="0" lang="en-US" sz="1200" spc="-1" strike="noStrike">
              <a:solidFill>
                <a:srgbClr val="ffffff"/>
              </a:solidFill>
              <a:latin typeface="Arial"/>
            </a:endParaRPr>
          </a:p>
        </p:txBody>
      </p:sp>
      <p:sp>
        <p:nvSpPr>
          <p:cNvPr id="351" name="Rounded Rectangle 13"/>
          <p:cNvSpPr/>
          <p:nvPr/>
        </p:nvSpPr>
        <p:spPr>
          <a:xfrm>
            <a:off x="548640" y="5760720"/>
            <a:ext cx="11063880" cy="411120"/>
          </a:xfrm>
          <a:prstGeom prst="roundRect">
            <a:avLst>
              <a:gd name="adj" fmla="val 8000"/>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2" name="TextBox 14"/>
          <p:cNvSpPr/>
          <p:nvPr/>
        </p:nvSpPr>
        <p:spPr>
          <a:xfrm>
            <a:off x="548640" y="57607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5. Explain exploit path to redirect execution</a:t>
            </a:r>
            <a:endParaRPr b="0" lang="en-US" sz="1200" spc="-1" strike="noStrike">
              <a:solidFill>
                <a:srgbClr val="ffffff"/>
              </a:solidFill>
              <a:latin typeface="Arial"/>
            </a:endParaRPr>
          </a:p>
        </p:txBody>
      </p:sp>
      <p:sp>
        <p:nvSpPr>
          <p:cNvPr id="353" name="TextBox 15"/>
          <p:cNvSpPr/>
          <p:nvPr/>
        </p:nvSpPr>
        <p:spPr>
          <a:xfrm>
            <a:off x="548640" y="6309360"/>
            <a:ext cx="1097244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600" spc="-1" strike="noStrike">
                <a:solidFill>
                  <a:srgbClr val="4ae85a"/>
                </a:solidFill>
                <a:latin typeface="Consolas"/>
              </a:rPr>
              <a:t>https://github.com/atlas0fd00m/preso-clever-girl</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354"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d32d2d"/>
                </a:solidFill>
                <a:latin typeface="Consolas"/>
              </a:rPr>
              <a:t>HW 2: Vulnerability Hunting [OFFENSIVE]</a:t>
            </a:r>
            <a:endParaRPr b="0" lang="en-US" sz="3200" spc="-1" strike="noStrike">
              <a:solidFill>
                <a:srgbClr val="ffffff"/>
              </a:solidFill>
              <a:latin typeface="Arial"/>
            </a:endParaRPr>
          </a:p>
        </p:txBody>
      </p:sp>
      <p:sp>
        <p:nvSpPr>
          <p:cNvPr id="355" name="Rectangle 2"/>
          <p:cNvSpPr/>
          <p:nvPr/>
        </p:nvSpPr>
        <p:spPr>
          <a:xfrm>
            <a:off x="548640" y="1051560"/>
            <a:ext cx="2742840" cy="101160"/>
          </a:xfrm>
          <a:prstGeom prst="rect">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6" name="Rounded Rectangle 3"/>
          <p:cNvSpPr/>
          <p:nvPr/>
        </p:nvSpPr>
        <p:spPr>
          <a:xfrm>
            <a:off x="548640" y="1371600"/>
            <a:ext cx="11063880" cy="1371240"/>
          </a:xfrm>
          <a:prstGeom prst="roundRect">
            <a:avLst>
              <a:gd name="adj" fmla="val 16667"/>
            </a:avLst>
          </a:prstGeom>
          <a:solidFill>
            <a:srgbClr val="122012"/>
          </a:solidFill>
          <a:ln w="12700">
            <a:solidFill>
              <a:srgbClr val="4ae8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7" name="TextBox 4"/>
          <p:cNvSpPr/>
          <p:nvPr/>
        </p:nvSpPr>
        <p:spPr>
          <a:xfrm>
            <a:off x="914400" y="1554480"/>
            <a:ext cx="10332360" cy="1096920"/>
          </a:xfrm>
          <a:prstGeom prst="rect">
            <a:avLst/>
          </a:prstGeom>
          <a:noFill/>
          <a:ln w="0">
            <a:noFill/>
          </a:ln>
        </p:spPr>
        <p:style>
          <a:lnRef idx="0"/>
          <a:fillRef idx="0"/>
          <a:effectRef idx="0"/>
          <a:fontRef idx="minor"/>
        </p:style>
        <p:txBody>
          <a:bodyPr lIns="90000" rIns="90000" tIns="45000" bIns="45000" anchor="t">
            <a:normAutofit/>
          </a:bodyPr>
          <a:p>
            <a:pPr defTabSz="457200">
              <a:lnSpc>
                <a:spcPct val="115000"/>
              </a:lnSpc>
              <a:spcAft>
                <a:spcPts val="400"/>
              </a:spcAft>
            </a:pPr>
            <a:r>
              <a:rPr b="0" lang="en-US" sz="1300" spc="-1" strike="noStrike">
                <a:solidFill>
                  <a:srgbClr val="4ae85a"/>
                </a:solidFill>
                <a:latin typeface="Consolas"/>
              </a:rPr>
              <a:t>hermes -m qwen3.8-27b</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ffffff"/>
                </a:solidFill>
                <a:latin typeface="Consolas"/>
              </a:rPr>
              <a:t>&gt; Analyze auth_handler.c for security bugs. Classify each,</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ffffff"/>
                </a:solidFill>
                <a:latin typeface="Consolas"/>
              </a:rPr>
              <a:t>  </a:t>
            </a:r>
            <a:r>
              <a:rPr b="0" lang="en-US" sz="1300" spc="-1" strike="noStrike">
                <a:solidFill>
                  <a:srgbClr val="ffffff"/>
                </a:solidFill>
                <a:latin typeface="Consolas"/>
              </a:rPr>
              <a:t>write the fix, and rate severity 1-10.</a:t>
            </a:r>
            <a:endParaRPr b="0" lang="en-US" sz="1300" spc="-1" strike="noStrike">
              <a:solidFill>
                <a:srgbClr val="ffffff"/>
              </a:solidFill>
              <a:latin typeface="Arial"/>
            </a:endParaRPr>
          </a:p>
        </p:txBody>
      </p:sp>
      <p:sp>
        <p:nvSpPr>
          <p:cNvPr id="358" name="Rounded Rectangle 5"/>
          <p:cNvSpPr/>
          <p:nvPr/>
        </p:nvSpPr>
        <p:spPr>
          <a:xfrm>
            <a:off x="548640" y="3017520"/>
            <a:ext cx="7772040" cy="45684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9" name="TextBox 6"/>
          <p:cNvSpPr/>
          <p:nvPr/>
        </p:nvSpPr>
        <p:spPr>
          <a:xfrm>
            <a:off x="548640" y="3017520"/>
            <a:ext cx="777204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strcpy(session_token, input) — buffer overflow</a:t>
            </a:r>
            <a:endParaRPr b="0" lang="en-US" sz="1200" spc="-1" strike="noStrike">
              <a:solidFill>
                <a:srgbClr val="ffffff"/>
              </a:solidFill>
              <a:latin typeface="Arial"/>
            </a:endParaRPr>
          </a:p>
        </p:txBody>
      </p:sp>
      <p:sp>
        <p:nvSpPr>
          <p:cNvPr id="360" name="Rounded Rectangle 7"/>
          <p:cNvSpPr/>
          <p:nvPr/>
        </p:nvSpPr>
        <p:spPr>
          <a:xfrm>
            <a:off x="8503920" y="3017520"/>
            <a:ext cx="3108600" cy="456840"/>
          </a:xfrm>
          <a:prstGeom prst="roundRect">
            <a:avLst>
              <a:gd name="adj" fmla="val 8000"/>
            </a:avLst>
          </a:prstGeom>
          <a:solidFill>
            <a:srgbClr val="1a2e1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1" name="TextBox 8"/>
          <p:cNvSpPr/>
          <p:nvPr/>
        </p:nvSpPr>
        <p:spPr>
          <a:xfrm>
            <a:off x="8503920" y="3017520"/>
            <a:ext cx="310860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5a623"/>
                </a:solidFill>
                <a:latin typeface="Consolas"/>
              </a:rPr>
              <a:t>Severity: 9</a:t>
            </a:r>
            <a:endParaRPr b="0" lang="en-US" sz="1200" spc="-1" strike="noStrike">
              <a:solidFill>
                <a:srgbClr val="ffffff"/>
              </a:solidFill>
              <a:latin typeface="Arial"/>
            </a:endParaRPr>
          </a:p>
        </p:txBody>
      </p:sp>
      <p:sp>
        <p:nvSpPr>
          <p:cNvPr id="362" name="Rounded Rectangle 9"/>
          <p:cNvSpPr/>
          <p:nvPr/>
        </p:nvSpPr>
        <p:spPr>
          <a:xfrm>
            <a:off x="548640" y="3520440"/>
            <a:ext cx="7772040" cy="45684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3" name="TextBox 10"/>
          <p:cNvSpPr/>
          <p:nvPr/>
        </p:nvSpPr>
        <p:spPr>
          <a:xfrm>
            <a:off x="548640" y="3520440"/>
            <a:ext cx="777204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for (i=0; i&lt;=count; i++) — off-by-one</a:t>
            </a:r>
            <a:endParaRPr b="0" lang="en-US" sz="1200" spc="-1" strike="noStrike">
              <a:solidFill>
                <a:srgbClr val="ffffff"/>
              </a:solidFill>
              <a:latin typeface="Arial"/>
            </a:endParaRPr>
          </a:p>
        </p:txBody>
      </p:sp>
      <p:sp>
        <p:nvSpPr>
          <p:cNvPr id="364" name="Rounded Rectangle 11"/>
          <p:cNvSpPr/>
          <p:nvPr/>
        </p:nvSpPr>
        <p:spPr>
          <a:xfrm>
            <a:off x="8503920" y="3520440"/>
            <a:ext cx="3108600" cy="456840"/>
          </a:xfrm>
          <a:prstGeom prst="roundRect">
            <a:avLst>
              <a:gd name="adj" fmla="val 8000"/>
            </a:avLst>
          </a:prstGeom>
          <a:solidFill>
            <a:srgbClr val="1a2e1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5" name="TextBox 12"/>
          <p:cNvSpPr/>
          <p:nvPr/>
        </p:nvSpPr>
        <p:spPr>
          <a:xfrm>
            <a:off x="8503920" y="3520440"/>
            <a:ext cx="310860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5a623"/>
                </a:solidFill>
                <a:latin typeface="Consolas"/>
              </a:rPr>
              <a:t>Severity: 4</a:t>
            </a:r>
            <a:endParaRPr b="0" lang="en-US" sz="1200" spc="-1" strike="noStrike">
              <a:solidFill>
                <a:srgbClr val="ffffff"/>
              </a:solidFill>
              <a:latin typeface="Arial"/>
            </a:endParaRPr>
          </a:p>
        </p:txBody>
      </p:sp>
      <p:sp>
        <p:nvSpPr>
          <p:cNvPr id="366" name="Rounded Rectangle 13"/>
          <p:cNvSpPr/>
          <p:nvPr/>
        </p:nvSpPr>
        <p:spPr>
          <a:xfrm>
            <a:off x="548640" y="4023360"/>
            <a:ext cx="7772040" cy="45684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7" name="TextBox 14"/>
          <p:cNvSpPr/>
          <p:nvPr/>
        </p:nvSpPr>
        <p:spPr>
          <a:xfrm>
            <a:off x="548640" y="4023360"/>
            <a:ext cx="777204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sprintf(query, "...%s", id) — SQL injection</a:t>
            </a:r>
            <a:endParaRPr b="0" lang="en-US" sz="1200" spc="-1" strike="noStrike">
              <a:solidFill>
                <a:srgbClr val="ffffff"/>
              </a:solidFill>
              <a:latin typeface="Arial"/>
            </a:endParaRPr>
          </a:p>
        </p:txBody>
      </p:sp>
      <p:sp>
        <p:nvSpPr>
          <p:cNvPr id="368" name="Rounded Rectangle 15"/>
          <p:cNvSpPr/>
          <p:nvPr/>
        </p:nvSpPr>
        <p:spPr>
          <a:xfrm>
            <a:off x="8503920" y="4023360"/>
            <a:ext cx="3108600" cy="456840"/>
          </a:xfrm>
          <a:prstGeom prst="roundRect">
            <a:avLst>
              <a:gd name="adj" fmla="val 8000"/>
            </a:avLst>
          </a:prstGeom>
          <a:solidFill>
            <a:srgbClr val="1a2e1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9" name="TextBox 16"/>
          <p:cNvSpPr/>
          <p:nvPr/>
        </p:nvSpPr>
        <p:spPr>
          <a:xfrm>
            <a:off x="8503920" y="4023360"/>
            <a:ext cx="310860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5a623"/>
                </a:solidFill>
                <a:latin typeface="Consolas"/>
              </a:rPr>
              <a:t>Severity: 10</a:t>
            </a:r>
            <a:endParaRPr b="0" lang="en-US" sz="1200" spc="-1" strike="noStrike">
              <a:solidFill>
                <a:srgbClr val="ffffff"/>
              </a:solidFill>
              <a:latin typeface="Arial"/>
            </a:endParaRPr>
          </a:p>
        </p:txBody>
      </p:sp>
      <p:sp>
        <p:nvSpPr>
          <p:cNvPr id="370" name="Rounded Rectangle 17"/>
          <p:cNvSpPr/>
          <p:nvPr/>
        </p:nvSpPr>
        <p:spPr>
          <a:xfrm>
            <a:off x="548640" y="4526280"/>
            <a:ext cx="7772040" cy="45684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1" name="TextBox 18"/>
          <p:cNvSpPr/>
          <p:nvPr/>
        </p:nvSpPr>
        <p:spPr>
          <a:xfrm>
            <a:off x="548640" y="4526280"/>
            <a:ext cx="777204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strcmp(password, hash) — timing attack</a:t>
            </a:r>
            <a:endParaRPr b="0" lang="en-US" sz="1200" spc="-1" strike="noStrike">
              <a:solidFill>
                <a:srgbClr val="ffffff"/>
              </a:solidFill>
              <a:latin typeface="Arial"/>
            </a:endParaRPr>
          </a:p>
        </p:txBody>
      </p:sp>
      <p:sp>
        <p:nvSpPr>
          <p:cNvPr id="372" name="Rounded Rectangle 19"/>
          <p:cNvSpPr/>
          <p:nvPr/>
        </p:nvSpPr>
        <p:spPr>
          <a:xfrm>
            <a:off x="8503920" y="4526280"/>
            <a:ext cx="3108600" cy="456840"/>
          </a:xfrm>
          <a:prstGeom prst="roundRect">
            <a:avLst>
              <a:gd name="adj" fmla="val 8000"/>
            </a:avLst>
          </a:prstGeom>
          <a:solidFill>
            <a:srgbClr val="1a2e1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3" name="TextBox 20"/>
          <p:cNvSpPr/>
          <p:nvPr/>
        </p:nvSpPr>
        <p:spPr>
          <a:xfrm>
            <a:off x="8503920" y="4526280"/>
            <a:ext cx="310860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5a623"/>
                </a:solidFill>
                <a:latin typeface="Consolas"/>
              </a:rPr>
              <a:t>Severity: 6</a:t>
            </a:r>
            <a:endParaRPr b="0" lang="en-US" sz="1200" spc="-1" strike="noStrike">
              <a:solidFill>
                <a:srgbClr val="ffffff"/>
              </a:solidFill>
              <a:latin typeface="Arial"/>
            </a:endParaRPr>
          </a:p>
        </p:txBody>
      </p:sp>
      <p:sp>
        <p:nvSpPr>
          <p:cNvPr id="374" name="TextBox 21"/>
          <p:cNvSpPr/>
          <p:nvPr/>
        </p:nvSpPr>
        <p:spPr>
          <a:xfrm>
            <a:off x="548640" y="5212080"/>
            <a:ext cx="1097244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600" spc="-1" strike="noStrike">
                <a:solidFill>
                  <a:srgbClr val="4ae85a"/>
                </a:solidFill>
                <a:latin typeface="Consolas"/>
              </a:rPr>
              <a:t>Agent writes patches for each. Runs tests. Commits.</a:t>
            </a:r>
            <a:endParaRPr b="0" lang="en-US" sz="1600" spc="-1" strike="noStrike">
              <a:solidFill>
                <a:srgbClr val="ffffff"/>
              </a:solidFill>
              <a:latin typeface="Arial"/>
            </a:endParaRPr>
          </a:p>
        </p:txBody>
      </p:sp>
      <p:sp>
        <p:nvSpPr>
          <p:cNvPr id="375" name="TextBox 22"/>
          <p:cNvSpPr/>
          <p:nvPr/>
        </p:nvSpPr>
        <p:spPr>
          <a:xfrm>
            <a:off x="548640" y="5760720"/>
            <a:ext cx="1097244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00ccaa"/>
                </a:solidFill>
                <a:latin typeface="Consolas"/>
              </a:rPr>
              <a:t>Blue teamers: this is also your code review tool. Same agent, different direction.</a:t>
            </a:r>
            <a:endParaRPr b="0" lang="en-US" sz="1400" spc="-1" strike="noStrike">
              <a:solidFill>
                <a:srgbClr val="ffffff"/>
              </a:solidFill>
              <a:latin typeface="Arial"/>
            </a:endParaRPr>
          </a:p>
        </p:txBody>
      </p:sp>
      <p:sp>
        <p:nvSpPr>
          <p:cNvPr id="376" name="TextBox 38"/>
          <p:cNvSpPr/>
          <p:nvPr/>
        </p:nvSpPr>
        <p:spPr>
          <a:xfrm>
            <a:off x="548640" y="6309360"/>
            <a:ext cx="1097244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600" spc="-1" strike="noStrike">
                <a:solidFill>
                  <a:srgbClr val="4ae85a"/>
                </a:solidFill>
                <a:latin typeface="Consolas"/>
              </a:rPr>
              <a:t>https://github.com/atlas0fd00m/preso-clever-girl</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377"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fontScale="93333"/>
          </a:bodyPr>
          <a:p>
            <a:pPr defTabSz="457200">
              <a:lnSpc>
                <a:spcPct val="100000"/>
              </a:lnSpc>
            </a:pPr>
            <a:r>
              <a:rPr b="1" lang="en-US" sz="3200" spc="-1" strike="noStrike">
                <a:solidFill>
                  <a:srgbClr val="c89b3c"/>
                </a:solidFill>
                <a:latin typeface="Consolas"/>
              </a:rPr>
              <a:t>HW 3: Malware Triage + IR Playbook [DEFENSIVE]</a:t>
            </a:r>
            <a:endParaRPr b="0" lang="en-US" sz="3200" spc="-1" strike="noStrike">
              <a:solidFill>
                <a:srgbClr val="ffffff"/>
              </a:solidFill>
              <a:latin typeface="Arial"/>
            </a:endParaRPr>
          </a:p>
        </p:txBody>
      </p:sp>
      <p:sp>
        <p:nvSpPr>
          <p:cNvPr id="378" name="Rectangle 2"/>
          <p:cNvSpPr/>
          <p:nvPr/>
        </p:nvSpPr>
        <p:spPr>
          <a:xfrm>
            <a:off x="548640" y="1051560"/>
            <a:ext cx="2742840" cy="101160"/>
          </a:xfrm>
          <a:prstGeom prst="rect">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9" name="Rounded Rectangle 3"/>
          <p:cNvSpPr/>
          <p:nvPr/>
        </p:nvSpPr>
        <p:spPr>
          <a:xfrm>
            <a:off x="548640" y="1371600"/>
            <a:ext cx="11063880" cy="1371240"/>
          </a:xfrm>
          <a:prstGeom prst="roundRect">
            <a:avLst>
              <a:gd name="adj" fmla="val 16667"/>
            </a:avLst>
          </a:prstGeom>
          <a:solidFill>
            <a:srgbClr val="122012"/>
          </a:solidFill>
          <a:ln w="12700">
            <a:solidFill>
              <a:srgbClr val="f5a62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0" name="TextBox 4"/>
          <p:cNvSpPr/>
          <p:nvPr/>
        </p:nvSpPr>
        <p:spPr>
          <a:xfrm>
            <a:off x="914400" y="1554480"/>
            <a:ext cx="10332360" cy="1096920"/>
          </a:xfrm>
          <a:prstGeom prst="rect">
            <a:avLst/>
          </a:prstGeom>
          <a:noFill/>
          <a:ln w="0">
            <a:noFill/>
          </a:ln>
        </p:spPr>
        <p:style>
          <a:lnRef idx="0"/>
          <a:fillRef idx="0"/>
          <a:effectRef idx="0"/>
          <a:fontRef idx="minor"/>
        </p:style>
        <p:txBody>
          <a:bodyPr lIns="90000" rIns="90000" tIns="45000" bIns="45000" anchor="t">
            <a:normAutofit/>
          </a:bodyPr>
          <a:p>
            <a:pPr defTabSz="457200">
              <a:lnSpc>
                <a:spcPct val="115000"/>
              </a:lnSpc>
              <a:spcAft>
                <a:spcPts val="400"/>
              </a:spcAft>
            </a:pPr>
            <a:r>
              <a:rPr b="0" lang="en-US" sz="1300" spc="-1" strike="noStrike">
                <a:solidFill>
                  <a:srgbClr val="4ae85a"/>
                </a:solidFill>
                <a:latin typeface="Consolas"/>
              </a:rPr>
              <a:t>hermes -m deepseek-v4-flash  (on DGX Spark)</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ffffff"/>
                </a:solidFill>
                <a:latin typeface="Consolas"/>
              </a:rPr>
              <a:t>&gt; Analyze this malware sample's behavior. Identify C2 indicators,</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ffffff"/>
                </a:solidFill>
                <a:latin typeface="Consolas"/>
              </a:rPr>
              <a:t>  </a:t>
            </a:r>
            <a:r>
              <a:rPr b="0" lang="en-US" sz="1300" spc="-1" strike="noStrike">
                <a:solidFill>
                  <a:srgbClr val="ffffff"/>
                </a:solidFill>
                <a:latin typeface="Consolas"/>
              </a:rPr>
              <a:t>persistence mechanism, lateral movement. Generate IR playbook.</a:t>
            </a:r>
            <a:endParaRPr b="0" lang="en-US" sz="1300" spc="-1" strike="noStrike">
              <a:solidFill>
                <a:srgbClr val="ffffff"/>
              </a:solidFill>
              <a:latin typeface="Arial"/>
            </a:endParaRPr>
          </a:p>
        </p:txBody>
      </p:sp>
      <p:sp>
        <p:nvSpPr>
          <p:cNvPr id="381" name="Rounded Rectangle 5"/>
          <p:cNvSpPr/>
          <p:nvPr/>
        </p:nvSpPr>
        <p:spPr>
          <a:xfrm>
            <a:off x="548640" y="3017520"/>
            <a:ext cx="11063880" cy="50256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2" name="TextBox 6"/>
          <p:cNvSpPr/>
          <p:nvPr/>
        </p:nvSpPr>
        <p:spPr>
          <a:xfrm>
            <a:off x="548640" y="3017520"/>
            <a:ext cx="1106388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Behavioral analysis: process injection, registry persistence, DNS beaconing</a:t>
            </a:r>
            <a:endParaRPr b="0" lang="en-US" sz="1200" spc="-1" strike="noStrike">
              <a:solidFill>
                <a:srgbClr val="ffffff"/>
              </a:solidFill>
              <a:latin typeface="Arial"/>
            </a:endParaRPr>
          </a:p>
        </p:txBody>
      </p:sp>
      <p:sp>
        <p:nvSpPr>
          <p:cNvPr id="383" name="Rounded Rectangle 7"/>
          <p:cNvSpPr/>
          <p:nvPr/>
        </p:nvSpPr>
        <p:spPr>
          <a:xfrm>
            <a:off x="548640" y="3566160"/>
            <a:ext cx="11063880" cy="50256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4" name="TextBox 8"/>
          <p:cNvSpPr/>
          <p:nvPr/>
        </p:nvSpPr>
        <p:spPr>
          <a:xfrm>
            <a:off x="548640" y="3566160"/>
            <a:ext cx="1106388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IOC extraction: C2 domains, registry keys, dropped file hashes</a:t>
            </a:r>
            <a:endParaRPr b="0" lang="en-US" sz="1200" spc="-1" strike="noStrike">
              <a:solidFill>
                <a:srgbClr val="ffffff"/>
              </a:solidFill>
              <a:latin typeface="Arial"/>
            </a:endParaRPr>
          </a:p>
        </p:txBody>
      </p:sp>
      <p:sp>
        <p:nvSpPr>
          <p:cNvPr id="385" name="Rounded Rectangle 9"/>
          <p:cNvSpPr/>
          <p:nvPr/>
        </p:nvSpPr>
        <p:spPr>
          <a:xfrm>
            <a:off x="548640" y="4114800"/>
            <a:ext cx="11063880" cy="50256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6" name="TextBox 10"/>
          <p:cNvSpPr/>
          <p:nvPr/>
        </p:nvSpPr>
        <p:spPr>
          <a:xfrm>
            <a:off x="548640" y="4114800"/>
            <a:ext cx="1106388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MITRE ATT&amp;CK: T1055, T1547, T1071</a:t>
            </a:r>
            <a:endParaRPr b="0" lang="en-US" sz="1200" spc="-1" strike="noStrike">
              <a:solidFill>
                <a:srgbClr val="ffffff"/>
              </a:solidFill>
              <a:latin typeface="Arial"/>
            </a:endParaRPr>
          </a:p>
        </p:txBody>
      </p:sp>
      <p:sp>
        <p:nvSpPr>
          <p:cNvPr id="387" name="Rounded Rectangle 11"/>
          <p:cNvSpPr/>
          <p:nvPr/>
        </p:nvSpPr>
        <p:spPr>
          <a:xfrm>
            <a:off x="548640" y="4663440"/>
            <a:ext cx="11063880" cy="502560"/>
          </a:xfrm>
          <a:prstGeom prst="roundRect">
            <a:avLst>
              <a:gd name="adj" fmla="val 8000"/>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8" name="TextBox 12"/>
          <p:cNvSpPr/>
          <p:nvPr/>
        </p:nvSpPr>
        <p:spPr>
          <a:xfrm>
            <a:off x="548640" y="4663440"/>
            <a:ext cx="1106388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IR Playbook: Isolate → Block C2 → Hunt persistence → Search SIEM → Deploy EDR</a:t>
            </a:r>
            <a:endParaRPr b="0" lang="en-US" sz="1200" spc="-1" strike="noStrike">
              <a:solidFill>
                <a:srgbClr val="ffffff"/>
              </a:solidFill>
              <a:latin typeface="Arial"/>
            </a:endParaRPr>
          </a:p>
        </p:txBody>
      </p:sp>
      <p:sp>
        <p:nvSpPr>
          <p:cNvPr id="389" name="TextBox 13"/>
          <p:cNvSpPr/>
          <p:nvPr/>
        </p:nvSpPr>
        <p:spPr>
          <a:xfrm>
            <a:off x="548640" y="5486400"/>
            <a:ext cx="1097244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600" spc="-1" strike="noStrike">
                <a:solidFill>
                  <a:srgbClr val="4ae85a"/>
                </a:solidFill>
                <a:latin typeface="Consolas"/>
              </a:rPr>
              <a:t>~2 minutes. What takes a SOC analyst half a shift.</a:t>
            </a:r>
            <a:endParaRPr b="0" lang="en-US" sz="1600" spc="-1" strike="noStrike">
              <a:solidFill>
                <a:srgbClr val="ffffff"/>
              </a:solidFill>
              <a:latin typeface="Arial"/>
            </a:endParaRPr>
          </a:p>
        </p:txBody>
      </p:sp>
      <p:sp>
        <p:nvSpPr>
          <p:cNvPr id="390" name="TextBox 14"/>
          <p:cNvSpPr/>
          <p:nvPr/>
        </p:nvSpPr>
        <p:spPr>
          <a:xfrm>
            <a:off x="548640" y="5943600"/>
            <a:ext cx="1097244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00ccaa"/>
                </a:solidFill>
                <a:latin typeface="Consolas"/>
              </a:rPr>
              <a:t>The raptor doesn't care which side of the fence it's on.</a:t>
            </a:r>
            <a:endParaRPr b="0" lang="en-US" sz="1400" spc="-1" strike="noStrike">
              <a:solidFill>
                <a:srgbClr val="ffffff"/>
              </a:solidFill>
              <a:latin typeface="Arial"/>
            </a:endParaRPr>
          </a:p>
        </p:txBody>
      </p:sp>
      <p:sp>
        <p:nvSpPr>
          <p:cNvPr id="391" name="TextBox 39"/>
          <p:cNvSpPr/>
          <p:nvPr/>
        </p:nvSpPr>
        <p:spPr>
          <a:xfrm>
            <a:off x="548640" y="6309360"/>
            <a:ext cx="1097244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600" spc="-1" strike="noStrike">
                <a:solidFill>
                  <a:srgbClr val="4ae85a"/>
                </a:solidFill>
                <a:latin typeface="Consolas"/>
              </a:rPr>
              <a:t>https://github.com/atlas0fd00m/preso-clever-girl</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392"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c89b3c"/>
                </a:solidFill>
                <a:latin typeface="Consolas"/>
              </a:rPr>
              <a:t>HW 4: Log Analysis at Scale [DEFENSIVE]</a:t>
            </a:r>
            <a:endParaRPr b="0" lang="en-US" sz="3200" spc="-1" strike="noStrike">
              <a:solidFill>
                <a:srgbClr val="ffffff"/>
              </a:solidFill>
              <a:latin typeface="Arial"/>
            </a:endParaRPr>
          </a:p>
        </p:txBody>
      </p:sp>
      <p:sp>
        <p:nvSpPr>
          <p:cNvPr id="393" name="Rectangle 2"/>
          <p:cNvSpPr/>
          <p:nvPr/>
        </p:nvSpPr>
        <p:spPr>
          <a:xfrm>
            <a:off x="548640" y="1051560"/>
            <a:ext cx="2742840" cy="101160"/>
          </a:xfrm>
          <a:prstGeom prst="rect">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4" name="Rounded Rectangle 3"/>
          <p:cNvSpPr/>
          <p:nvPr/>
        </p:nvSpPr>
        <p:spPr>
          <a:xfrm>
            <a:off x="548640" y="1371600"/>
            <a:ext cx="11063880" cy="1371240"/>
          </a:xfrm>
          <a:prstGeom prst="roundRect">
            <a:avLst>
              <a:gd name="adj" fmla="val 16667"/>
            </a:avLst>
          </a:prstGeom>
          <a:solidFill>
            <a:srgbClr val="122012"/>
          </a:solidFill>
          <a:ln w="12700">
            <a:solidFill>
              <a:srgbClr val="f5a62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5" name="TextBox 4"/>
          <p:cNvSpPr/>
          <p:nvPr/>
        </p:nvSpPr>
        <p:spPr>
          <a:xfrm>
            <a:off x="914400" y="1554480"/>
            <a:ext cx="10332360" cy="1096920"/>
          </a:xfrm>
          <a:prstGeom prst="rect">
            <a:avLst/>
          </a:prstGeom>
          <a:noFill/>
          <a:ln w="0">
            <a:noFill/>
          </a:ln>
        </p:spPr>
        <p:style>
          <a:lnRef idx="0"/>
          <a:fillRef idx="0"/>
          <a:effectRef idx="0"/>
          <a:fontRef idx="minor"/>
        </p:style>
        <p:txBody>
          <a:bodyPr lIns="90000" rIns="90000" tIns="45000" bIns="45000" anchor="t">
            <a:normAutofit/>
          </a:bodyPr>
          <a:p>
            <a:pPr defTabSz="457200">
              <a:lnSpc>
                <a:spcPct val="115000"/>
              </a:lnSpc>
              <a:spcAft>
                <a:spcPts val="400"/>
              </a:spcAft>
            </a:pPr>
            <a:r>
              <a:rPr b="0" lang="en-US" sz="1300" spc="-1" strike="noStrike">
                <a:solidFill>
                  <a:srgbClr val="4ae85a"/>
                </a:solidFill>
                <a:latin typeface="Consolas"/>
              </a:rPr>
              <a:t>hermes -m deepseek-v4-flash  (on DGX Spark)</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ffffff"/>
                </a:solidFill>
                <a:latin typeface="Consolas"/>
              </a:rPr>
              <a:t>&gt; Analyze these 10,000 lines of auth logs. Find anomalous login</a:t>
            </a:r>
            <a:endParaRPr b="0" lang="en-US" sz="1300" spc="-1" strike="noStrike">
              <a:solidFill>
                <a:srgbClr val="ffffff"/>
              </a:solidFill>
              <a:latin typeface="Arial"/>
            </a:endParaRPr>
          </a:p>
          <a:p>
            <a:pPr defTabSz="457200">
              <a:lnSpc>
                <a:spcPct val="115000"/>
              </a:lnSpc>
              <a:spcAft>
                <a:spcPts val="400"/>
              </a:spcAft>
            </a:pPr>
            <a:r>
              <a:rPr b="0" lang="en-US" sz="1300" spc="-1" strike="noStrike">
                <a:solidFill>
                  <a:srgbClr val="ffffff"/>
                </a:solidFill>
                <a:latin typeface="Consolas"/>
              </a:rPr>
              <a:t>  </a:t>
            </a:r>
            <a:r>
              <a:rPr b="0" lang="en-US" sz="1300" spc="-1" strike="noStrike">
                <a:solidFill>
                  <a:srgbClr val="ffffff"/>
                </a:solidFill>
                <a:latin typeface="Consolas"/>
              </a:rPr>
              <a:t>patterns, brute force, impossible travel. Summarize with timestamps.</a:t>
            </a:r>
            <a:endParaRPr b="0" lang="en-US" sz="1300" spc="-1" strike="noStrike">
              <a:solidFill>
                <a:srgbClr val="ffffff"/>
              </a:solidFill>
              <a:latin typeface="Arial"/>
            </a:endParaRPr>
          </a:p>
        </p:txBody>
      </p:sp>
      <p:sp>
        <p:nvSpPr>
          <p:cNvPr id="396" name="Rounded Rectangle 5"/>
          <p:cNvSpPr/>
          <p:nvPr/>
        </p:nvSpPr>
        <p:spPr>
          <a:xfrm>
            <a:off x="548640" y="3017520"/>
            <a:ext cx="11063880" cy="41112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7" name="TextBox 6"/>
          <p:cNvSpPr/>
          <p:nvPr/>
        </p:nvSpPr>
        <p:spPr>
          <a:xfrm>
            <a:off x="548640" y="30175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Chunk 10K lines into 4K-token segments</a:t>
            </a:r>
            <a:endParaRPr b="0" lang="en-US" sz="1200" spc="-1" strike="noStrike">
              <a:solidFill>
                <a:srgbClr val="ffffff"/>
              </a:solidFill>
              <a:latin typeface="Arial"/>
            </a:endParaRPr>
          </a:p>
        </p:txBody>
      </p:sp>
      <p:sp>
        <p:nvSpPr>
          <p:cNvPr id="398" name="Rounded Rectangle 7"/>
          <p:cNvSpPr/>
          <p:nvPr/>
        </p:nvSpPr>
        <p:spPr>
          <a:xfrm>
            <a:off x="548640" y="3474720"/>
            <a:ext cx="11063880" cy="41112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9" name="TextBox 8"/>
          <p:cNvSpPr/>
          <p:nvPr/>
        </p:nvSpPr>
        <p:spPr>
          <a:xfrm>
            <a:off x="548640" y="34747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Per-chunk: extract login events, timestamps, IPs</a:t>
            </a:r>
            <a:endParaRPr b="0" lang="en-US" sz="1200" spc="-1" strike="noStrike">
              <a:solidFill>
                <a:srgbClr val="ffffff"/>
              </a:solidFill>
              <a:latin typeface="Arial"/>
            </a:endParaRPr>
          </a:p>
        </p:txBody>
      </p:sp>
      <p:sp>
        <p:nvSpPr>
          <p:cNvPr id="400" name="Rounded Rectangle 9"/>
          <p:cNvSpPr/>
          <p:nvPr/>
        </p:nvSpPr>
        <p:spPr>
          <a:xfrm>
            <a:off x="548640" y="3931920"/>
            <a:ext cx="11063880" cy="41112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1" name="TextBox 10"/>
          <p:cNvSpPr/>
          <p:nvPr/>
        </p:nvSpPr>
        <p:spPr>
          <a:xfrm>
            <a:off x="548640" y="39319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Merge: correlate across chunks</a:t>
            </a:r>
            <a:endParaRPr b="0" lang="en-US" sz="1200" spc="-1" strike="noStrike">
              <a:solidFill>
                <a:srgbClr val="ffffff"/>
              </a:solidFill>
              <a:latin typeface="Arial"/>
            </a:endParaRPr>
          </a:p>
        </p:txBody>
      </p:sp>
      <p:sp>
        <p:nvSpPr>
          <p:cNvPr id="402" name="Rounded Rectangle 11"/>
          <p:cNvSpPr/>
          <p:nvPr/>
        </p:nvSpPr>
        <p:spPr>
          <a:xfrm>
            <a:off x="548640" y="4389120"/>
            <a:ext cx="11063880" cy="41112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3" name="TextBox 12"/>
          <p:cNvSpPr/>
          <p:nvPr/>
        </p:nvSpPr>
        <p:spPr>
          <a:xfrm>
            <a:off x="548640" y="43891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Analyze: brute force (47 failed from 10.0.0.15)</a:t>
            </a:r>
            <a:endParaRPr b="0" lang="en-US" sz="1200" spc="-1" strike="noStrike">
              <a:solidFill>
                <a:srgbClr val="ffffff"/>
              </a:solidFill>
              <a:latin typeface="Arial"/>
            </a:endParaRPr>
          </a:p>
        </p:txBody>
      </p:sp>
      <p:sp>
        <p:nvSpPr>
          <p:cNvPr id="404" name="Rounded Rectangle 13"/>
          <p:cNvSpPr/>
          <p:nvPr/>
        </p:nvSpPr>
        <p:spPr>
          <a:xfrm>
            <a:off x="548640" y="4846320"/>
            <a:ext cx="11063880" cy="41112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5" name="TextBox 14"/>
          <p:cNvSpPr/>
          <p:nvPr/>
        </p:nvSpPr>
        <p:spPr>
          <a:xfrm>
            <a:off x="548640" y="48463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Analyze: impossible travel (US→Russia in 3 min)</a:t>
            </a:r>
            <a:endParaRPr b="0" lang="en-US" sz="1200" spc="-1" strike="noStrike">
              <a:solidFill>
                <a:srgbClr val="ffffff"/>
              </a:solidFill>
              <a:latin typeface="Arial"/>
            </a:endParaRPr>
          </a:p>
        </p:txBody>
      </p:sp>
      <p:sp>
        <p:nvSpPr>
          <p:cNvPr id="406" name="Rounded Rectangle 15"/>
          <p:cNvSpPr/>
          <p:nvPr/>
        </p:nvSpPr>
        <p:spPr>
          <a:xfrm>
            <a:off x="548640" y="5303520"/>
            <a:ext cx="11063880" cy="411120"/>
          </a:xfrm>
          <a:prstGeom prst="roundRect">
            <a:avLst>
              <a:gd name="adj" fmla="val 8000"/>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7" name="TextBox 16"/>
          <p:cNvSpPr/>
          <p:nvPr/>
        </p:nvSpPr>
        <p:spPr>
          <a:xfrm>
            <a:off x="548640" y="5303520"/>
            <a:ext cx="11063880" cy="4111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Report: structured JSON + prose summary</a:t>
            </a:r>
            <a:endParaRPr b="0" lang="en-US" sz="1200" spc="-1" strike="noStrike">
              <a:solidFill>
                <a:srgbClr val="ffffff"/>
              </a:solidFill>
              <a:latin typeface="Arial"/>
            </a:endParaRPr>
          </a:p>
        </p:txBody>
      </p:sp>
      <p:sp>
        <p:nvSpPr>
          <p:cNvPr id="408" name="TextBox 17"/>
          <p:cNvSpPr/>
          <p:nvPr/>
        </p:nvSpPr>
        <p:spPr>
          <a:xfrm>
            <a:off x="548640" y="5943600"/>
            <a:ext cx="1097244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00ccaa"/>
                </a:solidFill>
                <a:latin typeface="Consolas"/>
              </a:rPr>
              <a:t>This is decomposition in action — 10K lines → chunks → merge → analyze</a:t>
            </a:r>
            <a:endParaRPr b="0" lang="en-US" sz="1400" spc="-1" strike="noStrike">
              <a:solidFill>
                <a:srgbClr val="ffffff"/>
              </a:solidFill>
              <a:latin typeface="Arial"/>
            </a:endParaRPr>
          </a:p>
        </p:txBody>
      </p:sp>
      <p:sp>
        <p:nvSpPr>
          <p:cNvPr id="409" name="TextBox 40"/>
          <p:cNvSpPr/>
          <p:nvPr/>
        </p:nvSpPr>
        <p:spPr>
          <a:xfrm>
            <a:off x="548640" y="6309360"/>
            <a:ext cx="1097244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600" spc="-1" strike="noStrike">
                <a:solidFill>
                  <a:srgbClr val="4ae85a"/>
                </a:solidFill>
                <a:latin typeface="Consolas"/>
              </a:rPr>
              <a:t>https://github.com/atlas0fd00m/preso-clever-girl</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410"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fontScale="93333"/>
          </a:bodyPr>
          <a:p>
            <a:pPr defTabSz="457200">
              <a:lnSpc>
                <a:spcPct val="100000"/>
              </a:lnSpc>
            </a:pPr>
            <a:r>
              <a:rPr b="1" lang="en-US" sz="3200" spc="-1" strike="noStrike">
                <a:solidFill>
                  <a:srgbClr val="006dd5"/>
                </a:solidFill>
                <a:latin typeface="Consolas"/>
              </a:rPr>
              <a:t>The Fugu Angle: Autonomous Security Assessment</a:t>
            </a:r>
            <a:endParaRPr b="0" lang="en-US" sz="3200" spc="-1" strike="noStrike">
              <a:solidFill>
                <a:srgbClr val="ffffff"/>
              </a:solidFill>
              <a:latin typeface="Arial"/>
            </a:endParaRPr>
          </a:p>
        </p:txBody>
      </p:sp>
      <p:sp>
        <p:nvSpPr>
          <p:cNvPr id="411" name="Rectangle 2"/>
          <p:cNvSpPr/>
          <p:nvPr/>
        </p:nvSpPr>
        <p:spPr>
          <a:xfrm>
            <a:off x="548640" y="1051560"/>
            <a:ext cx="2742840" cy="101160"/>
          </a:xfrm>
          <a:prstGeom prst="rect">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2" name="Rounded Rectangle 3"/>
          <p:cNvSpPr/>
          <p:nvPr/>
        </p:nvSpPr>
        <p:spPr>
          <a:xfrm>
            <a:off x="548640" y="1371600"/>
            <a:ext cx="11063880" cy="1828440"/>
          </a:xfrm>
          <a:prstGeom prst="roundRect">
            <a:avLst>
              <a:gd name="adj" fmla="val 16667"/>
            </a:avLst>
          </a:prstGeom>
          <a:solidFill>
            <a:srgbClr val="1a2e1e"/>
          </a:solidFill>
          <a:ln w="12700">
            <a:solidFill>
              <a:srgbClr val="00cca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3" name="TextBox 4"/>
          <p:cNvSpPr/>
          <p:nvPr/>
        </p:nvSpPr>
        <p:spPr>
          <a:xfrm>
            <a:off x="914400" y="1645920"/>
            <a:ext cx="10332360" cy="1371240"/>
          </a:xfrm>
          <a:prstGeom prst="rect">
            <a:avLst/>
          </a:prstGeom>
          <a:noFill/>
          <a:ln w="0">
            <a:noFill/>
          </a:ln>
        </p:spPr>
        <p:style>
          <a:lnRef idx="0"/>
          <a:fillRef idx="0"/>
          <a:effectRef idx="0"/>
          <a:fontRef idx="minor"/>
        </p:style>
        <p:txBody>
          <a:bodyPr lIns="90000" rIns="90000" tIns="45000" bIns="45000" anchor="t">
            <a:normAutofit/>
          </a:bodyPr>
          <a:p>
            <a:pPr defTabSz="457200">
              <a:lnSpc>
                <a:spcPct val="115000"/>
              </a:lnSpc>
              <a:spcAft>
                <a:spcPts val="400"/>
              </a:spcAft>
            </a:pPr>
            <a:r>
              <a:rPr b="1" lang="en-US" sz="1600" spc="-1" strike="noStrike">
                <a:solidFill>
                  <a:srgbClr val="ffffff"/>
                </a:solidFill>
                <a:latin typeface="Consolas"/>
              </a:rPr>
              <a:t>"Given one scoped instruction, Fugu drove a full security assessment</a:t>
            </a:r>
            <a:endParaRPr b="0" lang="en-US" sz="1600" spc="-1" strike="noStrike">
              <a:solidFill>
                <a:srgbClr val="ffffff"/>
              </a:solidFill>
              <a:latin typeface="Arial"/>
            </a:endParaRPr>
          </a:p>
          <a:p>
            <a:pPr defTabSz="457200">
              <a:lnSpc>
                <a:spcPct val="115000"/>
              </a:lnSpc>
              <a:spcAft>
                <a:spcPts val="400"/>
              </a:spcAft>
            </a:pPr>
            <a:r>
              <a:rPr b="0" lang="en-US" sz="1600" spc="-1" strike="noStrike">
                <a:solidFill>
                  <a:srgbClr val="ffffff"/>
                </a:solidFill>
                <a:latin typeface="Consolas"/>
              </a:rPr>
              <a:t> </a:t>
            </a:r>
            <a:r>
              <a:rPr b="0" lang="en-US" sz="1600" spc="-1" strike="noStrike">
                <a:solidFill>
                  <a:srgbClr val="ffffff"/>
                </a:solidFill>
                <a:latin typeface="Consolas"/>
              </a:rPr>
              <a:t>end-to-end — recon, XSS/SQLi checks, auth review, and a clean report</a:t>
            </a:r>
            <a:endParaRPr b="0" lang="en-US" sz="1600" spc="-1" strike="noStrike">
              <a:solidFill>
                <a:srgbClr val="ffffff"/>
              </a:solidFill>
              <a:latin typeface="Arial"/>
            </a:endParaRPr>
          </a:p>
          <a:p>
            <a:pPr defTabSz="457200">
              <a:lnSpc>
                <a:spcPct val="115000"/>
              </a:lnSpc>
              <a:spcAft>
                <a:spcPts val="400"/>
              </a:spcAft>
            </a:pPr>
            <a:r>
              <a:rPr b="0" lang="en-US" sz="1600" spc="-1" strike="noStrike">
                <a:solidFill>
                  <a:srgbClr val="ffffff"/>
                </a:solidFill>
                <a:latin typeface="Consolas"/>
              </a:rPr>
              <a:t> </a:t>
            </a:r>
            <a:r>
              <a:rPr b="0" lang="en-US" sz="1600" spc="-1" strike="noStrike">
                <a:solidFill>
                  <a:srgbClr val="ffffff"/>
                </a:solidFill>
                <a:latin typeface="Consolas"/>
              </a:rPr>
              <a:t>with evidence and retest steps — staying inside scope."</a:t>
            </a:r>
            <a:endParaRPr b="0" lang="en-US" sz="1600" spc="-1" strike="noStrike">
              <a:solidFill>
                <a:srgbClr val="ffffff"/>
              </a:solidFill>
              <a:latin typeface="Arial"/>
            </a:endParaRPr>
          </a:p>
          <a:p>
            <a:pPr defTabSz="457200">
              <a:lnSpc>
                <a:spcPct val="115000"/>
              </a:lnSpc>
              <a:spcAft>
                <a:spcPts val="400"/>
              </a:spcAft>
            </a:pPr>
            <a:r>
              <a:rPr b="0" lang="en-US" sz="1400" spc="-1" strike="noStrike">
                <a:solidFill>
                  <a:srgbClr val="00ccaa"/>
                </a:solidFill>
                <a:latin typeface="Consolas"/>
              </a:rPr>
              <a:t>  — </a:t>
            </a:r>
            <a:r>
              <a:rPr b="0" lang="en-US" sz="1400" spc="-1" strike="noStrike">
                <a:solidFill>
                  <a:srgbClr val="00ccaa"/>
                </a:solidFill>
                <a:latin typeface="Consolas"/>
              </a:rPr>
              <a:t>Cyber Security Engineer, Sakana Fugu beta user</a:t>
            </a:r>
            <a:endParaRPr b="0" lang="en-US" sz="1400" spc="-1" strike="noStrike">
              <a:solidFill>
                <a:srgbClr val="ffffff"/>
              </a:solidFill>
              <a:latin typeface="Arial"/>
            </a:endParaRPr>
          </a:p>
        </p:txBody>
      </p:sp>
      <p:sp>
        <p:nvSpPr>
          <p:cNvPr id="414" name="TextBox 5"/>
          <p:cNvSpPr/>
          <p:nvPr/>
        </p:nvSpPr>
        <p:spPr>
          <a:xfrm>
            <a:off x="548640" y="3291840"/>
            <a:ext cx="1097244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600" spc="-1" strike="noStrike">
                <a:solidFill>
                  <a:srgbClr val="4ae85a"/>
                </a:solidFill>
                <a:latin typeface="Consolas"/>
              </a:rPr>
              <a:t>This is the pack hunting:</a:t>
            </a:r>
            <a:endParaRPr b="0" lang="en-US" sz="1600" spc="-1" strike="noStrike">
              <a:solidFill>
                <a:srgbClr val="ffffff"/>
              </a:solidFill>
              <a:latin typeface="Arial"/>
            </a:endParaRPr>
          </a:p>
        </p:txBody>
      </p:sp>
      <p:sp>
        <p:nvSpPr>
          <p:cNvPr id="415" name="Rounded Rectangle 6"/>
          <p:cNvSpPr/>
          <p:nvPr/>
        </p:nvSpPr>
        <p:spPr>
          <a:xfrm>
            <a:off x="3200400" y="3657600"/>
            <a:ext cx="5760360" cy="502560"/>
          </a:xfrm>
          <a:prstGeom prst="roundRect">
            <a:avLst>
              <a:gd name="adj" fmla="val 8000"/>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6" name="TextBox 7"/>
          <p:cNvSpPr/>
          <p:nvPr/>
        </p:nvSpPr>
        <p:spPr>
          <a:xfrm>
            <a:off x="3200400" y="3657600"/>
            <a:ext cx="5760360" cy="50256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300" spc="-1" strike="noStrike">
                <a:solidFill>
                  <a:srgbClr val="ffffff"/>
                </a:solidFill>
                <a:latin typeface="Consolas"/>
              </a:rPr>
              <a:t>Sakana Fugu (Orchestrator)</a:t>
            </a:r>
            <a:endParaRPr b="0" lang="en-US" sz="1300" spc="-1" strike="noStrike">
              <a:solidFill>
                <a:srgbClr val="ffffff"/>
              </a:solidFill>
              <a:latin typeface="Arial"/>
            </a:endParaRPr>
          </a:p>
        </p:txBody>
      </p:sp>
      <p:sp>
        <p:nvSpPr>
          <p:cNvPr id="417" name="Rounded Rectangle 8"/>
          <p:cNvSpPr/>
          <p:nvPr/>
        </p:nvSpPr>
        <p:spPr>
          <a:xfrm>
            <a:off x="1371600" y="4572000"/>
            <a:ext cx="2102760" cy="54828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8" name="TextBox 9"/>
          <p:cNvSpPr/>
          <p:nvPr/>
        </p:nvSpPr>
        <p:spPr>
          <a:xfrm>
            <a:off x="1371600" y="4572000"/>
            <a:ext cx="210276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RE Agent</a:t>
            </a:r>
            <a:endParaRPr b="0" lang="en-US" sz="1200" spc="-1" strike="noStrike">
              <a:solidFill>
                <a:srgbClr val="ffffff"/>
              </a:solidFill>
              <a:latin typeface="Arial"/>
            </a:endParaRPr>
          </a:p>
        </p:txBody>
      </p:sp>
      <p:sp>
        <p:nvSpPr>
          <p:cNvPr id="419" name="TextBox 10"/>
          <p:cNvSpPr/>
          <p:nvPr/>
        </p:nvSpPr>
        <p:spPr>
          <a:xfrm>
            <a:off x="1371600" y="4206240"/>
            <a:ext cx="210276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708070"/>
                </a:solidFill>
                <a:latin typeface="Consolas"/>
              </a:rPr>
              <a:t>↓</a:t>
            </a:r>
            <a:endParaRPr b="0" lang="en-US" sz="1400" spc="-1" strike="noStrike">
              <a:solidFill>
                <a:srgbClr val="ffffff"/>
              </a:solidFill>
              <a:latin typeface="Arial"/>
            </a:endParaRPr>
          </a:p>
        </p:txBody>
      </p:sp>
      <p:sp>
        <p:nvSpPr>
          <p:cNvPr id="420" name="Rounded Rectangle 11"/>
          <p:cNvSpPr/>
          <p:nvPr/>
        </p:nvSpPr>
        <p:spPr>
          <a:xfrm>
            <a:off x="3931920" y="4572000"/>
            <a:ext cx="2102760" cy="54828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21" name="TextBox 12"/>
          <p:cNvSpPr/>
          <p:nvPr/>
        </p:nvSpPr>
        <p:spPr>
          <a:xfrm>
            <a:off x="3931920" y="4572000"/>
            <a:ext cx="210276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Web Scanner</a:t>
            </a:r>
            <a:endParaRPr b="0" lang="en-US" sz="1200" spc="-1" strike="noStrike">
              <a:solidFill>
                <a:srgbClr val="ffffff"/>
              </a:solidFill>
              <a:latin typeface="Arial"/>
            </a:endParaRPr>
          </a:p>
        </p:txBody>
      </p:sp>
      <p:sp>
        <p:nvSpPr>
          <p:cNvPr id="422" name="TextBox 13"/>
          <p:cNvSpPr/>
          <p:nvPr/>
        </p:nvSpPr>
        <p:spPr>
          <a:xfrm>
            <a:off x="3931920" y="4206240"/>
            <a:ext cx="210276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708070"/>
                </a:solidFill>
                <a:latin typeface="Consolas"/>
              </a:rPr>
              <a:t>↓</a:t>
            </a:r>
            <a:endParaRPr b="0" lang="en-US" sz="1400" spc="-1" strike="noStrike">
              <a:solidFill>
                <a:srgbClr val="ffffff"/>
              </a:solidFill>
              <a:latin typeface="Arial"/>
            </a:endParaRPr>
          </a:p>
        </p:txBody>
      </p:sp>
      <p:sp>
        <p:nvSpPr>
          <p:cNvPr id="423" name="Rounded Rectangle 14"/>
          <p:cNvSpPr/>
          <p:nvPr/>
        </p:nvSpPr>
        <p:spPr>
          <a:xfrm>
            <a:off x="6492240" y="4572000"/>
            <a:ext cx="2102760" cy="54828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24" name="TextBox 15"/>
          <p:cNvSpPr/>
          <p:nvPr/>
        </p:nvSpPr>
        <p:spPr>
          <a:xfrm>
            <a:off x="6492240" y="4572000"/>
            <a:ext cx="210276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Code Review</a:t>
            </a:r>
            <a:endParaRPr b="0" lang="en-US" sz="1200" spc="-1" strike="noStrike">
              <a:solidFill>
                <a:srgbClr val="ffffff"/>
              </a:solidFill>
              <a:latin typeface="Arial"/>
            </a:endParaRPr>
          </a:p>
        </p:txBody>
      </p:sp>
      <p:sp>
        <p:nvSpPr>
          <p:cNvPr id="425" name="TextBox 16"/>
          <p:cNvSpPr/>
          <p:nvPr/>
        </p:nvSpPr>
        <p:spPr>
          <a:xfrm>
            <a:off x="6492240" y="4206240"/>
            <a:ext cx="210276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708070"/>
                </a:solidFill>
                <a:latin typeface="Consolas"/>
              </a:rPr>
              <a:t>↓</a:t>
            </a:r>
            <a:endParaRPr b="0" lang="en-US" sz="1400" spc="-1" strike="noStrike">
              <a:solidFill>
                <a:srgbClr val="ffffff"/>
              </a:solidFill>
              <a:latin typeface="Arial"/>
            </a:endParaRPr>
          </a:p>
        </p:txBody>
      </p:sp>
      <p:sp>
        <p:nvSpPr>
          <p:cNvPr id="426" name="Rounded Rectangle 17"/>
          <p:cNvSpPr/>
          <p:nvPr/>
        </p:nvSpPr>
        <p:spPr>
          <a:xfrm>
            <a:off x="9052560" y="4572000"/>
            <a:ext cx="2102760" cy="54828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27" name="TextBox 18"/>
          <p:cNvSpPr/>
          <p:nvPr/>
        </p:nvSpPr>
        <p:spPr>
          <a:xfrm>
            <a:off x="9052560" y="4572000"/>
            <a:ext cx="210276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200" spc="-1" strike="noStrike">
                <a:solidFill>
                  <a:srgbClr val="ffffff"/>
                </a:solidFill>
                <a:latin typeface="Consolas"/>
              </a:rPr>
              <a:t>Report Writer</a:t>
            </a:r>
            <a:endParaRPr b="0" lang="en-US" sz="1200" spc="-1" strike="noStrike">
              <a:solidFill>
                <a:srgbClr val="ffffff"/>
              </a:solidFill>
              <a:latin typeface="Arial"/>
            </a:endParaRPr>
          </a:p>
        </p:txBody>
      </p:sp>
      <p:sp>
        <p:nvSpPr>
          <p:cNvPr id="428" name="TextBox 19"/>
          <p:cNvSpPr/>
          <p:nvPr/>
        </p:nvSpPr>
        <p:spPr>
          <a:xfrm>
            <a:off x="9052560" y="4206240"/>
            <a:ext cx="210276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708070"/>
                </a:solidFill>
                <a:latin typeface="Consolas"/>
              </a:rPr>
              <a:t>↓</a:t>
            </a:r>
            <a:endParaRPr b="0" lang="en-US" sz="1400" spc="-1" strike="noStrike">
              <a:solidFill>
                <a:srgbClr val="ffffff"/>
              </a:solidFill>
              <a:latin typeface="Arial"/>
            </a:endParaRPr>
          </a:p>
        </p:txBody>
      </p:sp>
      <p:sp>
        <p:nvSpPr>
          <p:cNvPr id="429" name="TextBox 20"/>
          <p:cNvSpPr/>
          <p:nvPr/>
        </p:nvSpPr>
        <p:spPr>
          <a:xfrm>
            <a:off x="548640" y="5303520"/>
            <a:ext cx="1097244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500" spc="-1" strike="noStrike">
                <a:solidFill>
                  <a:srgbClr val="4ae85a"/>
                </a:solidFill>
                <a:latin typeface="Consolas"/>
              </a:rPr>
              <a:t>One instruction. Full assessment. Stays in scope.</a:t>
            </a:r>
            <a:endParaRPr b="0" lang="en-US" sz="1500" spc="-1" strike="noStrike">
              <a:solidFill>
                <a:srgbClr val="ffffff"/>
              </a:solidFill>
              <a:latin typeface="Arial"/>
            </a:endParaRPr>
          </a:p>
        </p:txBody>
      </p:sp>
      <p:sp>
        <p:nvSpPr>
          <p:cNvPr id="430" name="TextBox 21"/>
          <p:cNvSpPr/>
          <p:nvPr/>
        </p:nvSpPr>
        <p:spPr>
          <a:xfrm>
            <a:off x="548640" y="5760720"/>
            <a:ext cx="1097244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300" spc="-1" strike="noStrike">
                <a:solidFill>
                  <a:srgbClr val="00ccaa"/>
                </a:solidFill>
                <a:latin typeface="Consolas"/>
              </a:rPr>
              <a:t>The future of agent work is orchestration, not single models.</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431" name="Oval 1"/>
          <p:cNvSpPr/>
          <p:nvPr/>
        </p:nvSpPr>
        <p:spPr>
          <a:xfrm>
            <a:off x="109800" y="256932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432" name="Oval 2"/>
          <p:cNvSpPr/>
          <p:nvPr/>
        </p:nvSpPr>
        <p:spPr>
          <a:xfrm>
            <a:off x="9793080" y="9511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33" name="Oval 3"/>
          <p:cNvSpPr/>
          <p:nvPr/>
        </p:nvSpPr>
        <p:spPr>
          <a:xfrm>
            <a:off x="1974960" y="2926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434" name="Oval 4"/>
          <p:cNvSpPr/>
          <p:nvPr/>
        </p:nvSpPr>
        <p:spPr>
          <a:xfrm>
            <a:off x="1014840" y="217620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35" name="Oval 5"/>
          <p:cNvSpPr/>
          <p:nvPr/>
        </p:nvSpPr>
        <p:spPr>
          <a:xfrm>
            <a:off x="2624400" y="18561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36" name="Oval 6"/>
          <p:cNvSpPr/>
          <p:nvPr/>
        </p:nvSpPr>
        <p:spPr>
          <a:xfrm>
            <a:off x="4123800" y="6071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37" name="Oval 7"/>
          <p:cNvSpPr/>
          <p:nvPr/>
        </p:nvSpPr>
        <p:spPr>
          <a:xfrm>
            <a:off x="118800" y="36576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438" name="Oval 8"/>
          <p:cNvSpPr/>
          <p:nvPr/>
        </p:nvSpPr>
        <p:spPr>
          <a:xfrm>
            <a:off x="5203080" y="35676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439" name="Oval 9"/>
          <p:cNvSpPr/>
          <p:nvPr/>
        </p:nvSpPr>
        <p:spPr>
          <a:xfrm>
            <a:off x="1911240" y="21024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440" name="Oval 10"/>
          <p:cNvSpPr/>
          <p:nvPr/>
        </p:nvSpPr>
        <p:spPr>
          <a:xfrm>
            <a:off x="1673280" y="3218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41" name="Oval 11"/>
          <p:cNvSpPr/>
          <p:nvPr/>
        </p:nvSpPr>
        <p:spPr>
          <a:xfrm>
            <a:off x="804600" y="10699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42" name="Oval 12"/>
          <p:cNvSpPr/>
          <p:nvPr/>
        </p:nvSpPr>
        <p:spPr>
          <a:xfrm>
            <a:off x="1764720" y="7315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43" name="Oval 13"/>
          <p:cNvSpPr/>
          <p:nvPr/>
        </p:nvSpPr>
        <p:spPr>
          <a:xfrm>
            <a:off x="11768400" y="8413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44" name="Oval 14"/>
          <p:cNvSpPr/>
          <p:nvPr/>
        </p:nvSpPr>
        <p:spPr>
          <a:xfrm>
            <a:off x="9464040" y="4204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445" name="Oval 15"/>
          <p:cNvSpPr/>
          <p:nvPr/>
        </p:nvSpPr>
        <p:spPr>
          <a:xfrm>
            <a:off x="1490400" y="53964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446" name="TextBox 16"/>
          <p:cNvSpPr/>
          <p:nvPr/>
        </p:nvSpPr>
        <p:spPr>
          <a:xfrm>
            <a:off x="914400" y="2286000"/>
            <a:ext cx="10332360" cy="18284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30000"/>
              </a:lnSpc>
              <a:spcAft>
                <a:spcPts val="400"/>
              </a:spcAft>
            </a:pPr>
            <a:r>
              <a:rPr b="1" lang="en-US" sz="2600" spc="-1" strike="noStrike">
                <a:solidFill>
                  <a:srgbClr val="4ae85a"/>
                </a:solidFill>
                <a:latin typeface="Consolas"/>
              </a:rPr>
              <a:t>"The cost of a problem is O(input size).</a:t>
            </a:r>
            <a:endParaRPr b="0" lang="en-US" sz="2600" spc="-1" strike="noStrike">
              <a:solidFill>
                <a:srgbClr val="ffffff"/>
              </a:solidFill>
              <a:latin typeface="Arial"/>
            </a:endParaRPr>
          </a:p>
          <a:p>
            <a:pPr algn="ctr" defTabSz="457200">
              <a:lnSpc>
                <a:spcPct val="130000"/>
              </a:lnSpc>
              <a:spcAft>
                <a:spcPts val="400"/>
              </a:spcAft>
            </a:pPr>
            <a:r>
              <a:rPr b="1" lang="en-US" sz="2600" spc="-1" strike="noStrike">
                <a:solidFill>
                  <a:srgbClr val="4ae85a"/>
                </a:solidFill>
                <a:latin typeface="Consolas"/>
              </a:rPr>
              <a:t> </a:t>
            </a:r>
            <a:r>
              <a:rPr b="1" lang="en-US" sz="2600" spc="-1" strike="noStrike">
                <a:solidFill>
                  <a:srgbClr val="4ae85a"/>
                </a:solidFill>
                <a:latin typeface="Consolas"/>
              </a:rPr>
              <a:t>The cost of understanding is O(log input size)</a:t>
            </a:r>
            <a:endParaRPr b="0" lang="en-US" sz="2600" spc="-1" strike="noStrike">
              <a:solidFill>
                <a:srgbClr val="ffffff"/>
              </a:solidFill>
              <a:latin typeface="Arial"/>
            </a:endParaRPr>
          </a:p>
          <a:p>
            <a:pPr algn="ctr" defTabSz="457200">
              <a:lnSpc>
                <a:spcPct val="130000"/>
              </a:lnSpc>
              <a:spcAft>
                <a:spcPts val="400"/>
              </a:spcAft>
            </a:pPr>
            <a:r>
              <a:rPr b="1" lang="en-US" sz="2600" spc="-1" strike="noStrike">
                <a:solidFill>
                  <a:srgbClr val="4ae85a"/>
                </a:solidFill>
                <a:latin typeface="Consolas"/>
              </a:rPr>
              <a:t> — </a:t>
            </a:r>
            <a:r>
              <a:rPr b="1" lang="en-US" sz="2600" spc="-1" strike="noStrike">
                <a:solidFill>
                  <a:srgbClr val="4ae85a"/>
                </a:solidFill>
                <a:latin typeface="Consolas"/>
              </a:rPr>
              <a:t>if you summarize strategically."</a:t>
            </a:r>
            <a:endParaRPr b="0" lang="en-US" sz="2600" spc="-1" strike="noStrike">
              <a:solidFill>
                <a:srgbClr val="ffffff"/>
              </a:solidFill>
              <a:latin typeface="Arial"/>
            </a:endParaRPr>
          </a:p>
        </p:txBody>
      </p:sp>
      <p:sp>
        <p:nvSpPr>
          <p:cNvPr id="447" name="TextBox 17"/>
          <p:cNvSpPr/>
          <p:nvPr/>
        </p:nvSpPr>
        <p:spPr>
          <a:xfrm>
            <a:off x="914400" y="5029200"/>
            <a:ext cx="10332360" cy="9140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600" spc="-1" strike="noStrike">
                <a:solidFill>
                  <a:srgbClr val="c8d8c0"/>
                </a:solidFill>
                <a:latin typeface="Consolas"/>
              </a:rPr>
              <a:t>Paste raw data → linear cost. Summarize strategically → logarithmic cost.</a:t>
            </a:r>
            <a:br>
              <a:rPr sz="1600"/>
            </a:br>
            <a:r>
              <a:rPr b="0" lang="en-US" sz="1600" spc="-1" strike="noStrike">
                <a:solidFill>
                  <a:srgbClr val="c8d8c0"/>
                </a:solidFill>
                <a:latin typeface="Consolas"/>
              </a:rPr>
              <a:t>This is the difference between $10 and $0.50. Between hitting limits and never hitting them.</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448"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Offensive + Defensive: Same Architecture</a:t>
            </a:r>
            <a:endParaRPr b="0" lang="en-US" sz="3200" spc="-1" strike="noStrike">
              <a:solidFill>
                <a:srgbClr val="ffffff"/>
              </a:solidFill>
              <a:latin typeface="Arial"/>
            </a:endParaRPr>
          </a:p>
        </p:txBody>
      </p:sp>
      <p:sp>
        <p:nvSpPr>
          <p:cNvPr id="449" name="Rectangle 2"/>
          <p:cNvSpPr/>
          <p:nvPr/>
        </p:nvSpPr>
        <p:spPr>
          <a:xfrm>
            <a:off x="548640" y="1051560"/>
            <a:ext cx="2742840" cy="101160"/>
          </a:xfrm>
          <a:prstGeom prst="rect">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450" name="Table 3"/>
          <p:cNvGraphicFramePr/>
          <p:nvPr/>
        </p:nvGraphicFramePr>
        <p:xfrm>
          <a:off x="548640" y="1371600"/>
          <a:ext cx="11063880" cy="3657240"/>
        </p:xfrm>
        <a:graphic>
          <a:graphicData uri="http://schemas.openxmlformats.org/drawingml/2006/table">
            <a:tbl>
              <a:tblPr/>
              <a:tblGrid>
                <a:gridCol w="5532120"/>
                <a:gridCol w="5532120"/>
              </a:tblGrid>
              <a:tr h="609480">
                <a:tc>
                  <a:txBody>
                    <a:bodyPr anchor="t">
                      <a:noAutofit/>
                    </a:bodyPr>
                    <a:p>
                      <a:pPr defTabSz="457200">
                        <a:lnSpc>
                          <a:spcPct val="100000"/>
                        </a:lnSpc>
                      </a:pPr>
                      <a:r>
                        <a:rPr b="1" lang="en-US" sz="1300" spc="-1" strike="noStrike">
                          <a:solidFill>
                            <a:srgbClr val="00ccaa"/>
                          </a:solidFill>
                          <a:latin typeface="Consolas"/>
                        </a:rPr>
                        <a:t>Offensive Use Cases</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c>
                  <a:txBody>
                    <a:bodyPr anchor="t">
                      <a:noAutofit/>
                    </a:bodyPr>
                    <a:p>
                      <a:pPr defTabSz="457200">
                        <a:lnSpc>
                          <a:spcPct val="100000"/>
                        </a:lnSpc>
                      </a:pPr>
                      <a:r>
                        <a:rPr b="1" lang="en-US" sz="1300" spc="-1" strike="noStrike">
                          <a:solidFill>
                            <a:srgbClr val="00ccaa"/>
                          </a:solidFill>
                          <a:latin typeface="Consolas"/>
                        </a:rPr>
                        <a:t>Defensive Use Cases</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r>
              <a:tr h="609480">
                <a:tc>
                  <a:txBody>
                    <a:bodyPr anchor="t">
                      <a:noAutofit/>
                    </a:bodyPr>
                    <a:p>
                      <a:pPr defTabSz="457200">
                        <a:lnSpc>
                          <a:spcPct val="100000"/>
                        </a:lnSpc>
                      </a:pPr>
                      <a:r>
                        <a:rPr b="0" lang="en-US" sz="1500" spc="-1" strike="noStrike">
                          <a:solidFill>
                            <a:srgbClr val="ffffff"/>
                          </a:solidFill>
                          <a:latin typeface="Consolas"/>
                        </a:rPr>
                        <a:t>Autonomous binary RE</a:t>
                      </a:r>
                      <a:endParaRPr b="0" lang="en-US" sz="15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500" spc="-1" strike="noStrike">
                          <a:solidFill>
                            <a:srgbClr val="ffffff"/>
                          </a:solidFill>
                          <a:latin typeface="Consolas"/>
                        </a:rPr>
                        <a:t>Malware sample triage</a:t>
                      </a:r>
                      <a:endParaRPr b="0" lang="en-US" sz="15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609480">
                <a:tc>
                  <a:txBody>
                    <a:bodyPr anchor="t">
                      <a:noAutofit/>
                    </a:bodyPr>
                    <a:p>
                      <a:pPr defTabSz="457200">
                        <a:lnSpc>
                          <a:spcPct val="100000"/>
                        </a:lnSpc>
                      </a:pPr>
                      <a:r>
                        <a:rPr b="0" lang="en-US" sz="1500" spc="-1" strike="noStrike">
                          <a:solidFill>
                            <a:srgbClr val="ffffff"/>
                          </a:solidFill>
                          <a:latin typeface="Consolas"/>
                        </a:rPr>
                        <a:t>Source code vuln hunting</a:t>
                      </a:r>
                      <a:endParaRPr b="0" lang="en-US" sz="15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500" spc="-1" strike="noStrike">
                          <a:solidFill>
                            <a:srgbClr val="ffffff"/>
                          </a:solidFill>
                          <a:latin typeface="Consolas"/>
                        </a:rPr>
                        <a:t>Log analysis at scale</a:t>
                      </a:r>
                      <a:endParaRPr b="0" lang="en-US" sz="15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609480">
                <a:tc>
                  <a:txBody>
                    <a:bodyPr anchor="t">
                      <a:noAutofit/>
                    </a:bodyPr>
                    <a:p>
                      <a:pPr defTabSz="457200">
                        <a:lnSpc>
                          <a:spcPct val="100000"/>
                        </a:lnSpc>
                      </a:pPr>
                      <a:r>
                        <a:rPr b="0" lang="en-US" sz="1500" spc="-1" strike="noStrike">
                          <a:solidFill>
                            <a:srgbClr val="ffffff"/>
                          </a:solidFill>
                          <a:latin typeface="Consolas"/>
                        </a:rPr>
                        <a:t>Exploit primitive generation</a:t>
                      </a:r>
                      <a:endParaRPr b="0" lang="en-US" sz="15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500" spc="-1" strike="noStrike">
                          <a:solidFill>
                            <a:srgbClr val="ffffff"/>
                          </a:solidFill>
                          <a:latin typeface="Consolas"/>
                        </a:rPr>
                        <a:t>Threat intel correlation</a:t>
                      </a:r>
                      <a:endParaRPr b="0" lang="en-US" sz="15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609480">
                <a:tc>
                  <a:txBody>
                    <a:bodyPr anchor="t">
                      <a:noAutofit/>
                    </a:bodyPr>
                    <a:p>
                      <a:pPr defTabSz="457200">
                        <a:lnSpc>
                          <a:spcPct val="100000"/>
                        </a:lnSpc>
                      </a:pPr>
                      <a:r>
                        <a:rPr b="0" lang="en-US" sz="1500" spc="-1" strike="noStrike">
                          <a:solidFill>
                            <a:srgbClr val="ffffff"/>
                          </a:solidFill>
                          <a:latin typeface="Consolas"/>
                        </a:rPr>
                        <a:t>Firmware analysis</a:t>
                      </a:r>
                      <a:endParaRPr b="0" lang="en-US" sz="15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500" spc="-1" strike="noStrike">
                          <a:solidFill>
                            <a:srgbClr val="ffffff"/>
                          </a:solidFill>
                          <a:latin typeface="Consolas"/>
                        </a:rPr>
                        <a:t>IR playbook generation</a:t>
                      </a:r>
                      <a:endParaRPr b="0" lang="en-US" sz="15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609480">
                <a:tc>
                  <a:txBody>
                    <a:bodyPr anchor="t">
                      <a:noAutofit/>
                    </a:bodyPr>
                    <a:p>
                      <a:pPr defTabSz="457200">
                        <a:lnSpc>
                          <a:spcPct val="100000"/>
                        </a:lnSpc>
                      </a:pPr>
                      <a:r>
                        <a:rPr b="0" lang="en-US" sz="1500" spc="-1" strike="noStrike">
                          <a:solidFill>
                            <a:srgbClr val="ffffff"/>
                          </a:solidFill>
                          <a:latin typeface="Consolas"/>
                        </a:rPr>
                        <a:t>Web app security assessment</a:t>
                      </a:r>
                      <a:endParaRPr b="0" lang="en-US" sz="15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500" spc="-1" strike="noStrike">
                          <a:solidFill>
                            <a:srgbClr val="ffffff"/>
                          </a:solidFill>
                          <a:latin typeface="Consolas"/>
                        </a:rPr>
                        <a:t>Code review / SAST</a:t>
                      </a:r>
                      <a:endParaRPr b="0" lang="en-US" sz="15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bl>
          </a:graphicData>
        </a:graphic>
      </p:graphicFrame>
      <p:sp>
        <p:nvSpPr>
          <p:cNvPr id="451" name="TextBox 4"/>
          <p:cNvSpPr/>
          <p:nvPr/>
        </p:nvSpPr>
        <p:spPr>
          <a:xfrm>
            <a:off x="548640" y="5303520"/>
            <a:ext cx="10972440" cy="54828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2000" spc="-1" strike="noStrike">
                <a:solidFill>
                  <a:srgbClr val="4ae85a"/>
                </a:solidFill>
                <a:latin typeface="Consolas"/>
              </a:rPr>
              <a:t>Same agent architecture. Same decomposition strategy.</a:t>
            </a:r>
            <a:endParaRPr b="0" lang="en-US" sz="2000" spc="-1" strike="noStrike">
              <a:solidFill>
                <a:srgbClr val="ffffff"/>
              </a:solidFill>
              <a:latin typeface="Arial"/>
            </a:endParaRPr>
          </a:p>
        </p:txBody>
      </p:sp>
      <p:sp>
        <p:nvSpPr>
          <p:cNvPr id="452" name="TextBox 5"/>
          <p:cNvSpPr/>
          <p:nvPr/>
        </p:nvSpPr>
        <p:spPr>
          <a:xfrm>
            <a:off x="548640" y="5943600"/>
            <a:ext cx="1097244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800" spc="-1" strike="noStrike">
                <a:solidFill>
                  <a:srgbClr val="f5a623"/>
                </a:solidFill>
                <a:latin typeface="Consolas"/>
              </a:rPr>
              <a:t>The raptor doesn't care which side of the fence it's on.</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453"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fontScale="93333"/>
          </a:bodyPr>
          <a:p>
            <a:pPr defTabSz="457200">
              <a:lnSpc>
                <a:spcPct val="100000"/>
              </a:lnSpc>
            </a:pPr>
            <a:r>
              <a:rPr b="1" lang="en-US" sz="3200" spc="-1" strike="noStrike">
                <a:solidFill>
                  <a:srgbClr val="ffffff"/>
                </a:solidFill>
                <a:latin typeface="Consolas"/>
              </a:rPr>
              <a:t>The Vivisect Toolchain: Building the Raptor Pen</a:t>
            </a:r>
            <a:endParaRPr b="0" lang="en-US" sz="3200" spc="-1" strike="noStrike">
              <a:solidFill>
                <a:srgbClr val="ffffff"/>
              </a:solidFill>
              <a:latin typeface="Arial"/>
            </a:endParaRPr>
          </a:p>
        </p:txBody>
      </p:sp>
      <p:sp>
        <p:nvSpPr>
          <p:cNvPr id="454" name="Rectangle 2"/>
          <p:cNvSpPr/>
          <p:nvPr/>
        </p:nvSpPr>
        <p:spPr>
          <a:xfrm>
            <a:off x="548640" y="1051560"/>
            <a:ext cx="2742840" cy="101160"/>
          </a:xfrm>
          <a:prstGeom prst="rect">
            <a:avLst/>
          </a:prstGeom>
          <a:solidFill>
            <a:srgbClr val="ff448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55" name="Rounded Rectangle 3"/>
          <p:cNvSpPr/>
          <p:nvPr/>
        </p:nvSpPr>
        <p:spPr>
          <a:xfrm>
            <a:off x="365760" y="1371600"/>
            <a:ext cx="3382920" cy="54828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56" name="TextBox 4"/>
          <p:cNvSpPr/>
          <p:nvPr/>
        </p:nvSpPr>
        <p:spPr>
          <a:xfrm>
            <a:off x="365760" y="1371600"/>
            <a:ext cx="338292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800" spc="-1" strike="noStrike">
                <a:solidFill>
                  <a:srgbClr val="ffffff"/>
                </a:solidFill>
                <a:latin typeface="Consolas"/>
              </a:rPr>
              <a:t>Viv-AI</a:t>
            </a:r>
            <a:endParaRPr b="0" lang="en-US" sz="1800" spc="-1" strike="noStrike">
              <a:solidFill>
                <a:srgbClr val="ffffff"/>
              </a:solidFill>
              <a:latin typeface="Arial"/>
            </a:endParaRPr>
          </a:p>
        </p:txBody>
      </p:sp>
      <p:sp>
        <p:nvSpPr>
          <p:cNvPr id="457" name="Rounded Rectangle 5"/>
          <p:cNvSpPr/>
          <p:nvPr/>
        </p:nvSpPr>
        <p:spPr>
          <a:xfrm>
            <a:off x="365760" y="2011680"/>
            <a:ext cx="3382920" cy="4388760"/>
          </a:xfrm>
          <a:prstGeom prst="roundRect">
            <a:avLst>
              <a:gd name="adj" fmla="val 16667"/>
            </a:avLst>
          </a:prstGeom>
          <a:solidFill>
            <a:srgbClr val="1a2e1e"/>
          </a:solidFill>
          <a:ln w="12700">
            <a:solidFill>
              <a:srgbClr val="d32d2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58" name="TextBox 6"/>
          <p:cNvSpPr/>
          <p:nvPr/>
        </p:nvSpPr>
        <p:spPr>
          <a:xfrm>
            <a:off x="548640" y="2194560"/>
            <a:ext cx="3017160" cy="4114440"/>
          </a:xfrm>
          <a:prstGeom prst="rect">
            <a:avLst/>
          </a:prstGeom>
          <a:noFill/>
          <a:ln w="0">
            <a:noFill/>
          </a:ln>
        </p:spPr>
        <p:style>
          <a:lnRef idx="0"/>
          <a:fillRef idx="0"/>
          <a:effectRef idx="0"/>
          <a:fontRef idx="minor"/>
        </p:style>
        <p:txBody>
          <a:bodyPr lIns="90000" rIns="90000" tIns="45000" bIns="45000" anchor="t">
            <a:normAutofit/>
          </a:bodyPr>
          <a:p>
            <a:pPr defTabSz="457200">
              <a:lnSpc>
                <a:spcPct val="115000"/>
              </a:lnSpc>
              <a:spcAft>
                <a:spcPts val="400"/>
              </a:spcAft>
            </a:pPr>
            <a:r>
              <a:rPr b="0" lang="en-US" sz="1100" spc="-1" strike="noStrike">
                <a:solidFill>
                  <a:srgbClr val="ffffff"/>
                </a:solidFill>
                <a:latin typeface="Consolas"/>
              </a:rPr>
              <a:t>AI integration plugin for Vivisect</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In-GUI RE assistance</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MCP server for Hermes/Claude</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Provider-agnostic (Ollama, OpenAI,</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Anthropic, Gemini)</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Bounded binary/function extraction</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Control-flow graph summarization</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Symbolik path summarization</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Safe write-back (rename/comment)</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Review queue for staged suggestions</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Vuln triage workflows</a:t>
            </a:r>
            <a:endParaRPr b="0" lang="en-US" sz="1100" spc="-1" strike="noStrike">
              <a:solidFill>
                <a:srgbClr val="ffffff"/>
              </a:solidFill>
              <a:latin typeface="Arial"/>
            </a:endParaRPr>
          </a:p>
        </p:txBody>
      </p:sp>
      <p:sp>
        <p:nvSpPr>
          <p:cNvPr id="459" name="Rounded Rectangle 7"/>
          <p:cNvSpPr/>
          <p:nvPr/>
        </p:nvSpPr>
        <p:spPr>
          <a:xfrm>
            <a:off x="4480560" y="1371600"/>
            <a:ext cx="3382920" cy="54828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0" name="TextBox 8"/>
          <p:cNvSpPr/>
          <p:nvPr/>
        </p:nvSpPr>
        <p:spPr>
          <a:xfrm>
            <a:off x="4480560" y="1371600"/>
            <a:ext cx="338292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800" spc="-1" strike="noStrike">
                <a:solidFill>
                  <a:srgbClr val="ffffff"/>
                </a:solidFill>
                <a:latin typeface="Consolas"/>
              </a:rPr>
              <a:t>VivisectION</a:t>
            </a:r>
            <a:endParaRPr b="0" lang="en-US" sz="1800" spc="-1" strike="noStrike">
              <a:solidFill>
                <a:srgbClr val="ffffff"/>
              </a:solidFill>
              <a:latin typeface="Arial"/>
            </a:endParaRPr>
          </a:p>
        </p:txBody>
      </p:sp>
      <p:sp>
        <p:nvSpPr>
          <p:cNvPr id="461" name="Rounded Rectangle 9"/>
          <p:cNvSpPr/>
          <p:nvPr/>
        </p:nvSpPr>
        <p:spPr>
          <a:xfrm>
            <a:off x="4480560" y="2011680"/>
            <a:ext cx="3382920" cy="4388760"/>
          </a:xfrm>
          <a:prstGeom prst="roundRect">
            <a:avLst>
              <a:gd name="adj" fmla="val 16667"/>
            </a:avLst>
          </a:prstGeom>
          <a:solidFill>
            <a:srgbClr val="1a2e1e"/>
          </a:solidFill>
          <a:ln w="12700">
            <a:solidFill>
              <a:srgbClr val="c89b3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2" name="TextBox 10"/>
          <p:cNvSpPr/>
          <p:nvPr/>
        </p:nvSpPr>
        <p:spPr>
          <a:xfrm>
            <a:off x="4663440" y="2194560"/>
            <a:ext cx="3017160" cy="4114440"/>
          </a:xfrm>
          <a:prstGeom prst="rect">
            <a:avLst/>
          </a:prstGeom>
          <a:noFill/>
          <a:ln w="0">
            <a:noFill/>
          </a:ln>
        </p:spPr>
        <p:style>
          <a:lnRef idx="0"/>
          <a:fillRef idx="0"/>
          <a:effectRef idx="0"/>
          <a:fontRef idx="minor"/>
        </p:style>
        <p:txBody>
          <a:bodyPr lIns="90000" rIns="90000" tIns="45000" bIns="45000" anchor="t">
            <a:normAutofit/>
          </a:bodyPr>
          <a:p>
            <a:pPr defTabSz="457200">
              <a:lnSpc>
                <a:spcPct val="115000"/>
              </a:lnSpc>
              <a:spcAft>
                <a:spcPts val="400"/>
              </a:spcAft>
            </a:pPr>
            <a:r>
              <a:rPr b="0" lang="en-US" sz="1100" spc="-1" strike="noStrike">
                <a:solidFill>
                  <a:srgbClr val="ffffff"/>
                </a:solidFill>
                <a:latin typeface="Consolas"/>
              </a:rPr>
              <a:t>Next-gen RE/exploitation tooling</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Portmanteau: Vivisect + ION</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Automated 0-day discovery</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Full kill-chain generation</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Never call it 'Vivision'</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Env vars: VIVISECTION_ prefix</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Built on top of Vivisect</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The vision we're building toward</a:t>
            </a:r>
            <a:endParaRPr b="0" lang="en-US" sz="1100" spc="-1" strike="noStrike">
              <a:solidFill>
                <a:srgbClr val="ffffff"/>
              </a:solidFill>
              <a:latin typeface="Arial"/>
            </a:endParaRPr>
          </a:p>
        </p:txBody>
      </p:sp>
      <p:sp>
        <p:nvSpPr>
          <p:cNvPr id="463" name="Rounded Rectangle 11"/>
          <p:cNvSpPr/>
          <p:nvPr/>
        </p:nvSpPr>
        <p:spPr>
          <a:xfrm>
            <a:off x="8595360" y="1371600"/>
            <a:ext cx="3382920" cy="54828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4" name="TextBox 12"/>
          <p:cNvSpPr/>
          <p:nvPr/>
        </p:nvSpPr>
        <p:spPr>
          <a:xfrm>
            <a:off x="8595360" y="1371600"/>
            <a:ext cx="3382920" cy="54828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800" spc="-1" strike="noStrike">
                <a:solidFill>
                  <a:srgbClr val="ffffff"/>
                </a:solidFill>
                <a:latin typeface="Consolas"/>
              </a:rPr>
              <a:t>Viv-Decomp</a:t>
            </a:r>
            <a:endParaRPr b="0" lang="en-US" sz="1800" spc="-1" strike="noStrike">
              <a:solidFill>
                <a:srgbClr val="ffffff"/>
              </a:solidFill>
              <a:latin typeface="Arial"/>
            </a:endParaRPr>
          </a:p>
        </p:txBody>
      </p:sp>
      <p:sp>
        <p:nvSpPr>
          <p:cNvPr id="465" name="Rounded Rectangle 13"/>
          <p:cNvSpPr/>
          <p:nvPr/>
        </p:nvSpPr>
        <p:spPr>
          <a:xfrm>
            <a:off x="8595360" y="2011680"/>
            <a:ext cx="3382920" cy="4388760"/>
          </a:xfrm>
          <a:prstGeom prst="roundRect">
            <a:avLst>
              <a:gd name="adj" fmla="val 16667"/>
            </a:avLst>
          </a:prstGeom>
          <a:solidFill>
            <a:srgbClr val="1a2e1e"/>
          </a:solidFill>
          <a:ln w="12700">
            <a:solidFill>
              <a:srgbClr val="006dd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6" name="TextBox 14"/>
          <p:cNvSpPr/>
          <p:nvPr/>
        </p:nvSpPr>
        <p:spPr>
          <a:xfrm>
            <a:off x="8778240" y="2194560"/>
            <a:ext cx="3017160" cy="4114440"/>
          </a:xfrm>
          <a:prstGeom prst="rect">
            <a:avLst/>
          </a:prstGeom>
          <a:noFill/>
          <a:ln w="0">
            <a:noFill/>
          </a:ln>
        </p:spPr>
        <p:style>
          <a:lnRef idx="0"/>
          <a:fillRef idx="0"/>
          <a:effectRef idx="0"/>
          <a:fontRef idx="minor"/>
        </p:style>
        <p:txBody>
          <a:bodyPr lIns="90000" rIns="90000" tIns="45000" bIns="45000" anchor="t">
            <a:normAutofit/>
          </a:bodyPr>
          <a:p>
            <a:pPr defTabSz="457200">
              <a:lnSpc>
                <a:spcPct val="115000"/>
              </a:lnSpc>
              <a:spcAft>
                <a:spcPts val="400"/>
              </a:spcAft>
            </a:pPr>
            <a:r>
              <a:rPr b="0" lang="en-US" sz="1100" spc="-1" strike="noStrike">
                <a:solidFill>
                  <a:srgbClr val="ffffff"/>
                </a:solidFill>
                <a:latin typeface="Consolas"/>
              </a:rPr>
              <a:t>Native Vivisect decompiler</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IR builder (effects → IR)</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SSA construction</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Type inference analysis</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Controlled program decomposition</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Structuring (loops, regions)</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Output formatter + pretty printer</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Self-contained in Vivisect</a:t>
            </a:r>
            <a:endParaRPr b="0" lang="en-US" sz="1100" spc="-1" strike="noStrike">
              <a:solidFill>
                <a:srgbClr val="ffffff"/>
              </a:solidFill>
              <a:latin typeface="Arial"/>
            </a:endParaRPr>
          </a:p>
          <a:p>
            <a:pPr defTabSz="457200">
              <a:lnSpc>
                <a:spcPct val="115000"/>
              </a:lnSpc>
              <a:spcAft>
                <a:spcPts val="400"/>
              </a:spcAft>
            </a:pPr>
            <a:r>
              <a:rPr b="0" lang="en-US" sz="1100" spc="-1" strike="noStrike">
                <a:solidFill>
                  <a:srgbClr val="ffffff"/>
                </a:solidFill>
                <a:latin typeface="Consolas"/>
              </a:rPr>
              <a:t>• </a:t>
            </a:r>
            <a:r>
              <a:rPr b="0" lang="en-US" sz="1100" spc="-1" strike="noStrike">
                <a:solidFill>
                  <a:srgbClr val="ffffff"/>
                </a:solidFill>
                <a:latin typeface="Consolas"/>
              </a:rPr>
              <a:t>No Ghidra dependency for decompilation</a:t>
            </a:r>
            <a:endParaRPr b="0" lang="en-US" sz="1100" spc="-1" strike="noStrike">
              <a:solidFill>
                <a:srgbClr val="ffffff"/>
              </a:solidFill>
              <a:latin typeface="Arial"/>
            </a:endParaRPr>
          </a:p>
        </p:txBody>
      </p:sp>
      <p:sp>
        <p:nvSpPr>
          <p:cNvPr id="467" name="TextBox 15"/>
          <p:cNvSpPr/>
          <p:nvPr/>
        </p:nvSpPr>
        <p:spPr>
          <a:xfrm>
            <a:off x="548640" y="6400800"/>
            <a:ext cx="1097244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4ae85a"/>
                </a:solidFill>
                <a:latin typeface="Consolas"/>
              </a:rPr>
              <a:t>Three projects. One ecosystem. AI-powered RE from disassembly to decompilation to 0-day.</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468"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d32d2d"/>
                </a:solidFill>
                <a:latin typeface="Consolas"/>
              </a:rPr>
              <a:t>Viv-AI + Hermes = Autonomous RE Pipeline</a:t>
            </a:r>
            <a:endParaRPr b="0" lang="en-US" sz="3200" spc="-1" strike="noStrike">
              <a:solidFill>
                <a:srgbClr val="ffffff"/>
              </a:solidFill>
              <a:latin typeface="Arial"/>
            </a:endParaRPr>
          </a:p>
        </p:txBody>
      </p:sp>
      <p:sp>
        <p:nvSpPr>
          <p:cNvPr id="469" name="Rectangle 2"/>
          <p:cNvSpPr/>
          <p:nvPr/>
        </p:nvSpPr>
        <p:spPr>
          <a:xfrm>
            <a:off x="548640" y="1051560"/>
            <a:ext cx="2742840" cy="101160"/>
          </a:xfrm>
          <a:prstGeom prst="rect">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0" name="Rounded Rectangle 3"/>
          <p:cNvSpPr/>
          <p:nvPr/>
        </p:nvSpPr>
        <p:spPr>
          <a:xfrm>
            <a:off x="1158120" y="1645920"/>
            <a:ext cx="1645560" cy="1096920"/>
          </a:xfrm>
          <a:prstGeom prst="roundRect">
            <a:avLst>
              <a:gd name="adj" fmla="val 8000"/>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1" name="TextBox 4"/>
          <p:cNvSpPr/>
          <p:nvPr/>
        </p:nvSpPr>
        <p:spPr>
          <a:xfrm>
            <a:off x="1158120" y="1645920"/>
            <a:ext cx="164556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300" spc="-1" strike="noStrike">
                <a:solidFill>
                  <a:srgbClr val="ffffff"/>
                </a:solidFill>
                <a:latin typeface="Consolas"/>
              </a:rPr>
              <a:t>Hermes</a:t>
            </a:r>
            <a:br>
              <a:rPr sz="1300"/>
            </a:br>
            <a:r>
              <a:rPr b="1" lang="en-US" sz="1300" spc="-1" strike="noStrike">
                <a:solidFill>
                  <a:srgbClr val="ffffff"/>
                </a:solidFill>
                <a:latin typeface="Consolas"/>
              </a:rPr>
              <a:t>Agent</a:t>
            </a:r>
            <a:endParaRPr b="0" lang="en-US" sz="1300" spc="-1" strike="noStrike">
              <a:solidFill>
                <a:srgbClr val="ffffff"/>
              </a:solidFill>
              <a:latin typeface="Arial"/>
            </a:endParaRPr>
          </a:p>
        </p:txBody>
      </p:sp>
      <p:sp>
        <p:nvSpPr>
          <p:cNvPr id="472" name="TextBox 5"/>
          <p:cNvSpPr/>
          <p:nvPr/>
        </p:nvSpPr>
        <p:spPr>
          <a:xfrm>
            <a:off x="2666880" y="1965960"/>
            <a:ext cx="36540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400" spc="-1" strike="noStrike">
                <a:solidFill>
                  <a:srgbClr val="4ae85a"/>
                </a:solidFill>
                <a:latin typeface="Consolas"/>
              </a:rPr>
              <a:t>→</a:t>
            </a:r>
            <a:endParaRPr b="0" lang="en-US" sz="2400" spc="-1" strike="noStrike">
              <a:solidFill>
                <a:srgbClr val="ffffff"/>
              </a:solidFill>
              <a:latin typeface="Arial"/>
            </a:endParaRPr>
          </a:p>
        </p:txBody>
      </p:sp>
      <p:sp>
        <p:nvSpPr>
          <p:cNvPr id="473" name="Rounded Rectangle 6"/>
          <p:cNvSpPr/>
          <p:nvPr/>
        </p:nvSpPr>
        <p:spPr>
          <a:xfrm>
            <a:off x="2804040" y="1645920"/>
            <a:ext cx="1645560" cy="109692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4" name="TextBox 7"/>
          <p:cNvSpPr/>
          <p:nvPr/>
        </p:nvSpPr>
        <p:spPr>
          <a:xfrm>
            <a:off x="2804040" y="1645920"/>
            <a:ext cx="164556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300" spc="-1" strike="noStrike">
                <a:solidFill>
                  <a:srgbClr val="ffffff"/>
                </a:solidFill>
                <a:latin typeface="Consolas"/>
              </a:rPr>
              <a:t>Viv-AI</a:t>
            </a:r>
            <a:br>
              <a:rPr sz="1300"/>
            </a:br>
            <a:r>
              <a:rPr b="1" lang="en-US" sz="1300" spc="-1" strike="noStrike">
                <a:solidFill>
                  <a:srgbClr val="ffffff"/>
                </a:solidFill>
                <a:latin typeface="Consolas"/>
              </a:rPr>
              <a:t>Plugin</a:t>
            </a:r>
            <a:endParaRPr b="0" lang="en-US" sz="1300" spc="-1" strike="noStrike">
              <a:solidFill>
                <a:srgbClr val="ffffff"/>
              </a:solidFill>
              <a:latin typeface="Arial"/>
            </a:endParaRPr>
          </a:p>
        </p:txBody>
      </p:sp>
      <p:sp>
        <p:nvSpPr>
          <p:cNvPr id="475" name="TextBox 8"/>
          <p:cNvSpPr/>
          <p:nvPr/>
        </p:nvSpPr>
        <p:spPr>
          <a:xfrm>
            <a:off x="4312800" y="1965960"/>
            <a:ext cx="36540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400" spc="-1" strike="noStrike">
                <a:solidFill>
                  <a:srgbClr val="4ae85a"/>
                </a:solidFill>
                <a:latin typeface="Consolas"/>
              </a:rPr>
              <a:t>→</a:t>
            </a:r>
            <a:endParaRPr b="0" lang="en-US" sz="2400" spc="-1" strike="noStrike">
              <a:solidFill>
                <a:srgbClr val="ffffff"/>
              </a:solidFill>
              <a:latin typeface="Arial"/>
            </a:endParaRPr>
          </a:p>
        </p:txBody>
      </p:sp>
      <p:sp>
        <p:nvSpPr>
          <p:cNvPr id="476" name="Rounded Rectangle 9"/>
          <p:cNvSpPr/>
          <p:nvPr/>
        </p:nvSpPr>
        <p:spPr>
          <a:xfrm>
            <a:off x="4449960" y="1645920"/>
            <a:ext cx="1645560" cy="109692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7" name="TextBox 10"/>
          <p:cNvSpPr/>
          <p:nvPr/>
        </p:nvSpPr>
        <p:spPr>
          <a:xfrm>
            <a:off x="4449960" y="1645920"/>
            <a:ext cx="164556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300" spc="-1" strike="noStrike">
                <a:solidFill>
                  <a:srgbClr val="ffffff"/>
                </a:solidFill>
                <a:latin typeface="Consolas"/>
              </a:rPr>
              <a:t>Vivisect</a:t>
            </a:r>
            <a:br>
              <a:rPr sz="1300"/>
            </a:br>
            <a:r>
              <a:rPr b="1" lang="en-US" sz="1300" spc="-1" strike="noStrike">
                <a:solidFill>
                  <a:srgbClr val="ffffff"/>
                </a:solidFill>
                <a:latin typeface="Consolas"/>
              </a:rPr>
              <a:t>Analysis</a:t>
            </a:r>
            <a:endParaRPr b="0" lang="en-US" sz="1300" spc="-1" strike="noStrike">
              <a:solidFill>
                <a:srgbClr val="ffffff"/>
              </a:solidFill>
              <a:latin typeface="Arial"/>
            </a:endParaRPr>
          </a:p>
        </p:txBody>
      </p:sp>
      <p:sp>
        <p:nvSpPr>
          <p:cNvPr id="478" name="TextBox 11"/>
          <p:cNvSpPr/>
          <p:nvPr/>
        </p:nvSpPr>
        <p:spPr>
          <a:xfrm>
            <a:off x="5958720" y="1965960"/>
            <a:ext cx="36540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400" spc="-1" strike="noStrike">
                <a:solidFill>
                  <a:srgbClr val="4ae85a"/>
                </a:solidFill>
                <a:latin typeface="Consolas"/>
              </a:rPr>
              <a:t>→</a:t>
            </a:r>
            <a:endParaRPr b="0" lang="en-US" sz="2400" spc="-1" strike="noStrike">
              <a:solidFill>
                <a:srgbClr val="ffffff"/>
              </a:solidFill>
              <a:latin typeface="Arial"/>
            </a:endParaRPr>
          </a:p>
        </p:txBody>
      </p:sp>
      <p:sp>
        <p:nvSpPr>
          <p:cNvPr id="479" name="Rounded Rectangle 12"/>
          <p:cNvSpPr/>
          <p:nvPr/>
        </p:nvSpPr>
        <p:spPr>
          <a:xfrm>
            <a:off x="6095880" y="1645920"/>
            <a:ext cx="1645560" cy="109692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0" name="TextBox 13"/>
          <p:cNvSpPr/>
          <p:nvPr/>
        </p:nvSpPr>
        <p:spPr>
          <a:xfrm>
            <a:off x="6095880" y="1645920"/>
            <a:ext cx="164556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300" spc="-1" strike="noStrike">
                <a:solidFill>
                  <a:srgbClr val="ffffff"/>
                </a:solidFill>
                <a:latin typeface="Consolas"/>
              </a:rPr>
              <a:t>Viv-Decomp</a:t>
            </a:r>
            <a:br>
              <a:rPr sz="1300"/>
            </a:br>
            <a:r>
              <a:rPr b="1" lang="en-US" sz="1300" spc="-1" strike="noStrike">
                <a:solidFill>
                  <a:srgbClr val="ffffff"/>
                </a:solidFill>
                <a:latin typeface="Consolas"/>
              </a:rPr>
              <a:t>Decompile</a:t>
            </a:r>
            <a:endParaRPr b="0" lang="en-US" sz="1300" spc="-1" strike="noStrike">
              <a:solidFill>
                <a:srgbClr val="ffffff"/>
              </a:solidFill>
              <a:latin typeface="Arial"/>
            </a:endParaRPr>
          </a:p>
        </p:txBody>
      </p:sp>
      <p:sp>
        <p:nvSpPr>
          <p:cNvPr id="481" name="TextBox 14"/>
          <p:cNvSpPr/>
          <p:nvPr/>
        </p:nvSpPr>
        <p:spPr>
          <a:xfrm>
            <a:off x="7604640" y="1965960"/>
            <a:ext cx="36540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400" spc="-1" strike="noStrike">
                <a:solidFill>
                  <a:srgbClr val="4ae85a"/>
                </a:solidFill>
                <a:latin typeface="Consolas"/>
              </a:rPr>
              <a:t>→</a:t>
            </a:r>
            <a:endParaRPr b="0" lang="en-US" sz="2400" spc="-1" strike="noStrike">
              <a:solidFill>
                <a:srgbClr val="ffffff"/>
              </a:solidFill>
              <a:latin typeface="Arial"/>
            </a:endParaRPr>
          </a:p>
        </p:txBody>
      </p:sp>
      <p:sp>
        <p:nvSpPr>
          <p:cNvPr id="482" name="Rounded Rectangle 15"/>
          <p:cNvSpPr/>
          <p:nvPr/>
        </p:nvSpPr>
        <p:spPr>
          <a:xfrm>
            <a:off x="7741800" y="1645920"/>
            <a:ext cx="1645560" cy="109692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3" name="TextBox 16"/>
          <p:cNvSpPr/>
          <p:nvPr/>
        </p:nvSpPr>
        <p:spPr>
          <a:xfrm>
            <a:off x="7741800" y="1645920"/>
            <a:ext cx="164556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300" spc="-1" strike="noStrike">
                <a:solidFill>
                  <a:srgbClr val="ffffff"/>
                </a:solidFill>
                <a:latin typeface="Consolas"/>
              </a:rPr>
              <a:t>Vuln</a:t>
            </a:r>
            <a:br>
              <a:rPr sz="1300"/>
            </a:br>
            <a:r>
              <a:rPr b="1" lang="en-US" sz="1300" spc="-1" strike="noStrike">
                <a:solidFill>
                  <a:srgbClr val="ffffff"/>
                </a:solidFill>
                <a:latin typeface="Consolas"/>
              </a:rPr>
              <a:t>Triage</a:t>
            </a:r>
            <a:endParaRPr b="0" lang="en-US" sz="1300" spc="-1" strike="noStrike">
              <a:solidFill>
                <a:srgbClr val="ffffff"/>
              </a:solidFill>
              <a:latin typeface="Arial"/>
            </a:endParaRPr>
          </a:p>
        </p:txBody>
      </p:sp>
      <p:sp>
        <p:nvSpPr>
          <p:cNvPr id="484" name="TextBox 17"/>
          <p:cNvSpPr/>
          <p:nvPr/>
        </p:nvSpPr>
        <p:spPr>
          <a:xfrm>
            <a:off x="9250560" y="1965960"/>
            <a:ext cx="36540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400" spc="-1" strike="noStrike">
                <a:solidFill>
                  <a:srgbClr val="4ae85a"/>
                </a:solidFill>
                <a:latin typeface="Consolas"/>
              </a:rPr>
              <a:t>→</a:t>
            </a:r>
            <a:endParaRPr b="0" lang="en-US" sz="2400" spc="-1" strike="noStrike">
              <a:solidFill>
                <a:srgbClr val="ffffff"/>
              </a:solidFill>
              <a:latin typeface="Arial"/>
            </a:endParaRPr>
          </a:p>
        </p:txBody>
      </p:sp>
      <p:sp>
        <p:nvSpPr>
          <p:cNvPr id="485" name="Rounded Rectangle 18"/>
          <p:cNvSpPr/>
          <p:nvPr/>
        </p:nvSpPr>
        <p:spPr>
          <a:xfrm>
            <a:off x="9387720" y="1645920"/>
            <a:ext cx="1645560" cy="1096920"/>
          </a:xfrm>
          <a:prstGeom prst="roundRect">
            <a:avLst>
              <a:gd name="adj" fmla="val 8000"/>
            </a:avLst>
          </a:prstGeom>
          <a:solidFill>
            <a:srgbClr val="ff448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6" name="TextBox 19"/>
          <p:cNvSpPr/>
          <p:nvPr/>
        </p:nvSpPr>
        <p:spPr>
          <a:xfrm>
            <a:off x="9387720" y="1645920"/>
            <a:ext cx="1645560" cy="109692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300" spc="-1" strike="noStrike">
                <a:solidFill>
                  <a:srgbClr val="ffffff"/>
                </a:solidFill>
                <a:latin typeface="Consolas"/>
              </a:rPr>
              <a:t>Exploit</a:t>
            </a:r>
            <a:br>
              <a:rPr sz="1300"/>
            </a:br>
            <a:r>
              <a:rPr b="1" lang="en-US" sz="1300" spc="-1" strike="noStrike">
                <a:solidFill>
                  <a:srgbClr val="ffffff"/>
                </a:solidFill>
                <a:latin typeface="Consolas"/>
              </a:rPr>
              <a:t>Primitive</a:t>
            </a:r>
            <a:endParaRPr b="0" lang="en-US" sz="1300" spc="-1" strike="noStrike">
              <a:solidFill>
                <a:srgbClr val="ffffff"/>
              </a:solidFill>
              <a:latin typeface="Arial"/>
            </a:endParaRPr>
          </a:p>
        </p:txBody>
      </p:sp>
      <p:sp>
        <p:nvSpPr>
          <p:cNvPr id="487" name="TextBox 20"/>
          <p:cNvSpPr/>
          <p:nvPr/>
        </p:nvSpPr>
        <p:spPr>
          <a:xfrm>
            <a:off x="1371600" y="3200400"/>
            <a:ext cx="9143640" cy="3200040"/>
          </a:xfrm>
          <a:prstGeom prst="rect">
            <a:avLst/>
          </a:prstGeom>
          <a:noFill/>
          <a:ln w="0">
            <a:noFill/>
          </a:ln>
        </p:spPr>
        <p:style>
          <a:lnRef idx="0"/>
          <a:fillRef idx="0"/>
          <a:effectRef idx="0"/>
          <a:fontRef idx="minor"/>
        </p:style>
        <p:txBody>
          <a:bodyPr lIns="90000" rIns="90000" tIns="45000" bIns="45000" anchor="t">
            <a:normAutofit/>
          </a:bodyPr>
          <a:p>
            <a:pPr defTabSz="457200">
              <a:lnSpc>
                <a:spcPct val="115000"/>
              </a:lnSpc>
              <a:spcAft>
                <a:spcPts val="400"/>
              </a:spcAft>
            </a:pPr>
            <a:r>
              <a:rPr b="1" lang="en-US" sz="1800" spc="-1" strike="noStrike">
                <a:solidFill>
                  <a:srgbClr val="00ccaa"/>
                </a:solidFill>
                <a:latin typeface="Consolas"/>
              </a:rPr>
              <a:t>What Viv-AI gives the agent:</a:t>
            </a:r>
            <a:endParaRPr b="0" lang="en-US" sz="1800" spc="-1" strike="noStrike">
              <a:solidFill>
                <a:srgbClr val="ffffff"/>
              </a:solidFill>
              <a:latin typeface="Arial"/>
            </a:endParaRPr>
          </a:p>
          <a:p>
            <a:pPr defTabSz="457200">
              <a:lnSpc>
                <a:spcPct val="115000"/>
              </a:lnSpc>
              <a:spcAft>
                <a:spcPts val="400"/>
              </a:spcAft>
            </a:pPr>
            <a:endParaRPr b="0" lang="en-US" sz="800" spc="-1" strike="noStrike">
              <a:solidFill>
                <a:srgbClr val="ffffff"/>
              </a:solidFill>
              <a:latin typeface="Arial"/>
            </a:endParaRPr>
          </a:p>
          <a:p>
            <a:pPr defTabSz="457200">
              <a:lnSpc>
                <a:spcPct val="115000"/>
              </a:lnSpc>
              <a:spcAft>
                <a:spcPts val="400"/>
              </a:spcAft>
            </a:pPr>
            <a:r>
              <a:rPr b="0" lang="en-US" sz="1400" spc="-1" strike="noStrike">
                <a:solidFill>
                  <a:srgbClr val="ffffff"/>
                </a:solidFill>
                <a:latin typeface="Consolas"/>
              </a:rPr>
              <a:t>• </a:t>
            </a:r>
            <a:r>
              <a:rPr b="0" lang="en-US" sz="1400" spc="-1" strike="noStrike">
                <a:solidFill>
                  <a:srgbClr val="ffffff"/>
                </a:solidFill>
                <a:latin typeface="Consolas"/>
              </a:rPr>
              <a:t>Bounded binary/function extraction — feed the agent exactly what fits in context</a:t>
            </a:r>
            <a:endParaRPr b="0" lang="en-US" sz="1400" spc="-1" strike="noStrike">
              <a:solidFill>
                <a:srgbClr val="ffffff"/>
              </a:solidFill>
              <a:latin typeface="Arial"/>
            </a:endParaRPr>
          </a:p>
          <a:p>
            <a:pPr defTabSz="457200">
              <a:lnSpc>
                <a:spcPct val="115000"/>
              </a:lnSpc>
              <a:spcAft>
                <a:spcPts val="400"/>
              </a:spcAft>
            </a:pPr>
            <a:r>
              <a:rPr b="0" lang="en-US" sz="1400" spc="-1" strike="noStrike">
                <a:solidFill>
                  <a:srgbClr val="ffffff"/>
                </a:solidFill>
                <a:latin typeface="Consolas"/>
              </a:rPr>
              <a:t>• </a:t>
            </a:r>
            <a:r>
              <a:rPr b="0" lang="en-US" sz="1400" spc="-1" strike="noStrike">
                <a:solidFill>
                  <a:srgbClr val="ffffff"/>
                </a:solidFill>
                <a:latin typeface="Consolas"/>
              </a:rPr>
              <a:t>Control-flow graph summarization — compressed function understanding</a:t>
            </a:r>
            <a:endParaRPr b="0" lang="en-US" sz="1400" spc="-1" strike="noStrike">
              <a:solidFill>
                <a:srgbClr val="ffffff"/>
              </a:solidFill>
              <a:latin typeface="Arial"/>
            </a:endParaRPr>
          </a:p>
          <a:p>
            <a:pPr defTabSz="457200">
              <a:lnSpc>
                <a:spcPct val="115000"/>
              </a:lnSpc>
              <a:spcAft>
                <a:spcPts val="400"/>
              </a:spcAft>
            </a:pPr>
            <a:r>
              <a:rPr b="0" lang="en-US" sz="1400" spc="-1" strike="noStrike">
                <a:solidFill>
                  <a:srgbClr val="ffffff"/>
                </a:solidFill>
                <a:latin typeface="Consolas"/>
              </a:rPr>
              <a:t>• </a:t>
            </a:r>
            <a:r>
              <a:rPr b="0" lang="en-US" sz="1400" spc="-1" strike="noStrike">
                <a:solidFill>
                  <a:srgbClr val="ffffff"/>
                </a:solidFill>
                <a:latin typeface="Consolas"/>
              </a:rPr>
              <a:t>Symbolik path summarization — data flow without raw bytes</a:t>
            </a:r>
            <a:endParaRPr b="0" lang="en-US" sz="1400" spc="-1" strike="noStrike">
              <a:solidFill>
                <a:srgbClr val="ffffff"/>
              </a:solidFill>
              <a:latin typeface="Arial"/>
            </a:endParaRPr>
          </a:p>
          <a:p>
            <a:pPr defTabSz="457200">
              <a:lnSpc>
                <a:spcPct val="115000"/>
              </a:lnSpc>
              <a:spcAft>
                <a:spcPts val="400"/>
              </a:spcAft>
            </a:pPr>
            <a:r>
              <a:rPr b="0" lang="en-US" sz="1400" spc="-1" strike="noStrike">
                <a:solidFill>
                  <a:srgbClr val="ffffff"/>
                </a:solidFill>
                <a:latin typeface="Consolas"/>
              </a:rPr>
              <a:t>• </a:t>
            </a:r>
            <a:r>
              <a:rPr b="0" lang="en-US" sz="1400" spc="-1" strike="noStrike">
                <a:solidFill>
                  <a:srgbClr val="ffffff"/>
                </a:solidFill>
                <a:latin typeface="Consolas"/>
              </a:rPr>
              <a:t>Safe write-back with review queue — agent suggests renames/comments, you approve</a:t>
            </a:r>
            <a:endParaRPr b="0" lang="en-US" sz="1400" spc="-1" strike="noStrike">
              <a:solidFill>
                <a:srgbClr val="ffffff"/>
              </a:solidFill>
              <a:latin typeface="Arial"/>
            </a:endParaRPr>
          </a:p>
          <a:p>
            <a:pPr defTabSz="457200">
              <a:lnSpc>
                <a:spcPct val="115000"/>
              </a:lnSpc>
              <a:spcAft>
                <a:spcPts val="400"/>
              </a:spcAft>
            </a:pPr>
            <a:r>
              <a:rPr b="1" lang="en-US" sz="1400" spc="-1" strike="noStrike">
                <a:solidFill>
                  <a:srgbClr val="4ae85a"/>
                </a:solidFill>
                <a:latin typeface="Consolas"/>
              </a:rPr>
              <a:t>• </a:t>
            </a:r>
            <a:r>
              <a:rPr b="1" lang="en-US" sz="1400" spc="-1" strike="noStrike">
                <a:solidFill>
                  <a:srgbClr val="4ae85a"/>
                </a:solidFill>
                <a:latin typeface="Consolas"/>
              </a:rPr>
              <a:t>MCP server — Hermes connects to Vivisect directly, no copy-paste</a:t>
            </a:r>
            <a:endParaRPr b="0" lang="en-US" sz="1400" spc="-1" strike="noStrike">
              <a:solidFill>
                <a:srgbClr val="ffffff"/>
              </a:solidFill>
              <a:latin typeface="Arial"/>
            </a:endParaRPr>
          </a:p>
          <a:p>
            <a:pPr defTabSz="457200">
              <a:lnSpc>
                <a:spcPct val="115000"/>
              </a:lnSpc>
              <a:spcAft>
                <a:spcPts val="400"/>
              </a:spcAft>
            </a:pPr>
            <a:r>
              <a:rPr b="0" lang="en-US" sz="1400" spc="-1" strike="noStrike">
                <a:solidFill>
                  <a:srgbClr val="ffffff"/>
                </a:solidFill>
                <a:latin typeface="Consolas"/>
              </a:rPr>
              <a:t>• </a:t>
            </a:r>
            <a:r>
              <a:rPr b="0" lang="en-US" sz="1400" spc="-1" strike="noStrike">
                <a:solidFill>
                  <a:srgbClr val="ffffff"/>
                </a:solidFill>
                <a:latin typeface="Consolas"/>
              </a:rPr>
              <a:t>Provider-agnostic — works with your local Qwen3.8-27B or cloud Fable 5</a:t>
            </a:r>
            <a:endParaRPr b="0" lang="en-US" sz="1400" spc="-1" strike="noStrike">
              <a:solidFill>
                <a:srgbClr val="ffffff"/>
              </a:solidFill>
              <a:latin typeface="Arial"/>
            </a:endParaRPr>
          </a:p>
          <a:p>
            <a:pPr defTabSz="457200">
              <a:lnSpc>
                <a:spcPct val="115000"/>
              </a:lnSpc>
              <a:spcAft>
                <a:spcPts val="400"/>
              </a:spcAft>
            </a:pPr>
            <a:r>
              <a:rPr b="0" lang="en-US" sz="1400" spc="-1" strike="noStrike">
                <a:solidFill>
                  <a:srgbClr val="ffffff"/>
                </a:solidFill>
                <a:latin typeface="Consolas"/>
              </a:rPr>
              <a:t>• </a:t>
            </a:r>
            <a:r>
              <a:rPr b="0" lang="en-US" sz="1400" spc="-1" strike="noStrike">
                <a:solidFill>
                  <a:srgbClr val="ffffff"/>
                </a:solidFill>
                <a:latin typeface="Consolas"/>
              </a:rPr>
              <a:t>Vuln triage workflows — agent identifies and classifies vulnerabilities</a:t>
            </a:r>
            <a:endParaRPr b="0" lang="en-US" sz="1400" spc="-1" strike="noStrike">
              <a:solidFill>
                <a:srgbClr val="ffffff"/>
              </a:solidFill>
              <a:latin typeface="Arial"/>
            </a:endParaRPr>
          </a:p>
        </p:txBody>
      </p:sp>
      <p:sp>
        <p:nvSpPr>
          <p:cNvPr id="488" name="TextBox 21"/>
          <p:cNvSpPr/>
          <p:nvPr/>
        </p:nvSpPr>
        <p:spPr>
          <a:xfrm>
            <a:off x="548640" y="6217920"/>
            <a:ext cx="1097244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600" spc="-1" strike="noStrike">
                <a:solidFill>
                  <a:srgbClr val="4ae85a"/>
                </a:solidFill>
                <a:latin typeface="Consolas"/>
              </a:rPr>
              <a:t>This is the raptor pen. The agent lives inside your RE tool.</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489" name="TextBox 1"/>
          <p:cNvSpPr/>
          <p:nvPr/>
        </p:nvSpPr>
        <p:spPr>
          <a:xfrm>
            <a:off x="548640" y="365760"/>
            <a:ext cx="10972440" cy="7311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1" lang="en-US" sz="3200" spc="-1" strike="noStrike">
                <a:solidFill>
                  <a:srgbClr val="ffffff"/>
                </a:solidFill>
                <a:latin typeface="Consolas"/>
              </a:rPr>
              <a:t>Quick Reference Card  (screenshot this)</a:t>
            </a:r>
            <a:endParaRPr b="0" lang="en-US" sz="3200" spc="-1" strike="noStrike">
              <a:solidFill>
                <a:srgbClr val="ffffff"/>
              </a:solidFill>
              <a:latin typeface="Arial"/>
            </a:endParaRPr>
          </a:p>
        </p:txBody>
      </p:sp>
      <p:sp>
        <p:nvSpPr>
          <p:cNvPr id="490" name="Rectangle 2"/>
          <p:cNvSpPr/>
          <p:nvPr/>
        </p:nvSpPr>
        <p:spPr>
          <a:xfrm>
            <a:off x="548640" y="1051560"/>
            <a:ext cx="2742840" cy="101160"/>
          </a:xfrm>
          <a:prstGeom prst="rect">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491" name="Table 3"/>
          <p:cNvGraphicFramePr/>
          <p:nvPr/>
        </p:nvGraphicFramePr>
        <p:xfrm>
          <a:off x="548640" y="1280160"/>
          <a:ext cx="11063880" cy="5303160"/>
        </p:xfrm>
        <a:graphic>
          <a:graphicData uri="http://schemas.openxmlformats.org/drawingml/2006/table">
            <a:tbl>
              <a:tblPr/>
              <a:tblGrid>
                <a:gridCol w="5532120"/>
                <a:gridCol w="5532120"/>
              </a:tblGrid>
              <a:tr h="331200">
                <a:tc>
                  <a:txBody>
                    <a:bodyPr anchor="t">
                      <a:noAutofit/>
                    </a:bodyPr>
                    <a:p>
                      <a:pPr defTabSz="457200">
                        <a:lnSpc>
                          <a:spcPct val="100000"/>
                        </a:lnSpc>
                      </a:pPr>
                      <a:r>
                        <a:rPr b="1" lang="en-US" sz="1300" spc="-1" strike="noStrike">
                          <a:solidFill>
                            <a:srgbClr val="00ccaa"/>
                          </a:solidFill>
                          <a:latin typeface="Consolas"/>
                        </a:rPr>
                        <a:t>Concept</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c>
                  <a:txBody>
                    <a:bodyPr anchor="t">
                      <a:noAutofit/>
                    </a:bodyPr>
                    <a:p>
                      <a:pPr defTabSz="457200">
                        <a:lnSpc>
                          <a:spcPct val="100000"/>
                        </a:lnSpc>
                      </a:pPr>
                      <a:r>
                        <a:rPr b="1" lang="en-US" sz="1300" spc="-1" strike="noStrike">
                          <a:solidFill>
                            <a:srgbClr val="00ccaa"/>
                          </a:solidFill>
                          <a:latin typeface="Consolas"/>
                        </a:rPr>
                        <a:t>TL;DR</a:t>
                      </a:r>
                      <a:endParaRPr b="0" lang="en-US" sz="13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a2e1e"/>
                    </a:solidFill>
                  </a:tcPr>
                </a:tc>
              </a:tr>
              <a:tr h="331200">
                <a:tc>
                  <a:txBody>
                    <a:bodyPr anchor="t">
                      <a:noAutofit/>
                    </a:bodyPr>
                    <a:p>
                      <a:pPr defTabSz="457200">
                        <a:lnSpc>
                          <a:spcPct val="100000"/>
                        </a:lnSpc>
                      </a:pPr>
                      <a:r>
                        <a:rPr b="0" lang="en-US" sz="1200" spc="-1" strike="noStrike">
                          <a:solidFill>
                            <a:srgbClr val="ffffff"/>
                          </a:solidFill>
                          <a:latin typeface="Consolas"/>
                        </a:rPr>
                        <a:t>7B / 27B / 284B / 5T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Laptop / 1 GPU / DGX Spark / datacenter API</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331200">
                <a:tc>
                  <a:txBody>
                    <a:bodyPr anchor="t">
                      <a:noAutofit/>
                    </a:bodyPr>
                    <a:p>
                      <a:pPr defTabSz="457200">
                        <a:lnSpc>
                          <a:spcPct val="100000"/>
                        </a:lnSpc>
                      </a:pPr>
                      <a:r>
                        <a:rPr b="0" lang="en-US" sz="1200" spc="-1" strike="noStrike">
                          <a:solidFill>
                            <a:srgbClr val="ffffff"/>
                          </a:solidFill>
                          <a:latin typeface="Consolas"/>
                        </a:rPr>
                        <a:t>Q4 quantization</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4x smaller, same quality for RE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331200">
                <a:tc>
                  <a:txBody>
                    <a:bodyPr anchor="t">
                      <a:noAutofit/>
                    </a:bodyPr>
                    <a:p>
                      <a:pPr defTabSz="457200">
                        <a:lnSpc>
                          <a:spcPct val="100000"/>
                        </a:lnSpc>
                      </a:pPr>
                      <a:r>
                        <a:rPr b="0" lang="en-US" sz="1200" spc="-1" strike="noStrike">
                          <a:solidFill>
                            <a:srgbClr val="ffffff"/>
                          </a:solidFill>
                          <a:latin typeface="Consolas"/>
                        </a:rPr>
                        <a:t>Context windows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Never fit the whole binary — decompose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331200">
                <a:tc>
                  <a:txBody>
                    <a:bodyPr anchor="t">
                      <a:noAutofit/>
                    </a:bodyPr>
                    <a:p>
                      <a:pPr defTabSz="457200">
                        <a:lnSpc>
                          <a:spcPct val="100000"/>
                        </a:lnSpc>
                      </a:pPr>
                      <a:r>
                        <a:rPr b="0" lang="en-US" sz="1200" spc="-1" strike="noStrike">
                          <a:solidFill>
                            <a:srgbClr val="ffffff"/>
                          </a:solidFill>
                          <a:latin typeface="Consolas"/>
                        </a:rPr>
                        <a:t>Qwen3.8-27B</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Dense multimodal, 262K-&gt;1M ctx, Apache 2.0</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331200">
                <a:tc>
                  <a:txBody>
                    <a:bodyPr anchor="t">
                      <a:noAutofit/>
                    </a:bodyPr>
                    <a:p>
                      <a:pPr defTabSz="457200">
                        <a:lnSpc>
                          <a:spcPct val="100000"/>
                        </a:lnSpc>
                      </a:pPr>
                      <a:r>
                        <a:rPr b="0" lang="en-US" sz="1200" spc="-1" strike="noStrike">
                          <a:solidFill>
                            <a:srgbClr val="ffffff"/>
                          </a:solidFill>
                          <a:latin typeface="Consolas"/>
                        </a:rPr>
                        <a:t>DeepSeek V4-Flash</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284B MoE, 1M ctx, MIT — runs on DGX Spark</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331200">
                <a:tc>
                  <a:txBody>
                    <a:bodyPr anchor="t">
                      <a:noAutofit/>
                    </a:bodyPr>
                    <a:p>
                      <a:pPr defTabSz="457200">
                        <a:lnSpc>
                          <a:spcPct val="100000"/>
                        </a:lnSpc>
                      </a:pPr>
                      <a:r>
                        <a:rPr b="0" lang="en-US" sz="1200" spc="-1" strike="noStrike">
                          <a:solidFill>
                            <a:srgbClr val="ffffff"/>
                          </a:solidFill>
                          <a:latin typeface="Consolas"/>
                        </a:rPr>
                        <a:t>RAG</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Attach docs to queries — free, instant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331200">
                <a:tc>
                  <a:txBody>
                    <a:bodyPr anchor="t">
                      <a:noAutofit/>
                    </a:bodyPr>
                    <a:p>
                      <a:pPr defTabSz="457200">
                        <a:lnSpc>
                          <a:spcPct val="100000"/>
                        </a:lnSpc>
                      </a:pPr>
                      <a:r>
                        <a:rPr b="0" lang="en-US" sz="1200" spc="-1" strike="noStrike">
                          <a:solidFill>
                            <a:srgbClr val="ffffff"/>
                          </a:solidFill>
                          <a:latin typeface="Consolas"/>
                        </a:rPr>
                        <a:t>Agent</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Model + tools + memory + planning</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331200">
                <a:tc>
                  <a:txBody>
                    <a:bodyPr anchor="t">
                      <a:noAutofit/>
                    </a:bodyPr>
                    <a:p>
                      <a:pPr defTabSz="457200">
                        <a:lnSpc>
                          <a:spcPct val="100000"/>
                        </a:lnSpc>
                      </a:pPr>
                      <a:r>
                        <a:rPr b="0" lang="en-US" sz="1200" spc="-1" strike="noStrike">
                          <a:solidFill>
                            <a:srgbClr val="ffffff"/>
                          </a:solidFill>
                          <a:latin typeface="Consolas"/>
                        </a:rPr>
                        <a:t>Mythos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Apex predator — restricted, export-controlled</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331200">
                <a:tc>
                  <a:txBody>
                    <a:bodyPr anchor="t">
                      <a:noAutofit/>
                    </a:bodyPr>
                    <a:p>
                      <a:pPr defTabSz="457200">
                        <a:lnSpc>
                          <a:spcPct val="100000"/>
                        </a:lnSpc>
                      </a:pPr>
                      <a:r>
                        <a:rPr b="0" lang="en-US" sz="1200" spc="-1" strike="noStrike">
                          <a:solidFill>
                            <a:srgbClr val="ffffff"/>
                          </a:solidFill>
                          <a:latin typeface="Consolas"/>
                        </a:rPr>
                        <a:t>Fable 5</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Mythos with a muzzle — limited on security</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331200">
                <a:tc>
                  <a:txBody>
                    <a:bodyPr anchor="t">
                      <a:noAutofit/>
                    </a:bodyPr>
                    <a:p>
                      <a:pPr defTabSz="457200">
                        <a:lnSpc>
                          <a:spcPct val="100000"/>
                        </a:lnSpc>
                      </a:pPr>
                      <a:r>
                        <a:rPr b="0" lang="en-US" sz="1200" spc="-1" strike="noStrike">
                          <a:solidFill>
                            <a:srgbClr val="ffffff"/>
                          </a:solidFill>
                          <a:latin typeface="Consolas"/>
                        </a:rPr>
                        <a:t>Fugu</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Pack hunter — orchestrates models, routes around controls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331200">
                <a:tc>
                  <a:txBody>
                    <a:bodyPr anchor="t">
                      <a:noAutofit/>
                    </a:bodyPr>
                    <a:p>
                      <a:pPr defTabSz="457200">
                        <a:lnSpc>
                          <a:spcPct val="100000"/>
                        </a:lnSpc>
                      </a:pPr>
                      <a:r>
                        <a:rPr b="0" lang="en-US" sz="1200" spc="-1" strike="noStrike">
                          <a:solidFill>
                            <a:srgbClr val="ffffff"/>
                          </a:solidFill>
                          <a:latin typeface="Consolas"/>
                        </a:rPr>
                        <a:t>Viv-AI</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AI plugin for Vivisect — MCP server, vuln triage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331200">
                <a:tc>
                  <a:txBody>
                    <a:bodyPr anchor="t">
                      <a:noAutofit/>
                    </a:bodyPr>
                    <a:p>
                      <a:pPr defTabSz="457200">
                        <a:lnSpc>
                          <a:spcPct val="100000"/>
                        </a:lnSpc>
                      </a:pPr>
                      <a:r>
                        <a:rPr b="0" lang="en-US" sz="1200" spc="-1" strike="noStrike">
                          <a:solidFill>
                            <a:srgbClr val="ffffff"/>
                          </a:solidFill>
                          <a:latin typeface="Consolas"/>
                        </a:rPr>
                        <a:t>VivisectION</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Next-gen automated 0-day discovery vision</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331200">
                <a:tc>
                  <a:txBody>
                    <a:bodyPr anchor="t">
                      <a:noAutofit/>
                    </a:bodyPr>
                    <a:p>
                      <a:pPr defTabSz="457200">
                        <a:lnSpc>
                          <a:spcPct val="100000"/>
                        </a:lnSpc>
                      </a:pPr>
                      <a:r>
                        <a:rPr b="0" lang="en-US" sz="1200" spc="-1" strike="noStrike">
                          <a:solidFill>
                            <a:srgbClr val="ffffff"/>
                          </a:solidFill>
                          <a:latin typeface="Consolas"/>
                        </a:rPr>
                        <a:t>Viv-Decomp</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Native Vivisect decompiler — IR, SSA, type inference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r h="331200">
                <a:tc>
                  <a:txBody>
                    <a:bodyPr anchor="t">
                      <a:noAutofit/>
                    </a:bodyPr>
                    <a:p>
                      <a:pPr defTabSz="457200">
                        <a:lnSpc>
                          <a:spcPct val="100000"/>
                        </a:lnSpc>
                      </a:pPr>
                      <a:r>
                        <a:rPr b="0" lang="en-US" sz="1200" spc="-1" strike="noStrike">
                          <a:solidFill>
                            <a:srgbClr val="ffffff"/>
                          </a:solidFill>
                          <a:latin typeface="Consolas"/>
                        </a:rPr>
                        <a:t>Strategy</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c>
                  <a:txBody>
                    <a:bodyPr anchor="t">
                      <a:noAutofit/>
                    </a:bodyPr>
                    <a:p>
                      <a:pPr defTabSz="457200">
                        <a:lnSpc>
                          <a:spcPct val="100000"/>
                        </a:lnSpc>
                      </a:pPr>
                      <a:r>
                        <a:rPr b="0" lang="en-US" sz="1200" spc="-1" strike="noStrike">
                          <a:solidFill>
                            <a:srgbClr val="ffffff"/>
                          </a:solidFill>
                          <a:latin typeface="Consolas"/>
                        </a:rPr>
                        <a:t>Chunk -&gt; Summarize -&gt; Merge -&gt; Decide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22012"/>
                    </a:solidFill>
                  </a:tcPr>
                </a:tc>
              </a:tr>
              <a:tr h="331200">
                <a:tc>
                  <a:txBody>
                    <a:bodyPr anchor="t">
                      <a:noAutofit/>
                    </a:bodyPr>
                    <a:p>
                      <a:pPr defTabSz="457200">
                        <a:lnSpc>
                          <a:spcPct val="100000"/>
                        </a:lnSpc>
                      </a:pPr>
                      <a:r>
                        <a:rPr b="0" lang="en-US" sz="1200" spc="-1" strike="noStrike">
                          <a:solidFill>
                            <a:srgbClr val="ffffff"/>
                          </a:solidFill>
                          <a:latin typeface="Consolas"/>
                        </a:rPr>
                        <a:t>Both sides</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c>
                  <a:txBody>
                    <a:bodyPr anchor="t">
                      <a:noAutofit/>
                    </a:bodyPr>
                    <a:p>
                      <a:pPr defTabSz="457200">
                        <a:lnSpc>
                          <a:spcPct val="100000"/>
                        </a:lnSpc>
                      </a:pPr>
                      <a:r>
                        <a:rPr b="0" lang="en-US" sz="1200" spc="-1" strike="noStrike">
                          <a:solidFill>
                            <a:srgbClr val="ffffff"/>
                          </a:solidFill>
                          <a:latin typeface="Consolas"/>
                        </a:rPr>
                        <a:t>Same architecture for offense and defense</a:t>
                      </a:r>
                      <a:endParaRPr b="0" lang="en-US" sz="12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140a"/>
                    </a:solidFill>
                  </a:tcPr>
                </a:tc>
              </a:tr>
            </a:tbl>
          </a:graphicData>
        </a:graphic>
      </p:graphicFrame>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40a"/>
        </a:solidFill>
      </p:bgPr>
    </p:bg>
    <p:spTree>
      <p:nvGrpSpPr>
        <p:cNvPr id="1" name=""/>
        <p:cNvGrpSpPr/>
        <p:nvPr/>
      </p:nvGrpSpPr>
      <p:grpSpPr>
        <a:xfrm>
          <a:off x="0" y="0"/>
          <a:ext cx="0" cy="0"/>
          <a:chOff x="0" y="0"/>
          <a:chExt cx="0" cy="0"/>
        </a:xfrm>
      </p:grpSpPr>
      <p:sp>
        <p:nvSpPr>
          <p:cNvPr id="492" name="Oval 1"/>
          <p:cNvSpPr/>
          <p:nvPr/>
        </p:nvSpPr>
        <p:spPr>
          <a:xfrm>
            <a:off x="109800" y="256932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493" name="Oval 2"/>
          <p:cNvSpPr/>
          <p:nvPr/>
        </p:nvSpPr>
        <p:spPr>
          <a:xfrm>
            <a:off x="9793080" y="9511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94" name="Oval 3"/>
          <p:cNvSpPr/>
          <p:nvPr/>
        </p:nvSpPr>
        <p:spPr>
          <a:xfrm>
            <a:off x="1974960" y="2926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495" name="Oval 4"/>
          <p:cNvSpPr/>
          <p:nvPr/>
        </p:nvSpPr>
        <p:spPr>
          <a:xfrm>
            <a:off x="1014840" y="217620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96" name="Oval 5"/>
          <p:cNvSpPr/>
          <p:nvPr/>
        </p:nvSpPr>
        <p:spPr>
          <a:xfrm>
            <a:off x="2624400" y="18561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97" name="Oval 6"/>
          <p:cNvSpPr/>
          <p:nvPr/>
        </p:nvSpPr>
        <p:spPr>
          <a:xfrm>
            <a:off x="4123800" y="6071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498" name="Oval 7"/>
          <p:cNvSpPr/>
          <p:nvPr/>
        </p:nvSpPr>
        <p:spPr>
          <a:xfrm>
            <a:off x="118800" y="36576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499" name="Oval 8"/>
          <p:cNvSpPr/>
          <p:nvPr/>
        </p:nvSpPr>
        <p:spPr>
          <a:xfrm>
            <a:off x="5203080" y="35676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500" name="Oval 9"/>
          <p:cNvSpPr/>
          <p:nvPr/>
        </p:nvSpPr>
        <p:spPr>
          <a:xfrm>
            <a:off x="1911240" y="210240"/>
            <a:ext cx="37800" cy="378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18000" bIns="-18000" anchor="ctr">
            <a:noAutofit/>
          </a:bodyPr>
          <a:p>
            <a:pPr algn="ctr" defTabSz="457200">
              <a:lnSpc>
                <a:spcPct val="100000"/>
              </a:lnSpc>
            </a:pPr>
            <a:endParaRPr b="0" lang="en-US" sz="1800" spc="-1" strike="noStrike">
              <a:solidFill>
                <a:schemeClr val="lt1"/>
              </a:solidFill>
              <a:latin typeface="Calibri"/>
            </a:endParaRPr>
          </a:p>
        </p:txBody>
      </p:sp>
      <p:sp>
        <p:nvSpPr>
          <p:cNvPr id="501" name="Oval 10"/>
          <p:cNvSpPr/>
          <p:nvPr/>
        </p:nvSpPr>
        <p:spPr>
          <a:xfrm>
            <a:off x="1673280" y="321876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502" name="Oval 11"/>
          <p:cNvSpPr/>
          <p:nvPr/>
        </p:nvSpPr>
        <p:spPr>
          <a:xfrm>
            <a:off x="804600" y="10699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503" name="Oval 12"/>
          <p:cNvSpPr/>
          <p:nvPr/>
        </p:nvSpPr>
        <p:spPr>
          <a:xfrm>
            <a:off x="1764720" y="7315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504" name="Oval 13"/>
          <p:cNvSpPr/>
          <p:nvPr/>
        </p:nvSpPr>
        <p:spPr>
          <a:xfrm>
            <a:off x="11768400" y="841320"/>
            <a:ext cx="50400" cy="504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9000" bIns="-9000" anchor="ctr">
            <a:noAutofit/>
          </a:bodyPr>
          <a:p>
            <a:pPr algn="ctr" defTabSz="457200">
              <a:lnSpc>
                <a:spcPct val="100000"/>
              </a:lnSpc>
            </a:pPr>
            <a:endParaRPr b="0" lang="en-US" sz="1800" spc="-1" strike="noStrike">
              <a:solidFill>
                <a:schemeClr val="lt1"/>
              </a:solidFill>
              <a:latin typeface="Calibri"/>
            </a:endParaRPr>
          </a:p>
        </p:txBody>
      </p:sp>
      <p:sp>
        <p:nvSpPr>
          <p:cNvPr id="505" name="Oval 14"/>
          <p:cNvSpPr/>
          <p:nvPr/>
        </p:nvSpPr>
        <p:spPr>
          <a:xfrm>
            <a:off x="9464040" y="42048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506" name="Oval 15"/>
          <p:cNvSpPr/>
          <p:nvPr/>
        </p:nvSpPr>
        <p:spPr>
          <a:xfrm>
            <a:off x="1490400" y="539640"/>
            <a:ext cx="25200" cy="25200"/>
          </a:xfrm>
          <a:prstGeom prst="ellipse">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7000" bIns="-27000" anchor="ctr">
            <a:noAutofit/>
          </a:bodyPr>
          <a:p>
            <a:pPr algn="ctr" defTabSz="457200">
              <a:lnSpc>
                <a:spcPct val="100000"/>
              </a:lnSpc>
            </a:pPr>
            <a:endParaRPr b="0" lang="en-US" sz="1800" spc="-1" strike="noStrike">
              <a:solidFill>
                <a:schemeClr val="lt1"/>
              </a:solidFill>
              <a:latin typeface="Calibri"/>
            </a:endParaRPr>
          </a:p>
        </p:txBody>
      </p:sp>
      <p:sp>
        <p:nvSpPr>
          <p:cNvPr id="507" name="TextBox 16"/>
          <p:cNvSpPr/>
          <p:nvPr/>
        </p:nvSpPr>
        <p:spPr>
          <a:xfrm>
            <a:off x="0" y="731520"/>
            <a:ext cx="12191400" cy="73116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2000" spc="-1" strike="noStrike">
                <a:solidFill>
                  <a:srgbClr val="c8d8c0"/>
                </a:solidFill>
                <a:latin typeface="Consolas"/>
              </a:rPr>
              <a:t>"They show extreme intelligence. Even problem-solving intelligence."</a:t>
            </a:r>
            <a:endParaRPr b="0" lang="en-US" sz="2000" spc="-1" strike="noStrike">
              <a:solidFill>
                <a:srgbClr val="ffffff"/>
              </a:solidFill>
              <a:latin typeface="Arial"/>
            </a:endParaRPr>
          </a:p>
        </p:txBody>
      </p:sp>
      <p:sp>
        <p:nvSpPr>
          <p:cNvPr id="508" name="TextBox 17"/>
          <p:cNvSpPr/>
          <p:nvPr/>
        </p:nvSpPr>
        <p:spPr>
          <a:xfrm>
            <a:off x="0" y="1371600"/>
            <a:ext cx="1219140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0" lang="en-US" sz="1400" spc="-1" strike="noStrike">
                <a:solidFill>
                  <a:srgbClr val="708070"/>
                </a:solidFill>
                <a:latin typeface="Consolas"/>
              </a:rPr>
              <a:t>— </a:t>
            </a:r>
            <a:r>
              <a:rPr b="0" lang="en-US" sz="1400" spc="-1" strike="noStrike">
                <a:solidFill>
                  <a:srgbClr val="708070"/>
                </a:solidFill>
                <a:latin typeface="Consolas"/>
              </a:rPr>
              <a:t>Jurassic Park</a:t>
            </a:r>
            <a:endParaRPr b="0" lang="en-US" sz="1400" spc="-1" strike="noStrike">
              <a:solidFill>
                <a:srgbClr val="ffffff"/>
              </a:solidFill>
              <a:latin typeface="Arial"/>
            </a:endParaRPr>
          </a:p>
        </p:txBody>
      </p:sp>
      <p:sp>
        <p:nvSpPr>
          <p:cNvPr id="509" name="Rounded Rectangle 18"/>
          <p:cNvSpPr/>
          <p:nvPr/>
        </p:nvSpPr>
        <p:spPr>
          <a:xfrm>
            <a:off x="914400" y="2194560"/>
            <a:ext cx="10332360" cy="456840"/>
          </a:xfrm>
          <a:prstGeom prst="roundRect">
            <a:avLst>
              <a:gd name="adj" fmla="val 8000"/>
            </a:avLst>
          </a:prstGeom>
          <a:solidFill>
            <a:srgbClr val="d32d2d"/>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10" name="TextBox 19"/>
          <p:cNvSpPr/>
          <p:nvPr/>
        </p:nvSpPr>
        <p:spPr>
          <a:xfrm>
            <a:off x="914400" y="2194560"/>
            <a:ext cx="1033236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1. Stop chatting. Start commanding.</a:t>
            </a:r>
            <a:endParaRPr b="0" lang="en-US" sz="1400" spc="-1" strike="noStrike">
              <a:solidFill>
                <a:srgbClr val="ffffff"/>
              </a:solidFill>
              <a:latin typeface="Arial"/>
            </a:endParaRPr>
          </a:p>
        </p:txBody>
      </p:sp>
      <p:sp>
        <p:nvSpPr>
          <p:cNvPr id="511" name="TextBox 20"/>
          <p:cNvSpPr/>
          <p:nvPr/>
        </p:nvSpPr>
        <p:spPr>
          <a:xfrm>
            <a:off x="1188720" y="2651760"/>
            <a:ext cx="9783720" cy="2739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200" spc="-1" strike="noStrike">
                <a:solidFill>
                  <a:srgbClr val="c8d8c0"/>
                </a:solidFill>
                <a:latin typeface="Consolas"/>
              </a:rPr>
              <a:t>Agents &gt; chatbots for security work</a:t>
            </a:r>
            <a:endParaRPr b="0" lang="en-US" sz="1200" spc="-1" strike="noStrike">
              <a:solidFill>
                <a:srgbClr val="ffffff"/>
              </a:solidFill>
              <a:latin typeface="Arial"/>
            </a:endParaRPr>
          </a:p>
        </p:txBody>
      </p:sp>
      <p:sp>
        <p:nvSpPr>
          <p:cNvPr id="512" name="Rounded Rectangle 21"/>
          <p:cNvSpPr/>
          <p:nvPr/>
        </p:nvSpPr>
        <p:spPr>
          <a:xfrm>
            <a:off x="914400" y="2971800"/>
            <a:ext cx="10332360" cy="456840"/>
          </a:xfrm>
          <a:prstGeom prst="roundRect">
            <a:avLst>
              <a:gd name="adj" fmla="val 8000"/>
            </a:avLst>
          </a:prstGeom>
          <a:solidFill>
            <a:srgbClr val="c89b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13" name="TextBox 22"/>
          <p:cNvSpPr/>
          <p:nvPr/>
        </p:nvSpPr>
        <p:spPr>
          <a:xfrm>
            <a:off x="914400" y="2971800"/>
            <a:ext cx="1033236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2. The apex predators exist.</a:t>
            </a:r>
            <a:endParaRPr b="0" lang="en-US" sz="1400" spc="-1" strike="noStrike">
              <a:solidFill>
                <a:srgbClr val="ffffff"/>
              </a:solidFill>
              <a:latin typeface="Arial"/>
            </a:endParaRPr>
          </a:p>
        </p:txBody>
      </p:sp>
      <p:sp>
        <p:nvSpPr>
          <p:cNvPr id="514" name="TextBox 23"/>
          <p:cNvSpPr/>
          <p:nvPr/>
        </p:nvSpPr>
        <p:spPr>
          <a:xfrm>
            <a:off x="1188720" y="3429000"/>
            <a:ext cx="9783720" cy="2739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200" spc="-1" strike="noStrike">
                <a:solidFill>
                  <a:srgbClr val="c8d8c0"/>
                </a:solidFill>
                <a:latin typeface="Consolas"/>
              </a:rPr>
              <a:t>Mythos, Fable 5, Fugu — real and being used now</a:t>
            </a:r>
            <a:endParaRPr b="0" lang="en-US" sz="1200" spc="-1" strike="noStrike">
              <a:solidFill>
                <a:srgbClr val="ffffff"/>
              </a:solidFill>
              <a:latin typeface="Arial"/>
            </a:endParaRPr>
          </a:p>
        </p:txBody>
      </p:sp>
      <p:sp>
        <p:nvSpPr>
          <p:cNvPr id="515" name="Rounded Rectangle 24"/>
          <p:cNvSpPr/>
          <p:nvPr/>
        </p:nvSpPr>
        <p:spPr>
          <a:xfrm>
            <a:off x="914400" y="3749040"/>
            <a:ext cx="10332360" cy="456840"/>
          </a:xfrm>
          <a:prstGeom prst="roundRect">
            <a:avLst>
              <a:gd name="adj" fmla="val 8000"/>
            </a:avLst>
          </a:prstGeom>
          <a:solidFill>
            <a:srgbClr val="2d8c3c"/>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16" name="TextBox 25"/>
          <p:cNvSpPr/>
          <p:nvPr/>
        </p:nvSpPr>
        <p:spPr>
          <a:xfrm>
            <a:off x="914400" y="3749040"/>
            <a:ext cx="1033236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3. Local can compete.</a:t>
            </a:r>
            <a:endParaRPr b="0" lang="en-US" sz="1400" spc="-1" strike="noStrike">
              <a:solidFill>
                <a:srgbClr val="ffffff"/>
              </a:solidFill>
              <a:latin typeface="Arial"/>
            </a:endParaRPr>
          </a:p>
        </p:txBody>
      </p:sp>
      <p:sp>
        <p:nvSpPr>
          <p:cNvPr id="517" name="TextBox 26"/>
          <p:cNvSpPr/>
          <p:nvPr/>
        </p:nvSpPr>
        <p:spPr>
          <a:xfrm>
            <a:off x="1188720" y="4206240"/>
            <a:ext cx="9783720" cy="2739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200" spc="-1" strike="noStrike">
                <a:solidFill>
                  <a:srgbClr val="c8d8c0"/>
                </a:solidFill>
                <a:latin typeface="Consolas"/>
              </a:rPr>
              <a:t>Qwen3.8-27B + V4-Flash on DGX Spark = frontier-class, no API</a:t>
            </a:r>
            <a:endParaRPr b="0" lang="en-US" sz="1200" spc="-1" strike="noStrike">
              <a:solidFill>
                <a:srgbClr val="ffffff"/>
              </a:solidFill>
              <a:latin typeface="Arial"/>
            </a:endParaRPr>
          </a:p>
        </p:txBody>
      </p:sp>
      <p:sp>
        <p:nvSpPr>
          <p:cNvPr id="518" name="Rounded Rectangle 27"/>
          <p:cNvSpPr/>
          <p:nvPr/>
        </p:nvSpPr>
        <p:spPr>
          <a:xfrm>
            <a:off x="914400" y="4526280"/>
            <a:ext cx="10332360" cy="456840"/>
          </a:xfrm>
          <a:prstGeom prst="roundRect">
            <a:avLst>
              <a:gd name="adj" fmla="val 8000"/>
            </a:avLst>
          </a:prstGeom>
          <a:solidFill>
            <a:srgbClr val="006dd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19" name="TextBox 28"/>
          <p:cNvSpPr/>
          <p:nvPr/>
        </p:nvSpPr>
        <p:spPr>
          <a:xfrm>
            <a:off x="914400" y="4526280"/>
            <a:ext cx="1033236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4. Decomposition is the meta-skill.</a:t>
            </a:r>
            <a:endParaRPr b="0" lang="en-US" sz="1400" spc="-1" strike="noStrike">
              <a:solidFill>
                <a:srgbClr val="ffffff"/>
              </a:solidFill>
              <a:latin typeface="Arial"/>
            </a:endParaRPr>
          </a:p>
        </p:txBody>
      </p:sp>
      <p:sp>
        <p:nvSpPr>
          <p:cNvPr id="520" name="TextBox 29"/>
          <p:cNvSpPr/>
          <p:nvPr/>
        </p:nvSpPr>
        <p:spPr>
          <a:xfrm>
            <a:off x="1188720" y="4983480"/>
            <a:ext cx="9783720" cy="2739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200" spc="-1" strike="noStrike">
                <a:solidFill>
                  <a:srgbClr val="c8d8c0"/>
                </a:solidFill>
                <a:latin typeface="Consolas"/>
              </a:rPr>
              <a:t>Chunk -&gt; Analyze -&gt; Summarize -&gt; Merge -&gt; Decide</a:t>
            </a:r>
            <a:endParaRPr b="0" lang="en-US" sz="1200" spc="-1" strike="noStrike">
              <a:solidFill>
                <a:srgbClr val="ffffff"/>
              </a:solidFill>
              <a:latin typeface="Arial"/>
            </a:endParaRPr>
          </a:p>
        </p:txBody>
      </p:sp>
      <p:sp>
        <p:nvSpPr>
          <p:cNvPr id="521" name="Rounded Rectangle 30"/>
          <p:cNvSpPr/>
          <p:nvPr/>
        </p:nvSpPr>
        <p:spPr>
          <a:xfrm>
            <a:off x="914400" y="5303520"/>
            <a:ext cx="10332360" cy="456840"/>
          </a:xfrm>
          <a:prstGeom prst="roundRect">
            <a:avLst>
              <a:gd name="adj" fmla="val 8000"/>
            </a:avLst>
          </a:prstGeom>
          <a:solidFill>
            <a:srgbClr val="4ae85a"/>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22" name="TextBox 31"/>
          <p:cNvSpPr/>
          <p:nvPr/>
        </p:nvSpPr>
        <p:spPr>
          <a:xfrm>
            <a:off x="914400" y="5303520"/>
            <a:ext cx="10332360" cy="456840"/>
          </a:xfrm>
          <a:prstGeom prst="rect">
            <a:avLst/>
          </a:prstGeom>
          <a:noFill/>
          <a:ln w="0">
            <a:noFill/>
          </a:ln>
        </p:spPr>
        <p:style>
          <a:lnRef idx="0"/>
          <a:fillRef idx="0"/>
          <a:effectRef idx="0"/>
          <a:fontRef idx="minor"/>
        </p:style>
        <p:txBody>
          <a:bodyPr lIns="90000" rIns="90000" tIns="45000" bIns="45000" anchor="ctr">
            <a:normAutofit/>
          </a:bodyPr>
          <a:p>
            <a:pPr algn="ctr" defTabSz="457200">
              <a:lnSpc>
                <a:spcPct val="100000"/>
              </a:lnSpc>
            </a:pPr>
            <a:r>
              <a:rPr b="1" lang="en-US" sz="1400" spc="-1" strike="noStrike">
                <a:solidFill>
                  <a:srgbClr val="ffffff"/>
                </a:solidFill>
                <a:latin typeface="Consolas"/>
              </a:rPr>
              <a:t>5. Same architecture, both sides.</a:t>
            </a:r>
            <a:endParaRPr b="0" lang="en-US" sz="1400" spc="-1" strike="noStrike">
              <a:solidFill>
                <a:srgbClr val="ffffff"/>
              </a:solidFill>
              <a:latin typeface="Arial"/>
            </a:endParaRPr>
          </a:p>
        </p:txBody>
      </p:sp>
      <p:sp>
        <p:nvSpPr>
          <p:cNvPr id="523" name="TextBox 32"/>
          <p:cNvSpPr/>
          <p:nvPr/>
        </p:nvSpPr>
        <p:spPr>
          <a:xfrm>
            <a:off x="1188720" y="5760720"/>
            <a:ext cx="9783720" cy="273960"/>
          </a:xfrm>
          <a:prstGeom prst="rect">
            <a:avLst/>
          </a:prstGeom>
          <a:noFill/>
          <a:ln w="0">
            <a:noFill/>
          </a:ln>
        </p:spPr>
        <p:style>
          <a:lnRef idx="0"/>
          <a:fillRef idx="0"/>
          <a:effectRef idx="0"/>
          <a:fontRef idx="minor"/>
        </p:style>
        <p:txBody>
          <a:bodyPr lIns="90000" rIns="90000" tIns="45000" bIns="45000" anchor="t">
            <a:normAutofit/>
          </a:bodyPr>
          <a:p>
            <a:pPr defTabSz="457200">
              <a:lnSpc>
                <a:spcPct val="100000"/>
              </a:lnSpc>
            </a:pPr>
            <a:r>
              <a:rPr b="0" lang="en-US" sz="1200" spc="-1" strike="noStrike">
                <a:solidFill>
                  <a:srgbClr val="c8d8c0"/>
                </a:solidFill>
                <a:latin typeface="Consolas"/>
              </a:rPr>
              <a:t>Offensive and defensive use the same tools</a:t>
            </a:r>
            <a:endParaRPr b="0" lang="en-US" sz="1200" spc="-1" strike="noStrike">
              <a:solidFill>
                <a:srgbClr val="ffffff"/>
              </a:solidFill>
              <a:latin typeface="Arial"/>
            </a:endParaRPr>
          </a:p>
        </p:txBody>
      </p:sp>
      <p:sp>
        <p:nvSpPr>
          <p:cNvPr id="524" name="TextBox 33"/>
          <p:cNvSpPr/>
          <p:nvPr/>
        </p:nvSpPr>
        <p:spPr>
          <a:xfrm>
            <a:off x="0" y="6217920"/>
            <a:ext cx="12191400" cy="45684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600" spc="-1" strike="noStrike">
                <a:solidFill>
                  <a:srgbClr val="4ae85a"/>
                </a:solidFill>
                <a:latin typeface="Consolas"/>
              </a:rPr>
              <a:t>The raptors learned the fence patterns. Your agents can learn your targets.</a:t>
            </a:r>
            <a:endParaRPr b="0" lang="en-US" sz="1600" spc="-1" strike="noStrike">
              <a:solidFill>
                <a:srgbClr val="ffffff"/>
              </a:solidFill>
              <a:latin typeface="Arial"/>
            </a:endParaRPr>
          </a:p>
        </p:txBody>
      </p:sp>
      <p:sp>
        <p:nvSpPr>
          <p:cNvPr id="525" name="TextBox 34"/>
          <p:cNvSpPr/>
          <p:nvPr/>
        </p:nvSpPr>
        <p:spPr>
          <a:xfrm>
            <a:off x="0" y="6583680"/>
            <a:ext cx="12191400" cy="365400"/>
          </a:xfrm>
          <a:prstGeom prst="rect">
            <a:avLst/>
          </a:prstGeom>
          <a:noFill/>
          <a:ln w="0">
            <a:noFill/>
          </a:ln>
        </p:spPr>
        <p:style>
          <a:lnRef idx="0"/>
          <a:fillRef idx="0"/>
          <a:effectRef idx="0"/>
          <a:fontRef idx="minor"/>
        </p:style>
        <p:txBody>
          <a:bodyPr lIns="90000" rIns="90000" tIns="45000" bIns="45000" anchor="t">
            <a:normAutofit/>
          </a:bodyPr>
          <a:p>
            <a:pPr algn="ctr" defTabSz="457200">
              <a:lnSpc>
                <a:spcPct val="100000"/>
              </a:lnSpc>
            </a:pPr>
            <a:r>
              <a:rPr b="1" lang="en-US" sz="1800" spc="-1" strike="noStrike">
                <a:solidFill>
                  <a:srgbClr val="ffffff"/>
                </a:solidFill>
                <a:latin typeface="Consolas"/>
              </a:rPr>
              <a:t>Are you holding the controller, or saying "clever girl"?  •  Q&amp;A</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12535</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2026-09-25T16:16:40Z</dcterms:modified>
  <cp:revision>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